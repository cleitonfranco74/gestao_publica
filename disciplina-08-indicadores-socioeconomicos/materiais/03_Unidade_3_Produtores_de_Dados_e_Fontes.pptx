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7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8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População</c:v>
                </c:pt>
              </c:strCache>
            </c:strRef>
          </c:tx>
          <c:spPr>
            <a:solidFill>
              <a:srgbClr val="2A8C85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A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1991</c:v>
                  </c:pt>
                  <c:pt idx="1">
                    <c:v>2000</c:v>
                  </c:pt>
                  <c:pt idx="2">
                    <c:v>2010</c:v>
                  </c:pt>
                  <c:pt idx="3">
                    <c:v>2022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2.03</c:v>
                </c:pt>
                <c:pt idx="1">
                  <c:v>2.5</c:v>
                </c:pt>
                <c:pt idx="2">
                  <c:v>3.04</c:v>
                </c:pt>
                <c:pt idx="3">
                  <c:v>3.66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50" u="none">
                  <a:solidFill>
                    <a:srgbClr val="1F2A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A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"/>
          <c:min val="0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Famílias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3294B"/>
              </a:solidFill>
              <a:effectLst/>
            </c:spPr>
          </c:dPt>
          <c:dPt>
            <c:idx val="1"/>
            <c:bubble3D val="0"/>
            <c:spPr>
              <a:solidFill>
                <a:srgbClr val="2A8C85"/>
              </a:solidFill>
              <a:effectLst/>
            </c:spPr>
          </c:dPt>
          <c:dPt>
            <c:idx val="2"/>
            <c:bubble3D val="0"/>
            <c:spPr>
              <a:solidFill>
                <a:srgbClr val="E0A72E"/>
              </a:solidFill>
              <a:effectLst/>
            </c:spPr>
          </c:dPt>
          <c:dLbls>
            <c:dLbl>
              <c:idx val="0"/>
              <c:numFmt formatCode="0" sourceLinked="0"/>
              <c:spPr/>
              <c:txPr>
                <a:bodyPr/>
                <a:lstStyle/>
                <a:p>
                  <a:pPr>
                    <a:defRPr sz="1050" b="1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" sourceLinked="0"/>
              <c:spPr/>
              <c:txPr>
                <a:bodyPr/>
                <a:lstStyle/>
                <a:p>
                  <a:pPr>
                    <a:defRPr sz="1050" b="1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" sourceLinked="0"/>
              <c:spPr/>
              <c:txPr>
                <a:bodyPr/>
                <a:lstStyle/>
                <a:p>
                  <a:pPr>
                    <a:defRPr sz="1050" b="1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Até R$ 218 (pobreza)</c:v>
                </c:pt>
                <c:pt idx="1">
                  <c:v>R$ 218 a ½ salário mínimo</c:v>
                </c:pt>
                <c:pt idx="2">
                  <c:v>Acima de ½ salário mínimo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48</c:v>
                </c:pt>
                <c:pt idx="1">
                  <c:v>32</c:v>
                </c:pt>
                <c:pt idx="2">
                  <c:v>20</c:v>
                </c:pt>
              </c:numCache>
            </c:numRef>
          </c:val>
        </c:ser>
        <c:firstSliceAng val="0"/>
        <c:holeSize val="52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100">
              <a:solidFill>
                <a:srgbClr val="1F2A3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Slide-7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8.xml"/><Relationship Id="rId1" Type="http://schemas.openxmlformats.org/officeDocument/2006/relationships/image" Target="../media/Slide-12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zero-claude/d7e33190-c541-582c-a7cc-1156817732ce/scratchpad/deck/assets/brasa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402336"/>
            <a:ext cx="1243584" cy="1325880"/>
          </a:xfrm>
          <a:prstGeom prst="rect">
            <a:avLst/>
          </a:prstGeom>
        </p:spPr>
      </p:pic>
      <p:pic>
        <p:nvPicPr>
          <p:cNvPr id="3" name="Image 1" descr="/tmp/claude-0/-home-user-zero-claude/d7e33190-c541-582c-a7cc-1156817732ce/scratchpad/deck/assets/unem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2848" y="548640"/>
            <a:ext cx="2743200" cy="1060704"/>
          </a:xfrm>
          <a:prstGeom prst="rect">
            <a:avLst/>
          </a:prstGeom>
        </p:spPr>
      </p:pic>
      <p:pic>
        <p:nvPicPr>
          <p:cNvPr id="4" name="Image 2" descr="/tmp/claude-0/-home-user-zero-claude/d7e33190-c541-582c-a7cc-1156817732ce/scratchpad/deck/assets/dead_apr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576072"/>
            <a:ext cx="3063240" cy="101041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188720" y="1810512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</a:t>
            </a:r>
            <a:endParaRPr lang="en-US" sz="2000" dirty="0"/>
          </a:p>
        </p:txBody>
      </p:sp>
      <p:sp>
        <p:nvSpPr>
          <p:cNvPr id="6" name="Text 1"/>
          <p:cNvSpPr txBox="1"/>
          <p:nvPr/>
        </p:nvSpPr>
        <p:spPr>
          <a:xfrm>
            <a:off x="1188720" y="2157984"/>
            <a:ext cx="7223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na Gestão Pública</a:t>
            </a:r>
            <a:endParaRPr lang="en-US" sz="3600" dirty="0"/>
          </a:p>
        </p:txBody>
      </p:sp>
      <p:sp>
        <p:nvSpPr>
          <p:cNvPr id="7" name="Text 2"/>
          <p:cNvSpPr txBox="1"/>
          <p:nvPr/>
        </p:nvSpPr>
        <p:spPr>
          <a:xfrm>
            <a:off x="1188720" y="3236976"/>
            <a:ext cx="7223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3 · Produtores de dados e fontes de informação</a:t>
            </a:r>
            <a:endParaRPr lang="en-US" sz="1900" dirty="0"/>
          </a:p>
        </p:txBody>
      </p:sp>
      <p:sp>
        <p:nvSpPr>
          <p:cNvPr id="8" name="Text 3"/>
          <p:cNvSpPr txBox="1"/>
          <p:nvPr/>
        </p:nvSpPr>
        <p:spPr>
          <a:xfrm>
            <a:off x="1243584" y="3785616"/>
            <a:ext cx="4937760" cy="420624"/>
          </a:xfrm>
          <a:prstGeom prst="roundRect">
            <a:avLst>
              <a:gd name="adj" fmla="val 21739"/>
            </a:avLst>
          </a:prstGeom>
          <a:solidFill>
            <a:srgbClr val="E9C85C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 · UAB · Turma ____ · Prof. Dr. Cleiton Franco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na Gestão Pública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969264"/>
            <a:ext cx="6400800" cy="402336"/>
          </a:xfrm>
          <a:prstGeom prst="roundRect">
            <a:avLst>
              <a:gd name="adj" fmla="val 22727"/>
            </a:avLst>
          </a:prstGeom>
          <a:solidFill>
            <a:srgbClr val="2A8C85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3 · Produtores de dados e fontes de informação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GraduationC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37944"/>
            <a:ext cx="292608" cy="29260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44752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 (Lato Sensu)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645152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09744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UserT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9472" y="1837944"/>
            <a:ext cx="292608" cy="29260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49824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 Regente: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Dr. Cleiton Franco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40080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04672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CalendarAl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825496"/>
            <a:ext cx="292608" cy="29260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44752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Turma &amp; Semestre: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 · a definir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4645152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09744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Clo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9472" y="2825496"/>
            <a:ext cx="292608" cy="29260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449824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Período da unidade: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3 (__/__ a __/__)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3547872"/>
            <a:ext cx="7863840" cy="676656"/>
          </a:xfrm>
          <a:prstGeom prst="roundRect">
            <a:avLst>
              <a:gd name="adj" fmla="val 8108"/>
            </a:avLst>
          </a:prstGeom>
          <a:solidFill>
            <a:srgbClr val="EAF3F1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Videoaula 3 · Leitura: JANNUZZI (2014), fontes de dados</a:t>
            </a:r>
            <a:endParaRPr lang="en-US" sz="15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de conteúdos: Unidades 5 e 6 · Encontro síncrono (19h)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produtores de dados no Brasil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6974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produz as informações que o gestor usa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produz dados e indicadores no Brasil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685800" y="118872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5" name="Image 0" descr="/tmp/claude-0/-home-user-zero-claude/d7e33190-c541-582c-a7cc-1156817732ce/scratchpad/deck/assets/icon_FaChartPi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447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26187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IBGE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Coordena o sistema estatístico: censos, pesquisas amostrais e contas nacionais.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709160" y="118872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84632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9" name="Image 1" descr="/tmp/claude-0/-home-user-zero-claude/d7e33190-c541-582c-a7cc-1156817732ce/scratchpad/deck/assets/icon_FaHospit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44475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394960" y="126187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Ministérios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Saúde (DATASUS), Educação (INEP), Trabalho (RAIS, CAGED), Desenvolvimento Social (CadÚnico).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685800" y="274320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822960" y="28986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3" name="Image 2" descr="/tmp/claude-0/-home-user-zero-claude/d7e33190-c541-582c-a7cc-1156817732ce/scratchpad/deck/assets/icon_FaUniversit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2999232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371600" y="281635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Economia e finanças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Central (juros, crédito, expectativas) e Tesouro (SICONFI).</a:t>
            </a:r>
            <a:endParaRPr lang="en-US" sz="1600" dirty="0"/>
          </a:p>
        </p:txBody>
      </p:sp>
      <p:sp>
        <p:nvSpPr>
          <p:cNvPr id="15" name="Shape 10"/>
          <p:cNvSpPr/>
          <p:nvPr/>
        </p:nvSpPr>
        <p:spPr>
          <a:xfrm>
            <a:off x="4709160" y="274320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4846320" y="28986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7" name="Image 3" descr="/tmp/claude-0/-home-user-zero-claude/d7e33190-c541-582c-a7cc-1156817732ce/scratchpad/deck/assets/icon_FaBoo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904" y="2999232"/>
            <a:ext cx="256032" cy="25603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394960" y="281635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Pesquisa e cooperação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IPEA, PNUD e Fundação João Pinheiro (Atlas Brasil), institutos estaduais.</a:t>
            </a:r>
            <a:endParaRPr lang="en-US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tipos de fonte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uma com vantagens e limites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188720"/>
          <a:ext cx="77724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926080"/>
                <a:gridCol w="29260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Fonte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Vantagens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Censos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Cobrem toda a população; dados para todos os municípios e bairros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Caros e realizados a cada 10 anos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Pesquisas amostrais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Frequentes e detalhadas; custo menor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 geral não trazem dados municipais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Registros administrativos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Contínuos, municipais e de baixo custo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Só cobrem quem é registrado; dependem da qualidade do registro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85800" y="3429000"/>
            <a:ext cx="7772400" cy="822960"/>
          </a:xfrm>
          <a:prstGeom prst="roundRect">
            <a:avLst>
              <a:gd name="adj" fmla="val 8889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bom diagnóstico combina as três fontes: o censo como base, as pesquisas para temas específicos e os registros para acompanhar a evolução.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Censo Demográfico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85800" y="1188720"/>
            <a:ext cx="2456688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5" name="Image 0" descr="/tmp/claude-0/-home-user-zero-claude/d7e33190-c541-582c-a7cc-1156817732ce/scratchpad/deck/assets/icon_FaHo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447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261872"/>
            <a:ext cx="1679448" cy="113385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Universal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Visita todos os domicílios do país.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343656" y="1188720"/>
            <a:ext cx="2456688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480816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9" name="Image 1" descr="/tmp/claude-0/-home-user-zero-claude/d7e33190-c541-582c-a7cc-1156817732ce/scratchpad/deck/assets/icon_FaCalendarAl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144475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029456" y="1261872"/>
            <a:ext cx="1679448" cy="113385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Decenal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mais recente foi realizado em 2022 (adiado de 2020).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6001512" y="1188720"/>
            <a:ext cx="2456688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138672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3" name="Image 2" descr="/tmp/claude-0/-home-user-zero-claude/d7e33190-c541-582c-a7cc-1156817732ce/scratchpad/deck/assets/icon_FaMapMarkedAl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1444752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687312" y="1261872"/>
            <a:ext cx="1679448" cy="113385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Detalhado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para municípios, bairros e setores censitários.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685800" y="2651760"/>
            <a:ext cx="7772400" cy="1645920"/>
          </a:xfrm>
          <a:prstGeom prst="roundRect">
            <a:avLst>
              <a:gd name="adj" fmla="val 333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que o gestor usa o Censo</a:t>
            </a:r>
            <a:endParaRPr lang="en-US" sz="15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da população: idade, sexo, cor/raça, escolaridade, renda e condições de moradia.</a:t>
            </a:r>
            <a:endParaRPr lang="en-US" sz="15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Denominador das taxas e base para as estimativas populacionais anuais (usadas no FPM).</a:t>
            </a:r>
            <a:endParaRPr lang="en-US" sz="1500" dirty="0"/>
          </a:p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Cálculo do IDHM e de indicadores do Atlas Brasil.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Censo revela: Mato Grosso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População recenseada nos quatro últimos Censos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População de Mato Grosso (milhões de habitantes)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2010 e 2022, MT cresceu cerca de 20,5%.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mesmo período, o Brasil cresceu cerca de 6,5% (de 190,8 para 203,1 milhões).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população muda a demanda por escolas, saúde e o valor do FPM.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IBGE, Censos Demográficos 1991, 2000, 2010 e 2022 (valores arredondados).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Pesquisas amostrais e institucionais do IBGE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88720"/>
            <a:ext cx="374904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TRIMESTRAL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PNAD Contínua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Trabalho, desocupação, informalidade e rendimento.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709160" y="1188720"/>
            <a:ext cx="374904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PERIÓDICA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POF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Orçamentos familiares; base dos pesos do IPCA.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587752"/>
            <a:ext cx="374904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PERIÓDICA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PNS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Condições de saúde, doenças crônicas e acesso a serviços.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709160" y="2587752"/>
            <a:ext cx="374904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INSTITUCIONAL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 e gestão das prefeituras: conselhos, planos, órgãos.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886200"/>
            <a:ext cx="7772400" cy="502920"/>
          </a:xfrm>
          <a:prstGeom prst="roundRect">
            <a:avLst>
              <a:gd name="adj" fmla="val 14545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Atenção: pesquisas amostrais, como a PNAD Contínua, não trazem resultados para a maioria dos municípios.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 administrativos e cadastros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6974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que nascem da gestão das políticas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registros administrativos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188720"/>
          <a:ext cx="77724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194560"/>
                <a:gridCol w="3383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Órgão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Indicadores possíveis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 e SINASC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Ministério da Saúde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Mortalidade infantil e por causas; nascidos vivos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Censo Escolar, SAEB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INEP (MEC)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Matrículas, rendimento escolar, IDEB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RAIS e Novo CAGED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Ministério do Trabalho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Emprego formal, salários, saldo de vagas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SICONFI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Tesouro Nacional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Receitas, despesas e gasto com pessoal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Estatísticas eleitorais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Eleitorado e participação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85800" y="3611880"/>
            <a:ext cx="7772400" cy="658368"/>
          </a:xfrm>
          <a:prstGeom prst="roundRect">
            <a:avLst>
              <a:gd name="adj" fmla="val 11111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Vantagem: dados municipais e frequentes. Limite: a RAIS, por exemplo, não capta o trabalho informal.</a:t>
            </a:r>
            <a:endParaRPr lang="en-US" sz="1350" dirty="0"/>
          </a:p>
        </p:txBody>
      </p:sp>
      <p:sp>
        <p:nvSpPr>
          <p:cNvPr id="5" name="Text 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Cadastros públicos e dados de programas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88720"/>
            <a:ext cx="3794760" cy="301752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 ÚNICO (CADÚNICO)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das famílias de baixa renda, com dados de moradia, escolaridade, trabalho e renda.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do Bolsa Família, da tarifa social de energia e de dezenas de programas.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663440" y="1188720"/>
            <a:ext cx="3794760" cy="3017520"/>
          </a:xfrm>
          <a:prstGeom prst="roundRect">
            <a:avLst>
              <a:gd name="adj" fmla="val 1818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USOS E CUIDADOS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Localizar famílias vulneráveis por bairro e focalizar ações.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cadastro de demanda, não censo: quem não se cadastrou não aparece.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 de atualização periódica pelas equipes municipais.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CadÚnico no diagnóstico local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das famílias cadastradas em um município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Famílias no CadÚnico por faixa de renda per capita (%)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Quase metade das famílias cadastradas está na faixa do Bolsa Família.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cadastro permite localizar essas famílias por bairro.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Lembre: quem não se cadastrou não aparece.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hipotéticos, para fins didáticos. Consulta real: painéis do MDS (VIS DATA / CECAD).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encontrar os dados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Portais de acesso livre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188720"/>
            <a:ext cx="2456688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Ci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447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261872"/>
            <a:ext cx="1679448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IBGE Cidades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cidades.ibge.gov.br: panorama de cada município.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3343656" y="1188720"/>
            <a:ext cx="2456688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480816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Tab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144475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29456" y="1261872"/>
            <a:ext cx="1679448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SIDRA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sidra.ibge.gov.br: tabelas das pesquisas do IBGE.</a:t>
            </a:r>
            <a:endParaRPr lang="en-US" sz="1450" dirty="0"/>
          </a:p>
        </p:txBody>
      </p:sp>
      <p:sp>
        <p:nvSpPr>
          <p:cNvPr id="12" name="Shape 8"/>
          <p:cNvSpPr/>
          <p:nvPr/>
        </p:nvSpPr>
        <p:spPr>
          <a:xfrm>
            <a:off x="6001512" y="1188720"/>
            <a:ext cx="2456688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138672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GlobeAmerica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144475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687312" y="1261872"/>
            <a:ext cx="1679448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Brasil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atlasbrasil.org.br: IDHM e indicadores municipais.</a:t>
            </a:r>
            <a:endParaRPr lang="en-US" sz="1450" dirty="0"/>
          </a:p>
        </p:txBody>
      </p:sp>
      <p:sp>
        <p:nvSpPr>
          <p:cNvPr id="16" name="Shape 11"/>
          <p:cNvSpPr/>
          <p:nvPr/>
        </p:nvSpPr>
        <p:spPr>
          <a:xfrm>
            <a:off x="685800" y="2743200"/>
            <a:ext cx="2456688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822960" y="28986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NotesMedica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544" y="2999232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371600" y="2816352"/>
            <a:ext cx="1679448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DATASUS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datasus.saude.gov.br: dados de saúde (TabNet).</a:t>
            </a:r>
            <a:endParaRPr lang="en-US" sz="1450" dirty="0"/>
          </a:p>
        </p:txBody>
      </p:sp>
      <p:sp>
        <p:nvSpPr>
          <p:cNvPr id="20" name="Shape 14"/>
          <p:cNvSpPr/>
          <p:nvPr/>
        </p:nvSpPr>
        <p:spPr>
          <a:xfrm>
            <a:off x="3343656" y="2743200"/>
            <a:ext cx="2456688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3480816" y="28986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22" name="Image 4" descr="/tmp/claude-0/-home-user-zero-claude/d7e33190-c541-582c-a7cc-1156817732ce/scratchpad/deck/assets/icon_FaSchool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81400" y="2999232"/>
            <a:ext cx="256032" cy="25603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4029456" y="2816352"/>
            <a:ext cx="1679448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INEP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Censo Escolar, IDEB e SAEB.</a:t>
            </a:r>
            <a:endParaRPr lang="en-US" sz="1450" dirty="0"/>
          </a:p>
        </p:txBody>
      </p:sp>
      <p:sp>
        <p:nvSpPr>
          <p:cNvPr id="24" name="Shape 17"/>
          <p:cNvSpPr/>
          <p:nvPr/>
        </p:nvSpPr>
        <p:spPr>
          <a:xfrm>
            <a:off x="6001512" y="2743200"/>
            <a:ext cx="2456688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6138672" y="28986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26" name="Image 5" descr="/tmp/claude-0/-home-user-zero-claude/d7e33190-c541-582c-a7cc-1156817732ce/scratchpad/deck/assets/icon_FaSearchDolla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39256" y="2999232"/>
            <a:ext cx="256032" cy="256032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687312" y="2816352"/>
            <a:ext cx="1679448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Transparência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da Transparência: recursos federais e beneficiários.</a:t>
            </a:r>
            <a:endParaRPr lang="en-US" sz="1450" dirty="0"/>
          </a:p>
        </p:txBody>
      </p:sp>
      <p:sp>
        <p:nvSpPr>
          <p:cNvPr id="28" name="Text 20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fonte para cada indicador?</a:t>
            </a:r>
            <a:endParaRPr lang="en-US" sz="2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188720"/>
          <a:ext cx="777240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4114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Indicador do diagnóstico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Fonte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População por faixa etária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Censo 2022 e estimativas populacionais (IBGE)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Taxa de mortalidade infantil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 e SINASC (DATASUS)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IDEB e taxa de aprovação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INEP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 de empregos formais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Novo CAGED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Famílias em situação de pobreza cadastradas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CadÚnico (MDS)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Receita própria do município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SICONFI (Tesouro Nacional)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85800" y="3794760"/>
            <a:ext cx="7772400" cy="548640"/>
          </a:xfrm>
          <a:prstGeom prst="roundRect">
            <a:avLst>
              <a:gd name="adj" fmla="val 1333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Sempre cite a fonte e o ano de referência do dado.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da Unidade 3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e prazos da unidade (todas as entregas até 23h55)</a:t>
            </a:r>
            <a:endParaRPr lang="en-US" sz="1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325880"/>
          <a:ext cx="749808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5806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Atividade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Semana 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Videoaula 3 e leitura da unidade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__/__, 19h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Encontro síncrono (Google Meet): dúvidas e orientações para A2 e A3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__/__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Fórum temático 2: monte uma ficha com 5 indicadores do seu município e as respectivas fontes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22960" y="3840480"/>
            <a:ext cx="7498080" cy="548640"/>
          </a:xfrm>
          <a:prstGeom prst="roundRect">
            <a:avLst>
              <a:gd name="adj" fmla="val 1333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unidade: dados e indicadores econômicos e boletins de conjuntura.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69080" y="1097280"/>
            <a:ext cx="1005840" cy="1005840"/>
          </a:xfrm>
          <a:prstGeom prst="roundRect">
            <a:avLst>
              <a:gd name="adj" fmla="val 18182"/>
            </a:avLst>
          </a:prstGeom>
          <a:solidFill>
            <a:srgbClr val="2A8C85"/>
          </a:solidFill>
          <a:ln/>
        </p:spPr>
      </p:sp>
      <p:pic>
        <p:nvPicPr>
          <p:cNvPr id="3" name="Image 0" descr="/tmp/claude-0/-home-user-zero-claude/d7e33190-c541-582c-a7cc-1156817732ce/scratchpad/deck/assets/icon_FaQues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32588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2402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1188720" y="292608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perguntas para revisar a unidade. Pause o vídeo, escolha sua resposta e confira no slide seguinte.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1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fonte oferece dados para todos os municípios e bairros, mas só a cada 10 anos?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PNAD Contínua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Censo Demográfico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Boletim Focus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POF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1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fonte oferece dados para todos os municípios e bairros, mas só a cada 10 anos?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PNAD Contínua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Censo Demográfico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Boletim Focus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POF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b)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Censo é universal e decenal; o mais recente é de 2022.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2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taxa de desocupação trimestral vem da: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PNAD Contínua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SINASC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2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taxa de desocupação trimestral vem da: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PNAD Contínua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SINASC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a)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PNAD Contínua investiga trabalho e rendimento a cada trimestre.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3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dados de óbitos e nascidos vivos vêm de: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Censo Escolar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CadÚnico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 e SINASC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SICONFI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3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dados de óbitos e nascidos vivos vêm de: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Censo Escolar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CadÚnico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 e SINASC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SICONFI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c)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São sistemas de informação do Ministério da Saúde, disponíveis no DATASUS.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4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limitação do CadÚnico é: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ter dados municipais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 realizado a cada dez anos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Medir apenas a inflação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só quem se cadastrou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4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limitação do CadÚnico é: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ter dados municipais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 realizado a cada dez anos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Medir apenas a inflação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só quem se cadastrou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d)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um cadastro de demanda: famílias que não se cadastraram não aparecem.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5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pesquisa do IBGE sobre a estrutura e a gestão das prefeituras é a: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POF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PNS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5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pesquisa do IBGE sobre a estrutura e a gestão das prefeituras é a: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POF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PNS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b)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MUNIC traz dados sobre conselhos, planos, órgãos e políticas municipais.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3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UNEMAT / DEAD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Indicadores Socioeconômicos na Gestão Pública – Unidade 3: Produtores de dados e fontes de informação</dc:title>
  <dc:subject>PptxGenJS Presentation</dc:subject>
  <dc:creator>Prof. Dr. Cleiton Franco</dc:creator>
  <cp:lastModifiedBy>Prof. Dr. Cleiton Franco</cp:lastModifiedBy>
  <cp:revision>1</cp:revision>
  <dcterms:created xsi:type="dcterms:W3CDTF">2026-09-26T20:14:13Z</dcterms:created>
  <dcterms:modified xsi:type="dcterms:W3CDTF">2026-09-26T20:14:13Z</dcterms:modified>
</cp:coreProperties>
</file>