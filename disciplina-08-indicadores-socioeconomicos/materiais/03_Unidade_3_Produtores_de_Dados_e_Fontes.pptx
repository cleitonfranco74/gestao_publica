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8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População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1991</c:v>
                  </c:pt>
                  <c:pt idx="1">
                    <c:v>2000</c:v>
                  </c:pt>
                  <c:pt idx="2">
                    <c:v>2010</c:v>
                  </c:pt>
                  <c:pt idx="3">
                    <c:v>2022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2.03</c:v>
                </c:pt>
                <c:pt idx="1">
                  <c:v>2.5</c:v>
                </c:pt>
                <c:pt idx="2">
                  <c:v>3.04</c:v>
                </c:pt>
                <c:pt idx="3">
                  <c:v>3.66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Famílias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3294B"/>
              </a:solidFill>
              <a:effectLst/>
            </c:spPr>
          </c:dPt>
          <c:dPt>
            <c:idx val="1"/>
            <c:bubble3D val="0"/>
            <c:spPr>
              <a:solidFill>
                <a:srgbClr val="2A8C85"/>
              </a:solidFill>
              <a:effectLst/>
            </c:spPr>
          </c:dPt>
          <c:dPt>
            <c:idx val="2"/>
            <c:bubble3D val="0"/>
            <c:spPr>
              <a:solidFill>
                <a:srgbClr val="E0A72E"/>
              </a:solidFill>
              <a:effectLst/>
            </c:spPr>
          </c:dPt>
          <c:dLbls>
            <c:dLbl>
              <c:idx val="0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Até R$ 218 (pobreza)</c:v>
                </c:pt>
                <c:pt idx="1">
                  <c:v>R$ 218 a ½ salário mínimo</c:v>
                </c:pt>
                <c:pt idx="2">
                  <c:v>Acima de ½ salário mínimo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48</c:v>
                </c:pt>
                <c:pt idx="1">
                  <c:v>32</c:v>
                </c:pt>
                <c:pt idx="2">
                  <c:v>20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Chegamos à Unidade 3: produtores de dados e fontes de informação. Já sabemos o que é um indicador e como usá-lo em um diagnóstico. Agora, a pergunta é: onde encontrar os dados? Vamos conhecer quem produz as informações no Brasil e as principais fontes que o gestor pode usar.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terceira semana da disciplina, com as datas no SIGAA. A leitura é o livro de Jannuzzi, na parte sobre fontes de dados, junto com os tópicos 5 e 6 do sumário da página de conteúdos. E atenção: nesta semana acontece o nosso encontro síncrono, às 19h, o único da disciplina. A presença conta para a frequência.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1, que corresponde ao tópico 5 do sumário: produtores de dados, Censo e pesquisas do IBGE. Quem produz as informações que o gestor usa?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IBGE coordena o sistema estatístico nacional, com os censos, as pesquisas amostrais e as contas nacionais. Os ministérios produzem dados setoriais: a Saúde, pelo DATASUS; a Educação, pelo INEP; o Trabalho, pela RAIS e pelo CAGED; e o Desenvolvimento Social, pelo CadÚnico. O Banco Central e o Tesouro produzem dados econômicos e fiscais, como o SICONFI. E instituições como o IPEA, o PNUD e a Fundação João Pinheiro, responsáveis pelo Atlas Brasil, além dos institutos estaduais, completam 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Existem três tipos de fonte, cada um com vantagens e limites. Os censos cobrem toda a população e trazem dados para municípios e bairros, mas são caros e feitos a cada dez anos. As pesquisas amostrais são frequentes, detalhadas e de custo menor, mas em geral não trazem dados municipais. E os registros administrativos são contínuos, municipais e baratos, mas só cobrem quem é registrado e dependem da qualidade do registro. O bom diagnóstico combina as três: o censo como base, as pesquisas para temas específicos e os registros para acompanhar a evolução.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Censo Demográfico é universal, porque visita todos os domicílios do país; é decenal; e é detalhado, com dados para municípios, bairros e setores censitários. O mais recente foi realizado em 2022, adiado de 2020. Para o gestor, ele traz o perfil da população: idade, sexo, cor ou raça, escolaridade, renda e condições de moradia. Serve de denominador para as taxas e de base para as estimativas populacionais anuais, usadas na distribuição do FPM. E é a base do IDHM e dos indicadores do Atlas Brasil.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Veja o que o Censo revela sobre Mato Grosso. [Apontar para as colunas.] A população do estado passou de cerca de 2 milhões em 1991 para 3,66 milhões em 2022. Entre 2010 e 2022, Mato Grosso cresceu cerca de 20,5%, enquanto o Brasil cresceu cerca de 6,5%. Mais população muda a demanda por escolas e saúde e também o valor do FPM que chega aos municípios.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Além do Censo, o IBGE faz pesquisas amostrais e institucionais. A PNAD Contínua, trimestral, investiga trabalho, desocupação, informalidade e rendimento. A POF, a Pesquisa de Orçamentos Familiares, é a base dos pesos dos índices de preços. A PNS investiga as condições de saúde e o acesso a serviços. E a MUNIC, pesquisa institucional, mostra a estrutura e a gestão das prefeituras, como conselhos, planos e órgãos. Atenção: pesquisas amostrais como a PNAD Contínua não produzem resultados para a maioria dos municípios.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2, que corresponde ao tópico 6 do sumário: registros administrativos, cadastros e portais. São dados que nascem da própria gestão das políticas.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mostra os principais registros administrativos. O SIM e o SINASC, do Ministério da Saúde, pelo DATASUS, permitem calcular a mortalidade infantil e por causas, os nascidos vivos e o pré-natal. O Censo Escolar e o SAEB, do INEP, trazem matrículas, aprovação, distorção idade-série e o IDEB. A RAIS e o Novo CAGED, do Ministério do Trabalho, mostram o emprego formal, os salários e o saldo mensal de vagas. O SICONFI, do Tesouro Nacional, traz receitas, despesas e o gasto com pessoal dos municípios. E as estatísticas do TSE mostram o eleitorado e a participação. A vantagem é ter dados municipais e frequentes; o limite é que, por exemplo, a RAIS não capta o trabalho informal.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Cadastro Único, o CadÚnico, é o registro das famílias de baixa renda, com dados de moradia, escolaridade, trabalho e renda. É a base do Bolsa Família, da tarifa social de energia e de dezenas de programas. Com ele, o município pode localizar as famílias vulneráveis por bairro e focalizar as ações. Mas cuidado: é um cadastro de demanda, não um censo. Quem não se cadastrou não aparece, e os dados dependem de atualização periódica pelas equipes municipais.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o perfil das famílias cadastradas em um município hipotético. [Apontar para as fatias.] Quase metade, 48%, está na faixa de renda de até 218 reais por pessoa, a faixa do Bolsa Família. Outros 32% estão entre 218 reais e meio salário mínimo, e 20% acima de meio salário mínimo. Os dados reais do seu município estão nos painéis do Ministério do Desenvolvimento Social. E lembre: quem não se cadastrou não aparece.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Onde encontrar os dados? Há vários portais de acesso livre. O IBGE Cidades traz um panorama de cada município. O SIDRA reúne as tabelas das pesquisas do IBGE. O Atlas Brasil traz o IDHM e indicadores municipais. O DATASUS, com o TabNet, traz os dados de saúde. O INEP traz o Censo Escolar, o IDEB e o SAEB. E o Portal da Transparência mostra os recursos federais e os beneficiários.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 esta parte, qual fonte usar para cada indicador? A população por faixa etária vem do Censo 2022 e das estimativas do IBGE. A taxa de mortalidade infantil, do SIM e do SINASC. O IDEB e a taxa de aprovação, do INEP. O saldo de empregos formais, do Novo CAGED. As famílias em situação de pobreza cadastradas, do CadÚnico. E a receita própria do município, do SICONFI. Uma regra de ouro: sempre cite a fonte e o ano de referência do 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às atividades da Unidade 3, com as datas no SIGAA. Nesta semana, assista a esta videoaula e faça a leitura. Participe do encontro síncrono, às 19h, pelo Google Meet, com dúvidas e orientações para a A2 e a A3. E, no fórum temático 2, monte uma ficha com cinco indicadores do seu município e as respectivas fontes. Na próxima unidade, os dados e indicadores econômicos e os boletins de conjuntura.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ao quiz da Unidade 3: cinco perguntas. Pause, responda e confira no slide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Qual fonte oferece dados para todos os municípios e bairros, mas só a cada 10 anos? Letra a: PNAD Contínua. Letra b: Censo Demográfico. Letra c: Boletim Focus. Letra d: POF.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Censo Demográfico. O Censo é universal e decenal; o mais recente é de 2022.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A taxa de desocupação trimestral vem da: Letra a: PNAD Contínua. Letra b: RAIS. Letra c: MUNIC. Letra d: SINASC.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PNAD Contínua. A PNAD Contínua investiga trabalho e rendimento a cada trimestre.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Os dados de óbitos e nascidos vivos vêm de: Letra a: Censo Escolar. Letra b: CadÚnico. Letra c: SIM e SINASC. Letra d: SICONFI.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SIM e SINASC. São sistemas de informação do Ministério da Saúde, disponíveis no DATASUS.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Uma limitação do CadÚnico é: Letra a: Não ter dados municipais. Letra b: Ser realizado a cada dez anos. Letra c: Medir apenas a inflação. Letra d: Registrar só quem se cadastrou.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d: Registrar só quem se cadastrou. É um cadastro de demanda: famílias que não se cadastraram não aparecem.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A pesquisa do IBGE sobre a estrutura e a gestão das prefeituras é a: Letra a: POF. Letra b: MUNIC. Letra c: PNS. Letra d: PAM.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MUNIC. A MUNIC traz dados sobre conselhos, planos, órgãos e políticas municipais.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 a Unidade 3, vamos recapitular. [Apontar para o quadro da esquerda.] No tópico 5, vimos que o IBGE coordena o sistema estatístico, com os ministérios, o Banco Central, o Tesouro e instituições como o IPEA, o PNUD e a Fundação João Pinheiro. Comparamos censos, pesquisas amostrais e registros, estudamos o Censo 2022 e as pesquisas PNAD Contínua, POF, PNS e MUNIC, que em geral não trazem dados municipais. [Apontar para o quadro da direita.] No tópico 6, conhecemos os registros administrativos, o CadÚnico e os seus cuidados, os portais de acesso livre e a fonte de cada indicador. Na próxima unidade, os indicadores econômicos e a conjuntura. Nos vemos no encontro síncrono. Até lá!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Slide-7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Slide-12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na Gestão Pública</a:t>
            </a:r>
            <a:endParaRPr lang="en-US" sz="36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3236976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Produtores de dados e fontes de informação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785616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____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na Gestão Pública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Produtores de dados e fontes de informação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 · a definir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3 (__/__ a __/__)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3 · Leitura: JANNUZZI (2014), fontes de dados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5 e 6 do sumário · Encontro síncrono (19h)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5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Produtores de dados, Censo e pesquisas do IBGE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produz as informações que o gestor usa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produz dados e indicadores no Brasil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ChartP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 o sistema estatístico: censos, pesquisas amostrais e contas nacionais.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Hospi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Ministérios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(DATASUS), Educação (INEP), Trabalho (RAIS, CAGED), Desenvolvimento Social (CadÚnico).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e finanças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Central (juros, crédito, expectativas) e Tesouro (SICONFI).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e cooperação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IPEA, PNUD e Fundação João Pinheiro (Atlas Brasil), institutos estaduais.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tipos de fonte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uma com vantagens e limites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9260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Vantagens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Censos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Cobrem toda a população; dados para todos os municípios e bairros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Caros e realizados a cada 10 anos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Pesquisas amostrais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Frequentes e detalhadas; custo menor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geral não trazem dados municipais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Registros administrativos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Contínuos, municipais e de baixo custo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Só cobrem quem é registrado; dependem da qualidade do registro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429000"/>
            <a:ext cx="7772400" cy="822960"/>
          </a:xfrm>
          <a:prstGeom prst="roundRect">
            <a:avLst>
              <a:gd name="adj" fmla="val 888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bom diagnóstico combina as três fontes: o censo como base, as pesquisas para temas específicos e os registros para acompanhar a evolução.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Censo Demográfico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1679448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todos os domicílios do país.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18872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261872"/>
            <a:ext cx="1679448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mais recente foi realizado em 2022 (adiado de 2020).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18872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MapMarked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4475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261872"/>
            <a:ext cx="1679448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para municípios, bairros e setores censitários.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2651760"/>
            <a:ext cx="7772400" cy="1645920"/>
          </a:xfrm>
          <a:prstGeom prst="roundRect">
            <a:avLst>
              <a:gd name="adj" fmla="val 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o gestor usa o Censo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da população: idade, sexo, cor/raça, escolaridade, renda e condições de moradia.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Denominador das taxas e base para as estimativas populacionais anuais (usadas no FPM).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do IDHM e de indicadores do Atlas Brasil.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Censo revela: Mato Grosso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recenseada nos quatro últimos Censos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de Mato Grosso (milhões de habitantes)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2010 e 2022, MT cresceu cerca de 20,5%.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mesmo período, o Brasil cresceu cerca de 6,5% (de 190,8 para 203,1 milhões).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população muda a demanda por escolas, saúde e o valor do FPM.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IBGE, Censos Demográficos 1991, 2000, 2010 e 2022 (valores arredondados).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Pesquisas amostrais e institucionais do IBGE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TRIMESTRAL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PNAD Contínua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Trabalho, desocupação, informalidade e rendimento.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709160" y="118872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PERIÓDICA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POF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Orçamentos familiares; base dos pesos do IPCA.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587752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PERIÓDICA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Condições de saúde, doenças crônicas e acesso a serviços.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709160" y="2587752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INSTITUCIONAL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e gestão das prefeituras: conselhos, planos, órgãos.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886200"/>
            <a:ext cx="7772400" cy="502920"/>
          </a:xfrm>
          <a:prstGeom prst="roundRect">
            <a:avLst>
              <a:gd name="adj" fmla="val 1454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Atenção: pesquisas amostrais, como a PNAD Contínua, não trazem resultados para a maioria dos municípios.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6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administrativos, cadastros e portais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que nascem da gestão das políticas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registros administrativos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Órgão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Indicadores possíveis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 e SINASC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Ministério da Saúde (DATASUS)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Mortalidade infantil e por causas; nascidos vivos; pré-natal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Censo Escolar e SAEB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Matrículas, aprovação, distorção idade-série, IDEB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 e Novo CAGED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Ministério do Trabalho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Emprego formal, salários, saldo mensal de vagas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SICONFI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Tesouro Nacional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Receitas, despesas, gasto com pessoal dos municípios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Estatísticas eleitorais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Eleitorado e participação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767328"/>
            <a:ext cx="7772400" cy="603504"/>
          </a:xfrm>
          <a:prstGeom prst="roundRect">
            <a:avLst>
              <a:gd name="adj" fmla="val 1212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Vantagem: dados municipais e frequentes. Limite: a RAIS, por exemplo, não capta o trabalho informal.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Cadastros públicos e dados de programas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ÚNICO (CADÚNICO)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das famílias de baixa renda, com dados de moradia, escolaridade, trabalho e renda.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do Bolsa Família, da tarifa social de energia e de dezenas de programas.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USOS E CUIDADOS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Localizar famílias vulneráveis por bairro e focalizar ações.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cadastro de demanda, não censo: quem não se cadastrou não aparece.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de atualização periódica pelas equipes municipais.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CadÚnico no diagnóstico local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das famílias cadastradas em um município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 no CadÚnico por faixa de renda per capita (%)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metade das famílias cadastradas está na faixa do Bolsa Família.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cadastro permite localizar essas famílias por bairro.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Lembre: quem não se cadastrou não aparece.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Consulta real: painéis do MDS (VIS DATA / CECAD).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encontrar os dados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Portais de acesso livre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C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 Cidades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cidades.ibge.gov.br: panorama de cada município.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3343656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4475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SIDRA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sidra.ibge.gov.br: tabelas das pesquisas do IBGE.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6001512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GlobeAmerica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447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Brasil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atlasbrasil.org.br: IDHM e indicadores municipais.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85800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NotesMedic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371600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DATASUS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datasus.saude.gov.br: dados de saúde (TabNet).</a:t>
            </a:r>
            <a:endParaRPr lang="en-US" sz="1450" dirty="0"/>
          </a:p>
        </p:txBody>
      </p:sp>
      <p:sp>
        <p:nvSpPr>
          <p:cNvPr id="20" name="Shape 14"/>
          <p:cNvSpPr/>
          <p:nvPr/>
        </p:nvSpPr>
        <p:spPr>
          <a:xfrm>
            <a:off x="3343656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480816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2" name="Image 4" descr="/tmp/claude-0/-home-user-zero-claude/d7e33190-c541-582c-a7cc-1156817732ce/scratchpad/deck/assets/icon_FaSchoo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1400" y="299923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029456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INEP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 Escolar, IDEB e SAEB.</a:t>
            </a:r>
            <a:endParaRPr lang="en-US" sz="1450" dirty="0"/>
          </a:p>
        </p:txBody>
      </p:sp>
      <p:sp>
        <p:nvSpPr>
          <p:cNvPr id="24" name="Shape 17"/>
          <p:cNvSpPr/>
          <p:nvPr/>
        </p:nvSpPr>
        <p:spPr>
          <a:xfrm>
            <a:off x="6001512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138672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6" name="Image 5" descr="/tmp/claude-0/-home-user-zero-claude/d7e33190-c541-582c-a7cc-1156817732ce/scratchpad/deck/assets/icon_FaSearchDolla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9256" y="2999232"/>
            <a:ext cx="256032" cy="25603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687312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Transparência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da Transparência: recursos federais e beneficiários.</a:t>
            </a:r>
            <a:endParaRPr lang="en-US" sz="1450" dirty="0"/>
          </a:p>
        </p:txBody>
      </p:sp>
      <p:sp>
        <p:nvSpPr>
          <p:cNvPr id="28" name="Text 20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fonte para cada indicador?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 do diagnóstico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 por faixa etária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Censo 2022 e estimativas populacionais (IBGE)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de mortalidade infantil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 e SINASC (DATASUS)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IDEB e taxa de aprovação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INEP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 de empregos formais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 CAGED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Famílias em situação de pobreza cadastradas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CadÚnico (MDS)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Receita própria do município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SICONFI (Tesouro Nacional)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794760"/>
            <a:ext cx="777240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cite a fonte e o ano de referência do dado.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3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__/__, 19h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Encontro síncrono (Google Meet): dúvidas e orientações para A2 e A3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__/__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2: monte uma ficha com 5 indicadores do seu município e as respectivas fontes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dados e indicadores econômicos e boletins de conjuntura.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fonte oferece dados para todos os municípios e bairros, mas só a cada 10 anos?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PNAD Contínua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 Demográfico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Boletim Focus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POF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fonte oferece dados para todos os municípios e bairros, mas só a cada 10 anos?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PNAD Contínua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 Demográfico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Boletim Focus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POF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Censo é universal e decenal; o mais recente é de 2022.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taxa de desocupação trimestral vem da: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PNAD Contínua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SINASC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taxa de desocupação trimestral vem da: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PNAD Contínua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SINASC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PNAD Contínua investiga trabalho e rendimento a cada trimestre.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de óbitos e nascidos vivos vêm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 Escolar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CadÚnico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e SINASC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SICONFI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de óbitos e nascidos vivos vêm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 Escolar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CadÚnico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e SINASC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SICONFI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sistemas de informação do Ministério da Saúde, disponíveis no DATASUS.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limitação do CadÚnico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ter dados municipais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 realizado a cada dez anos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apenas a inflação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só quem se cadastrou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limitação do CadÚnico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ter dados municipais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 realizado a cada dez anos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apenas a inflação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só quem se cadastrou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cadastro de demanda: famílias que não se cadastraram não aparecem.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pesquisa do IBGE sobre a estrutura e a gestão das prefeituras é 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POF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pesquisa do IBGE sobre a estrutura e a gestão das prefeituras é 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POF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MUNIC traz dados sobre conselhos, planos, órgãos e políticas municipais.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da Unidade 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discutimos nesta unidade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Produtores de dados, Censo e pesquisas do IBGE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IBGE coordena o sistema; ministérios, Banco Central, Tesouro, IPEA, PNUD e FJP o completam.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Censos, pesquisas amostrais e registros: vantagens e limites.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 2022: universal e decenal; base das estimativas e do FPM.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PNAD Contínua, POF, PNS e MUNIC, em geral sem dados municipais.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6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administrativos, cadastros e portais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e SINASC, Censo Escolar e SAEB, RAIS e CAGED, SICONFI.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CadÚnico: base do Bolsa Família; cadastro de demanda.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Portais: IBGE Cidades, SIDRA, Atlas Brasil, DATASUS e Transparência.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indicador tem a sua fonte: cite sempre a fonte e o ano.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95928"/>
            <a:ext cx="7772400" cy="484632"/>
          </a:xfrm>
          <a:prstGeom prst="roundRect">
            <a:avLst>
              <a:gd name="adj" fmla="val 15094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dados e indicadores econômicos e boletins de conjuntura.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Indicadores Socioeconômicos na Gestão Pública – Unidade 3: Produtores de dados e fontes de informação</dc:title>
  <dc:subject>PptxGenJS Presentation</dc:subject>
  <dc:creator>Prof. Dr. Cleiton Franco</dc:creator>
  <cp:lastModifiedBy>Prof. Dr. Cleiton Franco</cp:lastModifiedBy>
  <cp:revision>1</cp:revision>
  <dcterms:created xsi:type="dcterms:W3CDTF">2026-09-26T21:40:35Z</dcterms:created>
  <dcterms:modified xsi:type="dcterms:W3CDTF">2026-09-26T21:40:35Z</dcterms:modified>
</cp:coreProperties>
</file>