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PIB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-3.5</c:v>
                </c:pt>
                <c:pt idx="1">
                  <c:v>-3.3</c:v>
                </c:pt>
                <c:pt idx="2">
                  <c:v>1.3</c:v>
                </c:pt>
                <c:pt idx="3">
                  <c:v>1.8</c:v>
                </c:pt>
                <c:pt idx="4">
                  <c:v>1.2</c:v>
                </c:pt>
                <c:pt idx="5">
                  <c:v>-3.3</c:v>
                </c:pt>
                <c:pt idx="6">
                  <c:v>4.8</c:v>
                </c:pt>
                <c:pt idx="7">
                  <c:v>3</c:v>
                </c:pt>
                <c:pt idx="8">
                  <c:v>3.2</c:v>
                </c:pt>
                <c:pt idx="9">
                  <c:v>3.4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-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Nominal (preços correntes)</c:v>
                </c:pt>
              </c:strCache>
            </c:strRef>
          </c:tx>
          <c:spPr>
            <a:solidFill>
              <a:srgbClr val="7A8B99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</c:v>
                </c:pt>
                <c:pt idx="1">
                  <c:v>550</c:v>
                </c:pt>
                <c:pt idx="2">
                  <c:v>600</c:v>
                </c:pt>
                <c:pt idx="3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 preços de 2021)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</c:v>
                </c:pt>
                <c:pt idx="1">
                  <c:v>519</c:v>
                </c:pt>
                <c:pt idx="2">
                  <c:v>539</c:v>
                </c:pt>
                <c:pt idx="3">
                  <c:v>562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IPCA</c:v>
                </c:pt>
              </c:strCache>
            </c:strRef>
          </c:tx>
          <c:spPr>
            <a:solidFill>
              <a:srgbClr val="E0A7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10.67</c:v>
                </c:pt>
                <c:pt idx="1">
                  <c:v>6.29</c:v>
                </c:pt>
                <c:pt idx="2">
                  <c:v>2.95</c:v>
                </c:pt>
                <c:pt idx="3">
                  <c:v>3.75</c:v>
                </c:pt>
                <c:pt idx="4">
                  <c:v>4.31</c:v>
                </c:pt>
                <c:pt idx="5">
                  <c:v>4.52</c:v>
                </c:pt>
                <c:pt idx="6">
                  <c:v>10.06</c:v>
                </c:pt>
                <c:pt idx="7">
                  <c:v>5.79</c:v>
                </c:pt>
                <c:pt idx="8">
                  <c:v>4.62</c:v>
                </c:pt>
                <c:pt idx="9">
                  <c:v>4.83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Desocupação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</c:v>
                </c:pt>
                <c:pt idx="1">
                  <c:v>8.6</c:v>
                </c:pt>
                <c:pt idx="2">
                  <c:v>11.6</c:v>
                </c:pt>
                <c:pt idx="3">
                  <c:v>12.7</c:v>
                </c:pt>
                <c:pt idx="4">
                  <c:v>12.3</c:v>
                </c:pt>
                <c:pt idx="5">
                  <c:v>12</c:v>
                </c:pt>
                <c:pt idx="6">
                  <c:v>13.8</c:v>
                </c:pt>
                <c:pt idx="7">
                  <c:v>13.2</c:v>
                </c:pt>
                <c:pt idx="8">
                  <c:v>9.3</c:v>
                </c:pt>
                <c:pt idx="9">
                  <c:v>7.8</c:v>
                </c:pt>
                <c:pt idx="10">
                  <c:v>6.6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solidFill>
              <a:srgbClr val="13294B"/>
            </a:solidFill>
            <a:ln w="31750" cap="flat">
              <a:solidFill>
                <a:srgbClr val="13294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3294B"/>
              </a:solidFill>
              <a:ln w="9525" cap="flat">
                <a:solidFill>
                  <a:srgbClr val="1329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</c:v>
                </c:pt>
                <c:pt idx="1">
                  <c:v>2</c:v>
                </c:pt>
                <c:pt idx="2">
                  <c:v>9.25</c:v>
                </c:pt>
                <c:pt idx="3">
                  <c:v>13.75</c:v>
                </c:pt>
                <c:pt idx="4">
                  <c:v>11.75</c:v>
                </c:pt>
                <c:pt idx="5">
                  <c:v>12.25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46.2</c:v>
                </c:pt>
                <c:pt idx="1">
                  <c:v>49</c:v>
                </c:pt>
                <c:pt idx="2">
                  <c:v>52.1</c:v>
                </c:pt>
                <c:pt idx="3">
                  <c:v>53.4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Limite prudencial</c:v>
                </c:pt>
              </c:strCache>
            </c:strRef>
          </c:tx>
          <c:spPr>
            <a:solidFill>
              <a:srgbClr val="E0A72E"/>
            </a:solidFill>
            <a:ln w="31750" cap="flat">
              <a:solidFill>
                <a:srgbClr val="E0A7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0A72E"/>
              </a:solidFill>
              <a:ln w="9525" cap="flat">
                <a:solidFill>
                  <a:srgbClr val="E0A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51.3</c:v>
                </c:pt>
                <c:pt idx="1">
                  <c:v>51.3</c:v>
                </c:pt>
                <c:pt idx="2">
                  <c:v>51.3</c:v>
                </c:pt>
                <c:pt idx="3">
                  <c:v>51.3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Limite máximo</c:v>
                </c:pt>
              </c:strCache>
            </c:strRef>
          </c:tx>
          <c:spPr>
            <a:solidFill>
              <a:srgbClr val="13294B"/>
            </a:solidFill>
            <a:ln w="31750" cap="flat">
              <a:solidFill>
                <a:srgbClr val="13294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3294B"/>
              </a:solidFill>
              <a:ln w="9525" cap="flat">
                <a:solidFill>
                  <a:srgbClr val="1329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54</c:v>
                </c:pt>
                <c:pt idx="1">
                  <c:v>54</c:v>
                </c:pt>
                <c:pt idx="2">
                  <c:v>54</c:v>
                </c:pt>
                <c:pt idx="3">
                  <c:v>54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9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Slide-1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Dados e indicadores econômicos e conjuntura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Dados e indicadores econômicos e conjuntura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4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JANNUZZI (2014) e FEIJÓ et al. (2008)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7 e 8 · Exercícios de fixação 2 · A2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indicadores econômicos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preços, trabalho, juros e contas públicas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PIB: o que é e como se mede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(ótica da despesa)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PRODUÇÃO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adicionado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do que cada setor agrega: agropecuária, indústria, serviços.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DESPESA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final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Consumo, investimento, gasto do governo e exportações líquidas.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57400"/>
            <a:ext cx="2456688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ÓTICA DA RENDA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Remunerações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Salários, lucros, juros e aluguéis gerados na produção.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03320"/>
            <a:ext cx="7772400" cy="621792"/>
          </a:xfrm>
          <a:prstGeom prst="roundRect">
            <a:avLst>
              <a:gd name="adj" fmla="val 1176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IBGE divulga o PIB trimestral do país e o PIB anual dos municípios, com o valor adicionado por setor.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do Brasil ano a 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variação real anual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do Brasil: variação real em relação ao ano anterior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Recessão em 2015–2016.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2020: pandemia.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a partir de 2021.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anual dos municípios sai com cerca de dois anos de defasagem.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Sistema de Contas Nacionais (valores arredondados; sujeitos a revisão).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nominais e reais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do município cresceu 10%?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inflação do período foi de 6%, o crescimento real foi de (1,10 ÷ 1,06) − 1 ≈ 3,8%. O restante foi aumento de preços. (Dados hipotéticos.)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nominal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a preços correntes: mistura quantidade e preço.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real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Descontada a inflação (deflacionado): mostra a variação de quantidade.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56032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Receitas, salários e gastos devem ser comparados em termos reais.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Deflacionar: nominal × real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de um município, em R$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corrente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valores nominais, a receita subiu 30%.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inflação de 6%, 5% e 4% ao ano, o aumento real foi de cerca de 12%.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= nominal ÷ índice de preços acumulado.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Ex.: 2024: 650 ÷ (1,06 × 1,05 × 1,04) ≈ 562.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de preços: medindo a inflação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Instituição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 e usos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IPCA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oficial de inflação; referência da meta definida pelo CMN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Famílias de menor renda; reajuste de benefícios do INSS e do salário mínimo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IGP-M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FGV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geral de preços; muito usado em contratos de aluguel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2926080"/>
            <a:ext cx="777240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0906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19125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035808"/>
            <a:ext cx="6903720" cy="1014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da prefeitura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de aluguel e de serviços continuados costumam ser reajustados por índices de preços: conhecer o índice evita surpresas no orçamento.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oficial: IPCA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acumulada no 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IPCA: variação anual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em 2015 e 2021, acima de 10%.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2017, a inflação ficou abaixo do piso da meta.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reajustados pelo índice sobem junto: é preciso prever isso no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Sistema Nacional de Índices de Preços ao Consumidor.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trabalho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(PNAD CONTÍNUA)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 de trabalho: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+ desocupados.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procurou trabalho e não encontrou.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desocupação: </a:t>
            </a:r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Informalidade: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sem carteira ou sem CNPJ.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MUNICÍPIO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PNAD Contínua não traz dados para a maioria dos municípios.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Novo CAGED (saldo mensal de empregos formais) e a RAIS (estoque anual de vínculos formais).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2022 traz a situação de trabalho para todos os municípios.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Desocupação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anual da PNAD Contínua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desocupação: média anual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recessão levou a taxa de 7% para quase 13%.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pico na pandemia (2020).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2024, menor média da série.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municípios, complemente com CAGED e RAIS.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PNAD Contínua (valores aproximados, arredondados).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Juros, câmbio e contas públicas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Percent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Selic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básica de juros definida pelo Copom (Banco Central) em 8 reuniões por ano.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DollarSig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do dólar: afeta importados, combustíveis e exportações do agronegócio.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primário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 menos despesas, sem os juros: mostra o esforço fiscal.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LRF no município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com pessoal até 60% da receita corrente líquida (54% Executivo, 6% Legislativo).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Selic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definida pelo Copom, no fim de cada 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da taxa Selic em dezembro (% ao ano)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2020, mínima histórica de 2%.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forte em 2021–2022 para conter a inflação.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 altos encarecem o crédito e as dívidas dos entes públicos.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Banco Central do Brasil, decisões do Copom.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com pessoal e a LRF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Executivo de um município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com pessoal do Executivo (% da receita corrente líquida)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máximo do Executivo: 54% da RCL.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51,3% (limite prudencial) ficam vedados novos aumentos e contratações.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município ultrapassou o prudencial em 2023: alerta para a gestão.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Relatório de Gestão Fiscal.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Pesquisas econômicas e conjuntura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economia para planejar melhor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pesquisas econômicas do IBGE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716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mostra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Contas Nacionais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do país e seus componentes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dos Municípios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PIB e valor adicionado por setor em cada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PIM-PF · PMC · PMS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Indústria, comércio varejista e serviços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Estimativas das safras agrícolas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· PPM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 agrícola e pecuária de cada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456432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6210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2160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566160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agrícolas de MT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PAM e a PPM mostram a base produtiva local; o LSPA antecipa a safra do estado.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Boletins de conjuntura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News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· SEMANAL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Expectativas do mercado para inflação, PIB, câmbio e Selic.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 do Copom e relatórios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avaliação dos juros e da inflação.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IPEA · TRIMESTRAL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 atividade, preços, trabalho e setor externo.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FGV IBRE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Macro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e projeções da economia brasileira.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a conjuntura em 5 passos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Inspirado em Feijó et al. (2008), Para entender a conjuntura econômica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indústria, comércio, serviços, safra.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2273198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 e núcleos de inflação.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860597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Desocupação, CAGED, renda.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47995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 e câmbio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Selic, dólar, crédito.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035394" y="1280160"/>
            <a:ext cx="1422806" cy="2011680"/>
          </a:xfrm>
          <a:prstGeom prst="roundRect">
            <a:avLst>
              <a:gd name="adj" fmla="val 385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públicas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primário e dívida.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2044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município: a conjuntura afeta a arrecadação (ICMS, FPM, ISS) e a procura por serviços públicos.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conjuntura ao orçamento municipal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63040"/>
          </a:xfrm>
          <a:prstGeom prst="roundRect">
            <a:avLst>
              <a:gd name="adj" fmla="val 5000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2435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Safra e receitas em municípios agrícolas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safra maior tende a elevar o valor adicionado do município e, nos anos seguintes, sua participação no ICMS (cota-parte). Já a desaceleração da economia reduz transferências e aumenta a procura por assistência.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ICMS, FPM e ISS em termos reais.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reajustados por índices de preços; folha e LRF.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 eleva a procura por SUS, CRAS e CadÚnico.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com a gravação do encontro síncrono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nominal +10% e inflação de 6%: o crescimento real foi de cerca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nominal +10% e inflação de 6%: o crescimento real foi de cerca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(1,10 ÷ 1,06) − 1 ≈ 3,8%.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oficial de inflação no Brasil é 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IGP-M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oficial de inflação no Brasil é 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IGP-M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IPCA, do IBGE, é a referência do regime de metas de inflação.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população total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÷ força de trabalho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Informais ÷ ocupados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população total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Ocupados ÷ força de trabalho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Desocupados ÷ força de trabalho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Informais ÷ ocupados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de trabalho reúne ocupados e desocupados.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expectativas de mercado para inflação e PIB são publicadas semanalmente no: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expectativas de mercado para inflação e PIB são publicadas semanalmente no: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Conjuntura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Boletim Focus, do Banco Central, sai toda semana.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de cada município é pesquisada pela: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PIM-PF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de cada município é pesquisada pela: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PIM-PF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Agrícola Municipal (PAM) é anual e traz dados por município.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4: Dados e indicadores econômicos e conjuntura</dc:title>
  <dc:subject>PptxGenJS Presentation</dc:subject>
  <dc:creator>Prof. Dr. Cleiton Franco</dc:creator>
  <cp:lastModifiedBy>Prof. Dr. Cleiton Franco</cp:lastModifiedBy>
  <cp:revision>1</cp:revision>
  <dcterms:created xsi:type="dcterms:W3CDTF">2026-09-26T20:14:13Z</dcterms:created>
  <dcterms:modified xsi:type="dcterms:W3CDTF">2026-09-26T20:14:13Z</dcterms:modified>
</cp:coreProperties>
</file>