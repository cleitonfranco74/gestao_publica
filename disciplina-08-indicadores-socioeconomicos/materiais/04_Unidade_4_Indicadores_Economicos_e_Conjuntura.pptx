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9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PIB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-3.5</c:v>
                </c:pt>
                <c:pt idx="1">
                  <c:v>-3.3</c:v>
                </c:pt>
                <c:pt idx="2">
                  <c:v>1.3</c:v>
                </c:pt>
                <c:pt idx="3">
                  <c:v>1.8</c:v>
                </c:pt>
                <c:pt idx="4">
                  <c:v>1.2</c:v>
                </c:pt>
                <c:pt idx="5">
                  <c:v>-3.3</c:v>
                </c:pt>
                <c:pt idx="6">
                  <c:v>4.8</c:v>
                </c:pt>
                <c:pt idx="7">
                  <c:v>3</c:v>
                </c:pt>
                <c:pt idx="8">
                  <c:v>3.2</c:v>
                </c:pt>
                <c:pt idx="9">
                  <c:v>3.4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-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Nominal (preços correntes)</c:v>
                </c:pt>
              </c:strCache>
            </c:strRef>
          </c:tx>
          <c:spPr>
            <a:solidFill>
              <a:srgbClr val="7A8B99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500</c:v>
                </c:pt>
                <c:pt idx="1">
                  <c:v>550</c:v>
                </c:pt>
                <c:pt idx="2">
                  <c:v>600</c:v>
                </c:pt>
                <c:pt idx="3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(a preços de 2021)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500</c:v>
                </c:pt>
                <c:pt idx="1">
                  <c:v>519</c:v>
                </c:pt>
                <c:pt idx="2">
                  <c:v>539</c:v>
                </c:pt>
                <c:pt idx="3">
                  <c:v>562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IPCA</c:v>
                </c:pt>
              </c:strCache>
            </c:strRef>
          </c:tx>
          <c:spPr>
            <a:solidFill>
              <a:srgbClr val="E0A7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10.67</c:v>
                </c:pt>
                <c:pt idx="1">
                  <c:v>6.29</c:v>
                </c:pt>
                <c:pt idx="2">
                  <c:v>2.95</c:v>
                </c:pt>
                <c:pt idx="3">
                  <c:v>3.75</c:v>
                </c:pt>
                <c:pt idx="4">
                  <c:v>4.31</c:v>
                </c:pt>
                <c:pt idx="5">
                  <c:v>4.52</c:v>
                </c:pt>
                <c:pt idx="6">
                  <c:v>10.06</c:v>
                </c:pt>
                <c:pt idx="7">
                  <c:v>5.79</c:v>
                </c:pt>
                <c:pt idx="8">
                  <c:v>4.62</c:v>
                </c:pt>
                <c:pt idx="9">
                  <c:v>4.83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Desocupação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</c:v>
                </c:pt>
                <c:pt idx="1">
                  <c:v>8.6</c:v>
                </c:pt>
                <c:pt idx="2">
                  <c:v>11.6</c:v>
                </c:pt>
                <c:pt idx="3">
                  <c:v>12.7</c:v>
                </c:pt>
                <c:pt idx="4">
                  <c:v>12.3</c:v>
                </c:pt>
                <c:pt idx="5">
                  <c:v>12</c:v>
                </c:pt>
                <c:pt idx="6">
                  <c:v>13.8</c:v>
                </c:pt>
                <c:pt idx="7">
                  <c:v>13.2</c:v>
                </c:pt>
                <c:pt idx="8">
                  <c:v>9.3</c:v>
                </c:pt>
                <c:pt idx="9">
                  <c:v>7.8</c:v>
                </c:pt>
                <c:pt idx="10">
                  <c:v>6.6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solidFill>
              <a:srgbClr val="13294B"/>
            </a:solidFill>
            <a:ln w="31750" cap="flat">
              <a:solidFill>
                <a:srgbClr val="13294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3294B"/>
              </a:solidFill>
              <a:ln w="9525" cap="flat">
                <a:solidFill>
                  <a:srgbClr val="1329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4.5</c:v>
                </c:pt>
                <c:pt idx="1">
                  <c:v>2</c:v>
                </c:pt>
                <c:pt idx="2">
                  <c:v>9.25</c:v>
                </c:pt>
                <c:pt idx="3">
                  <c:v>13.75</c:v>
                </c:pt>
                <c:pt idx="4">
                  <c:v>11.75</c:v>
                </c:pt>
                <c:pt idx="5">
                  <c:v>12.25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46.2</c:v>
                </c:pt>
                <c:pt idx="1">
                  <c:v>49</c:v>
                </c:pt>
                <c:pt idx="2">
                  <c:v>52.1</c:v>
                </c:pt>
                <c:pt idx="3">
                  <c:v>53.4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Limite prudencial</c:v>
                </c:pt>
              </c:strCache>
            </c:strRef>
          </c:tx>
          <c:spPr>
            <a:solidFill>
              <a:srgbClr val="E0A72E"/>
            </a:solidFill>
            <a:ln w="31750" cap="flat">
              <a:solidFill>
                <a:srgbClr val="E0A72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0A72E"/>
              </a:solidFill>
              <a:ln w="9525" cap="flat">
                <a:solidFill>
                  <a:srgbClr val="E0A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51.3</c:v>
                </c:pt>
                <c:pt idx="1">
                  <c:v>51.3</c:v>
                </c:pt>
                <c:pt idx="2">
                  <c:v>51.3</c:v>
                </c:pt>
                <c:pt idx="3">
                  <c:v>51.3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Limite máximo</c:v>
                </c:pt>
              </c:strCache>
            </c:strRef>
          </c:tx>
          <c:spPr>
            <a:solidFill>
              <a:srgbClr val="13294B"/>
            </a:solidFill>
            <a:ln w="31750" cap="flat">
              <a:solidFill>
                <a:srgbClr val="13294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3294B"/>
              </a:solidFill>
              <a:ln w="9525" cap="flat">
                <a:solidFill>
                  <a:srgbClr val="1329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54</c:v>
                </c:pt>
                <c:pt idx="1">
                  <c:v>54</c:v>
                </c:pt>
                <c:pt idx="2">
                  <c:v>54</c:v>
                </c:pt>
                <c:pt idx="3">
                  <c:v>54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4, a última da disciplina: dados e indicadores econômicos e conjuntura. Até aqui, trabalhamos com indicadores sociais. Agora, vamos entender os principais indicadores da economia, como PIB, inflação, emprego e juros, e como a conjuntura econômica chega ao orçamento do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quarta semana da disciplina, com as datas no SIGAA. A leitura é o livro de Jannuzzi e o texto de Feijó e colaboradores, Para entender a conjuntura econômica, de 2008, junto com os tópicos 7 e 8 do sumário da página de conteúdos. Nesta semana, você faz os Exercícios de fixação 2 e a Avaliação A2.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7 do sumário: dados e indicadores econômicos. Produção, preços, trabalho, juros e contas públicas.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Produto Interno Bruto é o valor dos bens e serviços finais produzidos em um período. Ele pode ser medido por três óticas. Pela produção: a soma do valor adicionado pela agropecuária, pela indústria e pelos serviços. Pela despesa: consumo, mais investimento, mais gasto do governo, mais exportações menos importações. E pela renda: salários, lucros, juros e aluguéis gerados na produção. O IBGE divulga o PIB trimestral do país e o PIB anual dos municípios, com o valor adicionado por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o PIB do Brasil ano a ano. [Apontar para as colunas negativas e depois para as positivas.] Houve recessão em 2015 e 2016, com quedas de mais de 3% ao ano. Em 2020, nova queda, por causa da pandemia. E, a partir de 2021, recuperação. Um detalhe prático: o PIB anual dos municípios é divulgado com cerca de dois anos de defasagem.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distinção fundamental: valores nominais e reais. O valor nominal é medido a preços correntes e mistura quantidade e preço. O valor real é o valor descontada a inflação, ou deflacionado, e mostra a variação de quantidade. Veja o exemplo: se o PIB de um município cresceu 10% e a inflação foi de 6%, o crescimento real foi de 1,10 dividido por 1,06, menos 1, cerca de 3,8%. O restante foi aumento de preços. Por isso, receitas, salários e gastos devem ser comparados em termos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receita de um município hipotético. [Apontar para as colunas cinza e depois para as verdes.] Em valores nominais, a receita subiu de 500 para 650 milhões de reais, 30%. Mas, com inflação de 6%, 5% e 4% ao ano, o aumento real foi de apenas cerca de 12%: de 500 para 562 milhões, a preços de 2021. A regra é: o valor real é o nominal dividido pelo índice de preços acumulado.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deflacionar, usamos índices de preços. O IPCA, do IBGE, é o índice oficial de inflação e a referência da meta definida pelo Conselho Monetário Nacional. O INPC, também do IBGE, mede a inflação das famílias de menor renda e é usado no reajuste de benefícios do INSS e do salário mínimo. E o IGP-M, da FGV, é um índice geral de preços muito usado em contratos de aluguel. Na prefeitura, contratos de aluguel e de serviços continuados costumam ser reajustados por índices de preços; conhecer o índice evita surpresas no orçamento.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IPCA de 2015 a 2024. [Apontar para os picos.] Houve picos em 2015 e 2021, acima de 10%. Em 2017, ao contrário, a inflação ficou abaixo do piso da meta. Para o gestor, a lição é que contratos reajustados pelo índice sobem junto com ele, e isso precisa estar previsto no orçamento.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 mercado de trabalho. Na PNAD Contínua, a força de trabalho reúne os ocupados e os desocupados. Desocupado é quem procurou trabalho e não encontrou. A taxa de desocupação é o número de desocupados dividido pela força de trabalho. E a informalidade reúne os ocupados sem carteira ou sem CNPJ. No município, porém, a PNAD Contínua não traz dados para a maioria das cidades. Por isso, usamos o Novo CAGED, com o saldo mensal de empregos formais, a RAIS, com o estoque anual de vínculos formais, e o Censo 2022, com a situação de trabalho em todos 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desocupação média anual no Brasil. [Acompanhar a linha com o ponteiro.] A recessão levou a taxa de 7%, em 2014, para quase 13%. Houve novo pico na pandemia, em 2020, com 13,8%. E, em 2024, a média foi a menor da série, em torno de 6,6%. Para acompanhar o seu município, complemente com o CAGED e a 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Outros indicadores importantes. A Selic é a taxa básica de juros, definida pelo Copom do Banco Central em oito reuniões por ano. O câmbio, o preço do dólar, afeta os importados, os combustíveis e as exportações do agronegócio. O resultado primário é a diferença entre receitas e despesas, sem os juros, e mostra o esforço fiscal. E, no município, a Lei de Responsabilidade Fiscal limita o gasto com pessoal a 60% da receita corrente líquida: 54% para o Executivo e 6% para o Legislativo.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meta da Selic no fim de cada ano. [Apontar para a linha.] Em 2020, a Selic chegou à mínima histórica de 2%. Em 2021 e 2022, subiu fortemente, até 13,75%, para conter a inflação. Juros altos encarecem o crédito e também as dívidas dos entes públicos.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LRF na prática, com um município hipotético. [Apontar para a linha vermelha e depois para as linhas de limite.] O limite máximo do gasto com pessoal do Executivo é 54% da receita corrente líquida. Acima de 51,3%, o limite prudencial, ficam vedados novos aumentos e contratações, salvo exceções previstas na lei. Este município ultrapassou o limite prudencial em 2023, o que é um alerta para a gestão. Os dados reais estão no Relatório de Gestão Fiscal, no SICONFI.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8 do sumário: pesquisas econômicas do IBGE e boletins de conjuntura. Acompanhar a economia para planejar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mostra as principais pesquisas econômicas do IBGE. As Contas Nacionais, trimestrais, trazem o PIB do país e os seus componentes. O PIB dos Municípios, anual, traz o PIB e o valor adicionado por setor em cada município. A PIM-PF, a PMC e a PMS, mensais, acompanham a indústria, o comércio varejista e os serviços. O LSPA, mensal, traz as estimativas das safras. E a PAM e a PPM, anuais, mostram a produção agrícola e pecuária de cada município. Para os municípios agrícolas de Mato Grosso, a PAM e a PPM mostram a base produtiva local, e o LSPA antecipa a safra do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das pesquisas, há os boletins de conjuntura. O Boletim Focus, do Banco Central, é semanal e traz as expectativas do mercado para inflação, PIB, câmbio e Selic. As atas do Copom e os relatórios do Banco Central explicam as decisões sobre juros e a avaliação da inflação. A Carta de Conjuntura do IPEA, trimestral, analisa a atividade, os preços, o trabalho e o setor externo. E o Boletim Macro, da FGV IBRE, traz análises e projeções da economia brasileira.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ler a conjuntura? Inspirados em Feijó e colaboradores, propomos cinco passos. Primeiro, a atividade: PIB, indústria, comércio, serviços e safra. Segundo, os preços: o IPCA e os núcleos de inflação. Terceiro, o trabalho: desocupação, CAGED e renda. Quarto, juros e câmbio: Selic, dólar e crédito. E quinto, as contas públicas: resultado primário e dívida. Para o município, a conjuntura afeta a arrecadação, com o ICMS, o FPM e o ISS, e também a procura por serviços públicos.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conjuntura ao orçamento municipal. Em municípios agrícolas de Mato Grosso, uma safra maior tende a elevar o valor adicionado local e, nos anos seguintes, a participação do município na cota-parte do ICMS. Já uma desaceleração da economia reduz transferências e aumenta a procura por assistência social. Por isso, o gestor deve acompanhar três frentes: as receitas, como ICMS, FPM e ISS, em termos reais; as despesas, com contratos reajustados por índices de preços, a folha e a LRF; e as demandas, porque o desemprego eleva a procura pelo SUS, pelo CRAS e pelo CadÚnico.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finais, com as datas no SIGAA. Nesta semana, assista a esta videoaula e faça a leitura. Depois, faça os Exercícios de fixação 2 e a Avaliação A2, sobre as Unidades 3 e 4, até as 23h55. Na semana seguinte, faça a revisão com a gravação do encontro síncrono e a A3: dez questões objetivas e um estudo de caso, sobre todo o conteúdo. Lembre que a nota final é a média de A1 e A2 com peso 0,4, mais a A3 com peso 0,6, e que a aprovação exige nota 7,0.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encerrar, o último quiz: cinco perguntas sobre a Unidade 4. Pause, responda e confira. Depois, é só revisar e fazer as avaliações com calma.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PIB nominal +10% e inflação de 6%: o crescimento real foi de cerca de: Letra a: 16%. Letra b: 3,8%. Letra c: 10%. Letra d: 0,6%.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3,8%. (1,10 ÷ 1,06) − 1 ≈ 3,8%.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O índice oficial de inflação no Brasil é o: Letra a: IPCA. Letra b: IGP-M. Letra c: INPC. Letra d: IDH.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IPCA. O IPCA, do IBGE, é a referência do regime de metas de inflação.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taxa de desocupação é: Letra a: Desocupados ÷ população total. Letra b: Ocupados ÷ força de trabalho. Letra c: Desocupados ÷ força de trabalho. Letra d: Informais ÷ ocupados.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Desocupados ÷ força de trabalho. A força de trabalho reúne ocupados e desocupados.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As expectativas de mercado para inflação e PIB são publicadas semanalmente no: Letra a: Censo. Letra b: Carta de Conjuntura. Letra c: SICONFI. Letra d: Boletim Focus.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Boletim Focus. O Boletim Focus, do Banco Central, sai toda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A produção agrícola de cada município é pesquisada pela: Letra a: PMC. Letra b: PAM. Letra c: PIM-PF. Letra d: PNAD Contínua.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PAM. A Produção Agrícola Municipal (PAM) é anual e traz dados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4 e a disciplina, vamos recapitular. [Apontar para o quadro da esquerda.] No tópico 7, vimos o PIB e as suas três óticas, a diferença entre valores nominais e reais, os índices de preços IPCA, INPC e IGP-M, os indicadores do mercado de trabalho e as fontes para o município, e a Selic, o câmbio, o resultado primário e a LRF. [Apontar para o quadro da direita.] No tópico 8, conhecemos as pesquisas econômicas do IBGE, os boletins de conjuntura e um roteiro de cinco passos para ler a conjuntura, e vimos como ela chega ao orçamento municipal. Lembre de fazer a A2 e a A3 no SIGAA, nas datas divulgadas. Obrigado pela dedicação ao longo destas semanas. Bons estudos, boas avaliações e até a próxima disciplina!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5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Slide-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Slide-9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Slide-11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1" Type="http://schemas.openxmlformats.org/officeDocument/2006/relationships/image" Target="../media/Slide-1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3236976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Dados e indicadores econômicos e conjuntura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785616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____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Dados e indicadores econômicos e conjuntura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 · a definir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4 (__/__ a __/__)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JANNUZZI (2014) e FEIJÓ et al. (2008)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7 e 8 do sumário · Exercícios de fixação 2 · A2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indicadores econômicos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Produção, preços, trabalho, juros e contas públicas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PIB: o que é e como se mede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(ótica da despesa)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2456688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ÓTICA DA PRODUÇÃO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adicionado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do que cada setor agrega: agropecuária, indústria, serviços.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57400"/>
            <a:ext cx="2456688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ÓTICA DA DESPESA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final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Consumo, investimento, gasto do governo e exportações líquidas.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57400"/>
            <a:ext cx="2456688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ÓTICA DA RENDA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Remunerações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Salários, lucros, juros e aluguéis gerados na produção.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03320"/>
            <a:ext cx="7772400" cy="621792"/>
          </a:xfrm>
          <a:prstGeom prst="roundRect">
            <a:avLst>
              <a:gd name="adj" fmla="val 1176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IBGE divulga o PIB trimestral do país e o PIB anual dos municípios, com o valor adicionado por setor.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do Brasil ano a 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variação real anual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do Brasil: variação real em relação ao ano anterior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Recessão em 2015–2016.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2020: pandemia.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Recuperação a partir de 2021.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anual dos municípios sai com cerca de dois anos de defasagem.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IBGE, Sistema de Contas Nacionais (valores arredondados; sujeitos a revisão).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nominais e reais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do município cresceu 10%?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inflação do período foi de 6%, o crescimento real foi de (1,10 ÷ 1,06) − 1 ≈ 3,8%. O restante foi aumento de preços. (Dados hipotéticos.)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nominal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a preços correntes: mistura quantidade e preço.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56032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real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Descontada a inflação (deflacionado): mostra a variação de quantidade.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56032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Receitas, salários e gastos devem ser comparados em termos reais.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Deflacionar: nominal × real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de um município, em R$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corrente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valores nominais, a receita subiu 30%.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inflação de 6%, 5% e 4% ao ano, o aumento real foi de cerca de 12%.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= nominal ÷ índice de preços acumulado.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Ex.: 2024: 650 ÷ (1,06 × 1,05 × 1,04) ≈ 562.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de preços: medindo a inflação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Instituição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 e usos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IPCA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oficial de inflação; referência da meta definida pelo CMN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Famílias de menor renda; reajuste de benefícios do INSS e do salário mínimo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IGP-M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FGV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geral de preços; muito usado em contratos de aluguel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2926080"/>
            <a:ext cx="7772400" cy="1234440"/>
          </a:xfrm>
          <a:prstGeom prst="roundRect">
            <a:avLst>
              <a:gd name="adj" fmla="val 5926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0906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19125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035808"/>
            <a:ext cx="6903720" cy="1014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da prefeitura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de aluguel e de serviços continuados costumam ser reajustados por índices de preços: conhecer o índice evita surpresas no orçamento.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inflação oficial: IPCA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 acumulada no 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IPCA: variação anual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Picos em 2015 e 2021, acima de 10%.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2017, a inflação ficou abaixo do piso da meta.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reajustados pelo índice sobem junto: é preciso prever isso no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IBGE, Sistema Nacional de Índices de Preços ao Consumidor.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trabalho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(PNAD CONTÍNUA)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 de trabalho: </a:t>
            </a:r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+ desocupados.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Desocupado: </a:t>
            </a:r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procurou trabalho e não encontrou.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desocupação: </a:t>
            </a:r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força de trabalho.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Informalidade: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sem carteira ou sem CNPJ.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63240"/>
          </a:xfrm>
          <a:prstGeom prst="roundRect">
            <a:avLst>
              <a:gd name="adj" fmla="val 179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MUNICÍPIO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PNAD Contínua não traz dados para a maioria dos municípios.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 Novo CAGED (saldo mensal de empregos formais) e a RAIS (estoque anual de vínculos formais).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Censo 2022 traz a situação de trabalho para todos os municípios.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Desocupação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anual da PNAD Contínua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desocupação: média anual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recessão levou a taxa de 7% para quase 13%.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pico na pandemia (2020).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2024, menor média da série.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municípios, complemente com CAGED e RAIS.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IBGE, PNAD Contínua (valores aproximados, arredondados).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Juros, câmbio e contas públicas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Percent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Selic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básica de juros definida pelo Copom (Banco Central) em 8 reuniões por ano.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DollarSig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do dólar: afeta importados, combustíveis e exportações do agronegócio.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primário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 menos despesas, sem os juros: mostra o esforço fiscal.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LRF no município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com pessoal até 60% da receita corrente líquida (54% Executivo, 6% Legislativo).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Selic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definida pelo Copom, no fim de cada 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da taxa Selic em dezembro (% ao ano)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2020, mínima histórica de 2%.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forte em 2021–2022 para conter a inflação.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 altos encarecem o crédito e as dívidas dos entes públicos.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Banco Central do Brasil, decisões do Copom.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com pessoal e a LRF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Executivo de um município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com pessoal do Executivo (% da receita corrente líquida)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máximo do Executivo: 54% da RCL.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de 51,3% (limite prudencial) ficam vedados novos aumentos e contratações.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município ultrapassou o prudencial em 2023: alerta para a gestão.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Relatório de Gestão Fiscal.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Pesquisas econômicas do IBGE e boletins de conjuntura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economia para planejar melhor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pesquisas econômicas do IBGE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7160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Frequência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mostra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Contas Nacionais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PIB do país e seus componentes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PIB dos Municípios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PIB e valor adicionado por setor em cada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PIM-PF · PMC · PMS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Indústria, comércio varejista e serviços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Estimativas das safras agrícolas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· PPM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Produção agrícola e pecuária de cada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456432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62102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2160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566160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agrícolas de MT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PAM e a PPM mostram a base produtiva local; o LSPA antecipa a safra do estado.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Boletins de conjuntura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Newspa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 · SEMANAL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Expectativas do mercado para inflação, PIB, câmbio e Selic.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Atas do Copom e relatórios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e avaliação dos juros e da inflação.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IPEA · TRIMESTRAL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de Conjuntura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 atividade, preços, trabalho e setor externo.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FGV IBRE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Macro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e projeções da economia brasileira.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a conjuntura em 5 passos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Inspirado em Feijó et al. (2008), Para entender a conjuntura econômica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PIB, indústria, comércio, serviços, safra.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2273198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IPCA e núcleos de inflação.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860597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Desocupação, CAGED, renda.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47995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 e câmbio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Selic, dólar, crédito.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035394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públicas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primário e dívida.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2044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município: a conjuntura afeta a arrecadação (ICMS, FPM, ISS) e a procura por serviços públicos.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conjuntura ao orçamento municipal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63040"/>
          </a:xfrm>
          <a:prstGeom prst="roundRect">
            <a:avLst>
              <a:gd name="adj" fmla="val 5000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2435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Safra e receitas em municípios agrícolas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safra maior tende a elevar o valor adicionado do município e, nos anos seguintes, sua participação no ICMS (cota-parte). Já a desaceleração da economia reduz transferências e aumenta a procura por assistência.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Acompanhe ICMS, FPM e ISS em termos reais.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reajustados por índices de preços; folha e LRF.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 eleva a procura por SUS, CRAS e CadÚnico.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com a gravação do encontro síncrono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nominal +10% e inflação de 6%: o crescimento real foi de cerca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nominal +10% e inflação de 6%: o crescimento real foi de cerca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(1,10 ÷ 1,06) − 1 ≈ 3,8%.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oficial de inflação no Brasil é 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IGP-M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oficial de inflação no Brasil é 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IGP-M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IPCA, do IBGE, é a referência do regime de metas de inflação.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de desocupação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população total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÷ força de trabalho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força de trabalho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Informais ÷ ocupados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de desocupação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população total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÷ força de trabalho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força de trabalho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Informais ÷ ocupados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força de trabalho reúne ocupados e desocupados.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expectativas de mercado para inflação e PIB são publicadas semanalmente no: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de Conjuntura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SICONFI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expectativas de mercado para inflação e PIB são publicadas semanalmente no: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de Conjuntura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SICONFI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Boletim Focus, do Banco Central, sai toda semana.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agrícola de cada município é pesquisada pela: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PIM-PF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agrícola de cada município é pesquisada pela: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PIM-PF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Agrícola Municipal (PAM) é anual e traz dados por município.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indicadores econômicos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pelas óticas da produção, da despesa e da renda.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× real: deflacionar pelos índices de preços.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IPCA, INPC e IGP-M e os seus usos.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Trabalho: PNAD Contínua, CAGED e RAIS.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Selic, câmbio, resultado primário e LRF.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Pesquisas econômicas e conjuntura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Nacionais, PIB dos Municípios, PIM-PF, PMC, PMS, LSPA, PAM e PPM.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Boletins: Focus, Copom, Carta de Conjuntura (IPEA) e Boletim Macro (FGV).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Conjuntura em cinco passos: atividade, preços, trabalho, juros e câmbio, contas públicas.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conjuntura chega ao orçamento: ICMS, FPM, ISS e demanda por serviços.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Avaliações: A2 e A3 no SIGAA, nas datas divulgadas pela coordenação. Bons estudos!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Indicadores Socioeconômicos na Gestão Pública – Unidade 4: Dados e indicadores econômicos e conjuntura</dc:title>
  <dc:subject>PptxGenJS Presentation</dc:subject>
  <dc:creator>Prof. Dr. Cleiton Franco</dc:creator>
  <cp:lastModifiedBy>Prof. Dr. Cleiton Franco</cp:lastModifiedBy>
  <cp:revision>1</cp:revision>
  <dcterms:created xsi:type="dcterms:W3CDTF">2026-09-26T21:40:35Z</dcterms:created>
  <dcterms:modified xsi:type="dcterms:W3CDTF">2026-09-26T21:40:35Z</dcterms:modified>
</cp:coreProperties>
</file>