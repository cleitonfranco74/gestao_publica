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zero-claude/d7e33190-c541-582c-a7cc-1156817732ce/scratchpad/deck/assets/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2336"/>
            <a:ext cx="1243584" cy="1325880"/>
          </a:xfrm>
          <a:prstGeom prst="rect">
            <a:avLst/>
          </a:prstGeom>
        </p:spPr>
      </p:pic>
      <p:pic>
        <p:nvPicPr>
          <p:cNvPr id="3" name="Image 1" descr="/tmp/claude-0/-home-user-zero-claude/d7e33190-c541-582c-a7cc-1156817732ce/scratchpad/deck/assets/une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548640"/>
            <a:ext cx="2743200" cy="1060704"/>
          </a:xfrm>
          <a:prstGeom prst="rect">
            <a:avLst/>
          </a:prstGeom>
        </p:spPr>
      </p:pic>
      <p:pic>
        <p:nvPicPr>
          <p:cNvPr id="4" name="Image 2" descr="/tmp/claude-0/-home-user-zero-claude/d7e33190-c541-582c-a7cc-1156817732ce/scratchpad/deck/assets/dead_ap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76072"/>
            <a:ext cx="3063240" cy="10104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88720" y="18105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</a:t>
            </a:r>
            <a:endParaRPr lang="en-US" sz="2000" dirty="0"/>
          </a:p>
        </p:txBody>
      </p:sp>
      <p:sp>
        <p:nvSpPr>
          <p:cNvPr id="6" name="Text 1"/>
          <p:cNvSpPr txBox="1"/>
          <p:nvPr/>
        </p:nvSpPr>
        <p:spPr>
          <a:xfrm>
            <a:off x="1188720" y="2157984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na Gestão Pública</a:t>
            </a:r>
            <a:endParaRPr lang="en-US" sz="3600" dirty="0"/>
          </a:p>
        </p:txBody>
      </p:sp>
      <p:sp>
        <p:nvSpPr>
          <p:cNvPr id="7" name="Text 2"/>
          <p:cNvSpPr txBox="1"/>
          <p:nvPr/>
        </p:nvSpPr>
        <p:spPr>
          <a:xfrm>
            <a:off x="1188720" y="323697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 · Dados e indicadores econômicos e conjuntura</a:t>
            </a:r>
            <a:endParaRPr lang="en-US" sz="1900" dirty="0"/>
          </a:p>
        </p:txBody>
      </p:sp>
      <p:sp>
        <p:nvSpPr>
          <p:cNvPr id="8" name="Text 3"/>
          <p:cNvSpPr txBox="1"/>
          <p:nvPr/>
        </p:nvSpPr>
        <p:spPr>
          <a:xfrm>
            <a:off x="1243584" y="3785616"/>
            <a:ext cx="4937760" cy="420624"/>
          </a:xfrm>
          <a:prstGeom prst="roundRect">
            <a:avLst>
              <a:gd name="adj" fmla="val 21739"/>
            </a:avLst>
          </a:prstGeom>
          <a:solidFill>
            <a:srgbClr val="E9C8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· UAB · Turma ____ · Prof. Dr. Cleiton Franco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na Gestão Pública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969264"/>
            <a:ext cx="6400800" cy="402336"/>
          </a:xfrm>
          <a:prstGeom prst="roundRect">
            <a:avLst>
              <a:gd name="adj" fmla="val 22727"/>
            </a:avLst>
          </a:prstGeom>
          <a:solidFill>
            <a:srgbClr val="2A8C8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 · Dados e indicadores econômicos e conjuntura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 (Lato Sensu)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45152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9744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8379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9824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Regente: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Calendar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4752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&amp; Semestre: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· a definir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45152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09744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254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9824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da unidade: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 (__/__ a __/__)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547872"/>
            <a:ext cx="7863840" cy="676656"/>
          </a:xfrm>
          <a:prstGeom prst="roundRect">
            <a:avLst>
              <a:gd name="adj" fmla="val 8108"/>
            </a:avLst>
          </a:prstGeom>
          <a:solidFill>
            <a:srgbClr val="EAF3F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 4 · Leitura: JANNUZZI (2014) e FEIJÓ et al. (2008)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conteúdos: Unidades 7 e 8 · Exercícios de fixação 2 · A2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indicadores econômicos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697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Produção, preços, trabalho, juros e contas públicas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PIB: o que é e como se mede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E6F2F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(ótica da despesa) = C + I + G + (X − M)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57400"/>
            <a:ext cx="245668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ÓTICA DA PRODUÇÃO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adicionado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 que cada setor agrega: agropecuária, indústria, serviços.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343656" y="2057400"/>
            <a:ext cx="245668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ÓTICA DA DESPESA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final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Consumo, investimento, gasto do governo e exportações líquidas.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01512" y="2057400"/>
            <a:ext cx="245668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ÓTICA DA RENDA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Remunerações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Salários, lucros, juros e aluguéis gerados na produção.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03320"/>
            <a:ext cx="7772400" cy="621792"/>
          </a:xfrm>
          <a:prstGeom prst="roundRect">
            <a:avLst>
              <a:gd name="adj" fmla="val 11765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IBGE divulga o PIB trimestral do país e o PIB anual dos municípios, com o valor adicionado por setor.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nominais e reais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7772400" cy="1188720"/>
          </a:xfrm>
          <a:prstGeom prst="roundRect">
            <a:avLst>
              <a:gd name="adj" fmla="val 6154"/>
            </a:avLst>
          </a:prstGeom>
          <a:solidFill>
            <a:srgbClr val="FBF4DC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" y="1307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5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408176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52728"/>
            <a:ext cx="6903720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PIB do município cresceu 10%?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inflação do período foi de 6%, o crescimento real foi de (1,10 ÷ 1,06) − 1 ≈ 3,8%. O restante foi aumento de preços. (Dados hipotéticos.)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245668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nominal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a preços correntes: mistura quantidade e preço.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343656" y="2560320"/>
            <a:ext cx="245668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real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Descontada a inflação (deflacionado): mostra a variação de quantidade.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001512" y="2560320"/>
            <a:ext cx="245668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Receitas, salários e gastos devem ser comparados em termos reais.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de preços: medindo a inflação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Instituição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Características e usos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oficial de inflação; referência da meta definida pelo CMN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Famílias de menor renda; reajuste de benefícios do INSS e do salário mínimo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IGP-M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FGV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geral de preços; muito usado em contratos de aluguel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85800" y="2926080"/>
            <a:ext cx="7772400" cy="1234440"/>
          </a:xfrm>
          <a:prstGeom prst="roundRect">
            <a:avLst>
              <a:gd name="adj" fmla="val 5926"/>
            </a:avLst>
          </a:prstGeom>
          <a:solidFill>
            <a:srgbClr val="FBF4DC"/>
          </a:solidFill>
          <a:ln/>
        </p:spPr>
      </p:sp>
      <p:sp>
        <p:nvSpPr>
          <p:cNvPr id="5" name="Shape 2"/>
          <p:cNvSpPr/>
          <p:nvPr/>
        </p:nvSpPr>
        <p:spPr>
          <a:xfrm>
            <a:off x="850392" y="3090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6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19125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3035808"/>
            <a:ext cx="6903720" cy="101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da prefeitura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aluguel e de serviços continuados costumam ser reajustados por índices de preços: conhecer o índice evita surpresas no orçamento.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trabalho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379476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(PNAD CONTÍNUA)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de trabalho: 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+ desocupados.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Desocupado: 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procurou trabalho e não encontrou.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desocupação: 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desocupados ÷ força de trabalho.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Informalidade: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sem carteira ou sem CNPJ.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3794760" cy="3063240"/>
          </a:xfrm>
          <a:prstGeom prst="roundRect">
            <a:avLst>
              <a:gd name="adj" fmla="val 179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MUNICÍPIO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PNAD Contínua não traz dados para a maioria dos municípios.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Novo CAGED (saldo mensal de empregos formais) e a RAIS (estoque anual de vínculos formais).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Censo 2022 traz a situação de trabalho para todos os municípios.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Juros, câmbio e contas públicas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Percent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básica de juros definida pelo Copom (Banco Central) em 8 reuniões por ano.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DollarSig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94960" y="126187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do dólar: afeta importados, combustíveis e exportações do agronegócio.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85800" y="274320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960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Balance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9992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81635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primário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menos despesas, sem os juros: mostra o esforço fiscal.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709160" y="274320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46320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7" name="Image 3" descr="/tmp/claude-0/-home-user-zero-claude/d7e33190-c541-582c-a7cc-1156817732ce/scratchpad/deck/assets/icon_FaFileInvoiceDoll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99923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281635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LRF no município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com pessoal até 60% da receita corrente líquida (54% Executivo, 6% Legislativo).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Pesquisas econômicas e conjuntura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697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economia para planejar melhor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pesquisas econômicas do IBGE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716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Pesquisa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mostra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Contas Nacionais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 do país e seus componentes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 dos Municípios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 e valor adicionado por setor em cada município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PIM-PF · PMC · PMS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Indústria, comércio varejista e serviços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Estimativas das safras agrícolas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 · PPM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 agrícola e pecuária de cada município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85800" y="3456432"/>
            <a:ext cx="7772400" cy="960120"/>
          </a:xfrm>
          <a:prstGeom prst="roundRect">
            <a:avLst>
              <a:gd name="adj" fmla="val 7619"/>
            </a:avLst>
          </a:prstGeom>
          <a:solidFill>
            <a:srgbClr val="FBF4DC"/>
          </a:solidFill>
          <a:ln/>
        </p:spPr>
      </p:sp>
      <p:sp>
        <p:nvSpPr>
          <p:cNvPr id="5" name="Shape 2"/>
          <p:cNvSpPr/>
          <p:nvPr/>
        </p:nvSpPr>
        <p:spPr>
          <a:xfrm>
            <a:off x="850392" y="36210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6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721608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3566160"/>
            <a:ext cx="6903720" cy="740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agrícolas de MT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PAM e a PPM mostram a base produtiva local; o LSPA antecipa a safra do estado.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Boletins de conjuntura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News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· SEMANAL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Focus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do mercado para inflação, PIB, câmbio e Selic.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Univers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94960" y="126187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 do Copom e relatórios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avaliação dos juros e da inflação.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5800" y="274320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960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9992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81635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IPEA · TRIMESTRAL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Conjuntura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 atividade, preços, trabalho e setor externo.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09160" y="274320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46320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7" name="Image 3" descr="/tmp/claude-0/-home-user-zero-claude/d7e33190-c541-582c-a7cc-1156817732ce/scratchpad/deck/assets/icon_Fa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99923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281635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FGV IBRE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Macro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e projeções da economia brasileira.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a conjuntura em 5 passos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Inspirado em Feijó et al. (2008), Para entender a conjuntura econômica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1422806" cy="2011680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PIB, indústria, comércio, serviços, safra.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273198" y="1280160"/>
            <a:ext cx="1422806" cy="2011680"/>
          </a:xfrm>
          <a:prstGeom prst="roundRect">
            <a:avLst>
              <a:gd name="adj" fmla="val 3856"/>
            </a:avLst>
          </a:prstGeom>
          <a:solidFill>
            <a:srgbClr val="E6F2F0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 e núcleos de inflação.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860597" y="1280160"/>
            <a:ext cx="1422806" cy="2011680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Desocupação, CAGED, renda.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47995" y="1280160"/>
            <a:ext cx="1422806" cy="2011680"/>
          </a:xfrm>
          <a:prstGeom prst="roundRect">
            <a:avLst>
              <a:gd name="adj" fmla="val 3856"/>
            </a:avLst>
          </a:prstGeom>
          <a:solidFill>
            <a:srgbClr val="E6F2F0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e câmbio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Selic, dólar, crédito.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035394" y="1280160"/>
            <a:ext cx="1422806" cy="2011680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públicas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primário e dívida.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município: a conjuntura afeta a arrecadação (ICMS, FPM, ISS) e a procura por serviços públicos.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conjuntura ao orçamento municipal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7772400" cy="1463040"/>
          </a:xfrm>
          <a:prstGeom prst="roundRect">
            <a:avLst>
              <a:gd name="adj" fmla="val 5000"/>
            </a:avLst>
          </a:prstGeom>
          <a:solidFill>
            <a:srgbClr val="FBF4DC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" y="1307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5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408176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52728"/>
            <a:ext cx="6903720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 e receitas em municípios agrícolas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safra maior tende a elevar o valor adicionado do município e, nos anos seguintes, sua participação no ICMS (cota-parte). Já a desaceleração da economia reduz transferências e aumenta a procura por assistência.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88920"/>
            <a:ext cx="245668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ICMS, FPM e ISS em termos reais.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343656" y="2788920"/>
            <a:ext cx="245668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reajustados por índices de preços; folha e LRF.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001512" y="2788920"/>
            <a:ext cx="245668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Desemprego eleva a procura por SUS, CRAS e CadÚnico.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da Unidade 4 e encerramento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e prazos da unidade (todas as entregas até 23h55)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806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Videoaula 4 e leitura da unidade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__/__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Exercícios de fixação 2 e Avaliação A2 no SIGAA (Unidades 3 e 4), 23h55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com a gravação do encontro síncrono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__/__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 A3: 10 objetivas + estudo de caso (todo o conteúdo), 23h55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3840480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final = (((A1 + A2) / 2) × 0,4) + (A3 × 0,6) · aprovação com 7,0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109728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2A8C85"/>
          </a:solidFill>
          <a:ln/>
        </p:spPr>
      </p:sp>
      <p:pic>
        <p:nvPicPr>
          <p:cNvPr id="3" name="Image 0" descr="/tmp/claude-0/-home-user-zero-claude/d7e33190-c541-582c-a7cc-1156817732ce/scratchpad/deck/assets/icon_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25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4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perguntas para revisar a unidade. Pause o vídeo, escolha sua resposta e confira no slide seguinte.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4 · PERGUNTA 1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nominal +10% e inflação de 6%: o crescimento real foi de cerca de: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4 · PERGUNTA 1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nominal +10% e inflação de 6%: o crescimento real foi de cerca de: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(1,10 ÷ 1,06) − 1 ≈ 3,8%.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4 · PERGUNTA 2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oficial de inflação no Brasil é o: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IGP-M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4 · PERGUNTA 2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oficial de inflação no Brasil é o: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IGP-M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a)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IPCA, do IBGE, é a referência do regime de metas de inflação.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4 · PERGUNTA 3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desocupação é: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Desocupados ÷ população total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÷ força de trabalho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Desocupados ÷ força de trabalho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Informais ÷ ocupados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4 · PERGUNTA 3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desocupação é: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Desocupados ÷ população total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÷ força de trabalho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Desocupados ÷ força de trabalho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Informais ÷ ocupados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c)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força de trabalho reúne ocupados e desocupados.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4 · PERGUNTA 4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expectativas de mercado para inflação e PIB são publicadas semanalmente no: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Conjuntura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SICONFI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Focus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4 · PERGUNTA 4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expectativas de mercado para inflação e PIB são publicadas semanalmente no: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Conjuntura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SICONFI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Focus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d)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Boletim Focus, do Banco Central, sai toda semana.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4 · PERGUNTA 5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produção agrícola de cada município é pesquisada pela: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PIM-PF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PNAD Contínua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4 · PERGUNTA 5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produção agrícola de cada município é pesquisada pela: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PIM-PF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PNAD Contínua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Produção Agrícola Municipal (PAM) é anual e traz dados por município.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UNEMAT / DEAD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Indicadores Socioeconômicos na Gestão Pública – Unidade 4: Dados e indicadores econômicos e conjuntura</dc:title>
  <dc:subject>PptxGenJS Presentation</dc:subject>
  <dc:creator>Prof. Dr. Cleiton Franco</dc:creator>
  <cp:lastModifiedBy>Prof. Dr. Cleiton Franco</cp:lastModifiedBy>
  <cp:revision>1</cp:revision>
  <dcterms:created xsi:type="dcterms:W3CDTF">2026-09-26T16:46:09Z</dcterms:created>
  <dcterms:modified xsi:type="dcterms:W3CDTF">2026-09-26T16:46:09Z</dcterms:modified>
</cp:coreProperties>
</file>