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5.8</c:v>
                </c:pt>
                <c:pt idx="2">
                  <c:v>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Estado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5.2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Taxa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Município (total)</c:v>
                  </c:pt>
                  <c:pt idx="1">
                    <c:v>Zona urbana</c:v>
                  </c:pt>
                  <c:pt idx="2">
                    <c:v>Zona rural</c:v>
                  </c:pt>
                  <c:pt idx="3">
                    <c:v>15 a 39 anos</c:v>
                  </c:pt>
                  <c:pt idx="4">
                    <c:v>60 anos ou mais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5.5</c:v>
                </c:pt>
                <c:pt idx="2">
                  <c:v>17</c:v>
                </c:pt>
                <c:pt idx="3">
                  <c:v>2.5</c:v>
                </c:pt>
                <c:pt idx="4">
                  <c:v>24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Atendimento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Centro</c:v>
                  </c:pt>
                  <c:pt idx="1">
                    <c:v>Região Sul</c:v>
                  </c:pt>
                  <c:pt idx="2">
                    <c:v>Região Norte</c:v>
                  </c:pt>
                  <c:pt idx="3">
                    <c:v>Região Leste</c:v>
                  </c:pt>
                  <c:pt idx="4">
                    <c:v>Zona rural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58</c:v>
                </c:pt>
                <c:pt idx="1">
                  <c:v>41</c:v>
                </c:pt>
                <c:pt idx="2">
                  <c:v>34</c:v>
                </c:pt>
                <c:pt idx="3">
                  <c:v>22</c:v>
                </c:pt>
                <c:pt idx="4">
                  <c:v>12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Esta é a Unidade 2 de Indicadores Socioeconômicos na Gestão Pública: indicadores e diagnósticos socioeconômicos. Na unidade anterior, vimos o que é um indicador e como ele se calcula. Agora, vamos usá-los na prática: no ciclo das políticas públicas e na elaboração de um diagnóstico do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segunda semana da disciplina, com as datas no SIGAA. A leitura é o livro de Jannuzzi, nas partes sobre indicadores e diagnósticos, junto com os tópicos 3 e 4 do sumário da página de conteúdos. Nesta semana, você faz os Exercícios de fixação 1 e a Avaliação A1, no SIGAA.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3 do sumário: indicadores no ciclo das políticas públicas, do diagnóstico à 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política pública passa por fases, e cada fase faz uma pergunta. No diagnóstico: qual é o problema, qual o tamanho e quem é afetado? Na formulação: quais metas e qual público priorizar? Na implementação: as ações estão acontecendo como previsto? E na avaliação: a política produziu os efeitos esperados? Por isso, cada fase pede indicadores diferentes: de contexto no diagnóstico, de metas na formulação, de processo no monitoramento da implementação e de resultado e impacto na 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conceitos aparecem sempre na avaliação de políticas, e a tabela usa um programa de vacinação como exemplo. A eficiência é a relação entre resultados e custos: o custo por dose aplicada. A eficácia é o grau de alcance das metas: 95% da meta de cobertura vacinal atingida. E a efetividade é a mudança nas condições da população, o impacto: a queda das internações por doenças evitáveis. Atenção: um programa pode ser eficiente e eficaz sem ser efetivo, ou seja, cumprir metas baratas que não mudam a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2, que corresponde ao tópico 4 do sumário: o diagnóstico socioeconômico, um retrato do território para orientar prioridades.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diagnóstico socioeconômico é um retrato organizado das condições de vida da população de um território, construído com indicadores, para orientar a definição de prioridades. Ele aparece em vários instrumentos da gestão: no PPA e na LDO, com os programas e metas do governo; nos planos municipais de saúde, educação e assistência social; no Plano Diretor, com o uso do solo, a moradia e a infraestrutura; e também em editais, convênios e na captação de recursos.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se faz um diagnóstico? A tabela mostra um roteiro em seis passos, com o exemplo do Plano Municipal de Educação. Primeiro, definir o objetivo e o território: o município e os seus bairros. Segundo, selecionar as dimensões e os indicadores: acesso, fluxo e aprendizagem escolar. Terceiro, levantar dados e fontes: o Censo Escolar, o IDEB e o Censo 2022, sempre com o ano de referência. Quarto, comparar e analisar: no tempo, com o estado e o país, e entre os bairros. Quinto, identificar prioridades e os grupos mais afetados. E sexto, comunicar, com tabelas, gráficos e mapas simples, sempre com fonte e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tabela mostra as principais dimensões de um diagnóstico e exemplos de indicadores para cada uma. Demografia: população por idade e taxa de crescimento. Educação: atendimento em creche, IDEB e distorção idade-série. Saúde: mortalidade infantil, cobertura vacinal e gestantes com sete ou mais consultas. Trabalho e renda: saldo de empregos formais e renda per capita. Habitação e saneamento: domicílios com esgotamento adequado. Assistência social: famílias no CadÚnico por mil habitantes. Segurança: homicídios por 100 mil habitantes. E finanças públicas: receita própria sobre a receita total e gasto com pessoal sobre a receita corrente líquida.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número isolado diz pouco. Para interpretar, é preciso comparar de três formas. No tempo, com a série histórica: a taxa melhorou ou piorou? No espaço: como o município está em relação ao estado, ao país e aos vizinhos? E com metas: qual a distância da meta do plano, da lei ou dos ODS? Veja o exemplo: uma taxa de desocupação de 8% parece moderada. Mas, se a do estado é 5% e a do município subiu de 4% para 8% em dois anos, o quadro é preocupante. Os dados são hipotéticos.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esse exemplo. [Apontar para as duas linhas.] Isolado, 8% parece pouco. Na série, porém, a taxa do município dobrou em dois anos. E, no espaço, passou de abaixo para acima da taxa do estado, que ficou estável em torno de 5%. A conclusão é que se trata de um problema que pede investigação e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cuidados na leitura dos indicadores. Primeiro, números absolutos: cidades maiores sempre terão mais casos, por isso use taxas para comparar. Segundo, pequenos números: em municípios pequenos, um único caso muda muito a taxa; use médias de três anos. Terceiro, o denominador: uma população estimada ou desatualizada distorce as taxas. E quarto, a mudança de método: confira se a forma de cálculo mudou ao longo da série.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Outro cuidado é desagregar. [Apontar para as barras.] Neste município hipotético, a taxa de analfabetismo total é de 8%. Mas ela esconde duas realidades: na zona urbana, 5,5%; na zona rural, 17%, três vezes mais. Entre os jovens de 15 a 39 anos, 2,5%; entre as pessoas de 60 anos ou mais, 24%, quase uma em cada quatro. A política deve mirar esses grupos, por exemplo com a educação de jovens e adultos no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diagnóstico em Mato Grosso. A secretaria de educação de um município precisa decidir onde abrir novas vagas de creche e como melhorar a alfabetização. A tabela mostra os indicadores, as fontes e o uso de cada um: a taxa de atendimento em creche, com dados do Censo Escolar e do IBGE, mostra onde falta vaga; o IDEB dos anos iniciais, do INEP, mostra a qualidade do ensino; a distorção idade-série, também do INEP, indica o risco de evasão; e as crianças em famílias do CadÚnico, do MDS, ajudam a priorizar os mais pobres.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atendimento em creche por região desse município hipotético. [Apontar para as barras.] A meta 1 do Plano Nacional de Educação é atender pelo menos 50% das crianças de 0 a 3 anos. Só o Centro alcança a meta, com 58%. A região Leste, com 22%, e a zona rural, com 12%, concentram a maior falta de vagas. Cruzar esses dados com o CadÚnico ajuda a priorizar as famílias mais pobres.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2, com as datas no SIGAA. Nesta semana, assista a esta videoaula e faça a leitura. Depois, faça os Exercícios de fixação 1, que não valem nota, mas são um ótimo treino, e a Avaliação A1: um questionário no SIGAA sobre as Unidades 1 e 2, até as 23h55. Na próxima unidade, os produtores de dados e as principais fontes do país.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Hora do quiz da Unidade 2: cinco perguntas. Pause o vídeo a cada pergunta, responda e confira no slide seguinte. É um bom aquecimento para a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Na fase de diagnóstico, os indicadores servem para: Letra a: Medir o impacto final. Letra b: Identificar problemas, sua dimensão e quem é afetado. Letra c: Pagar fornecedores. Letra d: Substituir o orçamento.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Identificar problemas, sua dimensão e quem é afetado. O diagnóstico revela a situação e a distribuição dos problemas e orienta as prioridades.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Atingir 95% da meta de cobertura vacinal expressa a: Letra a: Eficiência. Letra b: Efetividade. Letra c: Eficácia. Letra d: Economicidade.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Eficácia. Eficácia é o grau de alcance das metas.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queda das internações por doenças evitáveis após a vacinação expressa a: Letra a: Efetividade. Letra b: Eficiência. Letra c: Eficácia. Letra d: Economicidade.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Efetividade. Efetividade mede a mudança nas condições de vida: o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Comparar o município com o estado e o país é uma comparação: Letra a: No tempo. Letra b: Com metas. Letra c: Subjetiva. Letra d: No espaço.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No espaço. Comparações territoriais situam o município em seu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Em municípios pequenos, para reduzir a oscilação das taxas, recomenda-se: Letra a: Usar números absolutos. Letra b: Usar médias de vários anos. Letra c: Ignorar os dados. Letra d: Usar apenas o IDH.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Usar médias de vários anos. Com poucos eventos, as taxas oscilam muito; médias trienais suavizam essa variação.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2, vamos recapitular. [Apontar para o quadro da esquerda.] No tópico 3, vimos que cada fase da política pede indicadores diferentes, de contexto, de metas, de processo, de resultado e de impacto, e distinguimos eficiência, eficácia e efetividade. [Apontar para o quadro da direita.] No tópico 4, vimos o que é um diagnóstico socioeconômico e onde ele é usado, o roteiro em seis passos, as dimensões e os seus indicadores, a importância de comparar no tempo, no espaço e com metas, de desagregar, e os cuidados na leitura. Na próxima unidade, os produtores de dados e as fontes de informação. Boa prova na A1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1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Slide-1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Slide-1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3236976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Indicadores e diagnósticos socioeconômicos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785616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____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na Gestão Pública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Indicadores e diagnósticos socioeconômicos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 · a definir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 (__/__ a __/__)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JANNUZZI (2014), indicadores e diagnósticos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3 e 4 do sumário · Exercícios de fixação 1 · A1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no ciclo das políticas públicas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diagnóstico à avaliação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em cada fase da política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problema, qual o tamanho e quem é afetado?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2670048" y="123444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Formulação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metas e qual público priorizar?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654296" y="123444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ações estão acontecendo como previsto?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638544" y="1234440"/>
            <a:ext cx="1819656" cy="2011680"/>
          </a:xfrm>
          <a:prstGeom prst="roundRect">
            <a:avLst>
              <a:gd name="adj" fmla="val 3015"/>
            </a:avLst>
          </a:prstGeom>
          <a:solidFill>
            <a:srgbClr val="E6F2F0"/>
          </a:solidFill>
          <a:ln/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endParaRPr lang="en-US" sz="2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política produziu os efeitos esperados?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474720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pede indicadores diferentes: de contexto no diagnóstico, de metas na formulação, de processo no monitoramento da implementação e de resultado e impacto na avaliação.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Eficiência, eficácia e efetividade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um programa de vacinação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mede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(programa de vacinação)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entre resultados e custos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dose aplicada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Eficácia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Grau de alcance das metas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da meta de cobertura vacinal atingida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Efetividade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 nas condições da população (impacto)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Queda das internações por doenças evitáveis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383280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programa pode ser eficiente e eficaz sem ser efetivo: cumprir metas baratas que não mudam a realidade.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socioeconômico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Retrato do território para orientar prioridades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diagnóstico socioeconômico?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retrato organizado das condições de vida da população de um território, construído com indicadores, para orientar a definição de prioridades.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245668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87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587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404872"/>
            <a:ext cx="1679448" cy="10881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PPA e LDO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e metas do governo municipal.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43656" y="2331720"/>
            <a:ext cx="245668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2487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linicMedic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587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2404872"/>
            <a:ext cx="1679448" cy="10881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setoriais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municipais de saúde, educação e assistência social.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001512" y="2331720"/>
            <a:ext cx="245668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2487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5877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2404872"/>
            <a:ext cx="1679448" cy="10881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Diretor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do solo, moradia e infraestrutura urbana.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74904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é exigido em editais, convênios e captação de recursos.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um diagnóstico municipal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fazer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objetivo e território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Subsidiar o Plano Municipal de Educação; município e seus bairros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dimensões e indicadores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Acesso, fluxo e aprendizagem escolar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Levantar dados e fontes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 Escolar (INEP), IDEB, Censo 2022 (IBGE)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e analisar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Evolução no tempo; município × estado × país; bairros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Identificar prioridades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estão as maiores carências e os grupos mais afetados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Tabelas, gráficos e mapas simples, com fonte e ano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e exemplos de indicadores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09728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394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Demografia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por idade; taxa de crescimento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atendimento em creche; IDEB; distorção idade-série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Mortalidade infantil; cobertura vacinal; gestantes com 7+ consultas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 e renda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de empregos formais; renda per capita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Habitação e saneamento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domicílios com esgotamento adequado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Assistência social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Famílias no CadÚnico por mil habitantes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Homicídios por 100 mil habitantes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Finanças públicas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Receita própria ÷ receita total; gasto com pessoal ÷ RCL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para interpretar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número isolado diz pouco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is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5910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histórica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melhorou ou piorou nos últimos anos?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5910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município está em relação ao estado, ao país e a vizinhos?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lagChecke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5910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METAS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 distância da meta do plano, da lei ou dos ODS?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17" name="Shape 12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8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desocupação de 8%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Isoladamente, parece baixa. Se o estado tem 5% e a taxa do município subiu de 4% para 8% em dois anos, o quadro é preocupante. (Dados hipotéticos.)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no tempo e no espaço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 taxa de desocupação de 8%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desocupação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Isolado, 8% parece pouco.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série, a taxa do município dobrou em dois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espaço, passou de abaixo para acima da taxa do estado.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é um problema que pede investigação e 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Cuidados na leitura dos indicadores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Exclamation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1795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absolutos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maiores sempre terão mais casos: use taxas para comparar.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SortNumeric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1795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Pequenos números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municípios pequenos, um caso muda muito a taxa: use médias de 3 anos.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697480"/>
            <a:ext cx="3749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770632"/>
            <a:ext cx="2971800" cy="11795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ou desatualizada distorce as taxas.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697480"/>
            <a:ext cx="37490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Rando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770632"/>
            <a:ext cx="2971800" cy="11795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de método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se a forma de cálculo mudou ao longo da série.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média esconde desigualdades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desagregar os indicadores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analfabetismo, pessoas de 15 anos ou mais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 total de 8% esconde duas realidades.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zona rural, a taxa é três vezes a urbana.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os idosos, quase um em cada quatro não sabe ler.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política deve mirar esses grupos, por exemplo com a EJA no campo.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diagnóstico em Mato Grosso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225296"/>
          </a:xfrm>
          <a:prstGeom prst="roundRect">
            <a:avLst>
              <a:gd name="adj" fmla="val 5970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Municipal de Educação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secretaria de um município de MT precisa definir onde abrir novas vagas de creche e como melhorar a alfabetização.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7772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na decisão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atendimento em creche (0 a 3 anos)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 Escolar + IBGE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falta vaga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IDEB dos anos iniciais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 do ensino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Distorção idade-série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 de evasão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em famílias do CadÚnico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Priorizar os mais pobres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 de creche?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por região do município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de 0 a 3 anos atendidas em creche (%)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 1 do PNE é atender pelo menos 50% das crianças de 0 a 3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o Centro alcança a meta.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Leste e zona rural concentram a maior falta de vagas.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com o CadÚnico ajuda a priorizar as famílias mais pobres.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Fontes usuais: Censo Escolar (INEP) e estimativas populacionais do IBGE.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__/__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produtores de dados e as principais fontes do país.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fase de diagnóstico, os indicadores servem para: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impacto final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problemas, sua dimensão e quem é afetado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 fornecedores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Substituir o orçamento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fase de diagnóstico, os indicadores servem para: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impacto final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problemas, sua dimensão e quem é afetado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Pagar fornecedores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Substituir o orçamento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revela a situação e a distribuição dos problemas e orienta as prioridades.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Atingir 95% da meta de cobertura vacinal expressa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Atingir 95% da meta de cobertura vacinal expressa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 é o grau de alcance das metas.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queda das internações por doenças evitáveis após a vacinação expressa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queda das internações por doenças evitáveis após a vacinação expressa 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Economicidade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 mede a mudança nas condições de vida: o impacto.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o município com o estado e o país é uma comparação: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metas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o município com o estado e o país é uma comparação: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metas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Comparações territoriais situam o município em seu contexto.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municípios pequenos, para reduzir a oscilação das taxas, recomenda-se: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números absolutos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médias de vários anos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os dados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apenas o IDH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municípios pequenos, para reduzir a oscilação das taxas, recomenda-se: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números absolutos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médias de vários anos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os dados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apenas o IDH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poucos eventos, as taxas oscilam muito; médias trienais suavizam essa variação.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no ciclo das políticas públicas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pede indicadores: de contexto, de metas, de processo, de resultado e de impacto.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Eficiência: resultados em relação aos custos.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Eficácia: grau de alcance das metas.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Efetividade: mudança nas condições da população.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socioeconômico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Retrato do território que orienta prioridades (PPA, LDO, planos setoriais).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em seis passos, do objetivo à comunicação.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dimensões, da demografia às finanças públicas.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no tempo, no espaço e com metas; desagregar.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Cuidados: taxas, pequenos números, denominadores e método.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produtores de dados, Censo, pesquisas do IBGE e registros administrativos.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Socioeconômicos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Indicadores Socioeconômicos na Gestão Pública – Unidade 2: Indicadores e diagnósticos socioeconômicos</dc:title>
  <dc:subject>PptxGenJS Presentation</dc:subject>
  <dc:creator>Prof. Dr. Cleiton Franco</dc:creator>
  <cp:lastModifiedBy>Prof. Dr. Cleiton Franco</cp:lastModifiedBy>
  <cp:revision>1</cp:revision>
  <dcterms:created xsi:type="dcterms:W3CDTF">2026-09-26T21:40:35Z</dcterms:created>
  <dcterms:modified xsi:type="dcterms:W3CDTF">2026-09-26T21:40:35Z</dcterms:modified>
</cp:coreProperties>
</file>