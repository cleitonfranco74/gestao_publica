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Município</c:v>
                </c:pt>
              </c:strCache>
            </c:strRef>
          </c:tx>
          <c:spPr>
            <a:solidFill>
              <a:srgbClr val="C0504D"/>
            </a:solidFill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5.8</c:v>
                </c:pt>
                <c:pt idx="2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Estado</c:v>
                </c:pt>
              </c:strCache>
            </c:strRef>
          </c:tx>
          <c:spPr>
            <a:solidFill>
              <a:srgbClr val="2A8C85"/>
            </a:solidFill>
            <a:ln w="31750" cap="flat">
              <a:solidFill>
                <a:srgbClr val="2A8C85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8C85"/>
              </a:solidFill>
              <a:ln w="9525" cap="flat">
                <a:solidFill>
                  <a:srgbClr val="2A8C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5.2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F2A37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Município (total)</c:v>
                  </c:pt>
                  <c:pt idx="1">
                    <c:v>Zona urbana</c:v>
                  </c:pt>
                  <c:pt idx="2">
                    <c:v>Zona rural</c:v>
                  </c:pt>
                  <c:pt idx="3">
                    <c:v>15 a 39 anos</c:v>
                  </c:pt>
                  <c:pt idx="4">
                    <c:v>60 anos ou mais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5.5</c:v>
                </c:pt>
                <c:pt idx="2">
                  <c:v>17</c:v>
                </c:pt>
                <c:pt idx="3">
                  <c:v>2.5</c:v>
                </c:pt>
                <c:pt idx="4">
                  <c:v>24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Atendimento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Centro</c:v>
                  </c:pt>
                  <c:pt idx="1">
                    <c:v>Região Sul</c:v>
                  </c:pt>
                  <c:pt idx="2">
                    <c:v>Região Norte</c:v>
                  </c:pt>
                  <c:pt idx="3">
                    <c:v>Região Leste</c:v>
                  </c:pt>
                  <c:pt idx="4">
                    <c:v>Zona rural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41</c:v>
                </c:pt>
                <c:pt idx="2">
                  <c:v>34</c:v>
                </c:pt>
                <c:pt idx="3">
                  <c:v>22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5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1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Slide-1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Slide-1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zero-claude/d7e33190-c541-582c-a7cc-1156817732ce/scratchpad/deck/assets/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2336"/>
            <a:ext cx="1243584" cy="1325880"/>
          </a:xfrm>
          <a:prstGeom prst="rect">
            <a:avLst/>
          </a:prstGeom>
        </p:spPr>
      </p:pic>
      <p:pic>
        <p:nvPicPr>
          <p:cNvPr id="3" name="Image 1" descr="/tmp/claude-0/-home-user-zero-claude/d7e33190-c541-582c-a7cc-1156817732ce/scratchpad/deck/assets/une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548640"/>
            <a:ext cx="2743200" cy="1060704"/>
          </a:xfrm>
          <a:prstGeom prst="rect">
            <a:avLst/>
          </a:prstGeom>
        </p:spPr>
      </p:pic>
      <p:pic>
        <p:nvPicPr>
          <p:cNvPr id="4" name="Image 2" descr="/tmp/claude-0/-home-user-zero-claude/d7e33190-c541-582c-a7cc-1156817732ce/scratchpad/deck/assets/dead_ap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76072"/>
            <a:ext cx="3063240" cy="10104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88720" y="18105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</a:t>
            </a:r>
            <a:endParaRPr lang="en-US" sz="2000" dirty="0"/>
          </a:p>
        </p:txBody>
      </p:sp>
      <p:sp>
        <p:nvSpPr>
          <p:cNvPr id="6" name="Text 1"/>
          <p:cNvSpPr txBox="1"/>
          <p:nvPr/>
        </p:nvSpPr>
        <p:spPr>
          <a:xfrm>
            <a:off x="1188720" y="2157984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na Gestão Pública</a:t>
            </a:r>
            <a:endParaRPr lang="en-US" sz="3600" dirty="0"/>
          </a:p>
        </p:txBody>
      </p:sp>
      <p:sp>
        <p:nvSpPr>
          <p:cNvPr id="7" name="Text 2"/>
          <p:cNvSpPr txBox="1"/>
          <p:nvPr/>
        </p:nvSpPr>
        <p:spPr>
          <a:xfrm>
            <a:off x="1188720" y="323697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Indicadores e diagnósticos socioeconômicos</a:t>
            </a:r>
            <a:endParaRPr lang="en-US" sz="1900" dirty="0"/>
          </a:p>
        </p:txBody>
      </p:sp>
      <p:sp>
        <p:nvSpPr>
          <p:cNvPr id="8" name="Text 3"/>
          <p:cNvSpPr txBox="1"/>
          <p:nvPr/>
        </p:nvSpPr>
        <p:spPr>
          <a:xfrm>
            <a:off x="1243584" y="3785616"/>
            <a:ext cx="4937760" cy="420624"/>
          </a:xfrm>
          <a:prstGeom prst="roundRect">
            <a:avLst>
              <a:gd name="adj" fmla="val 21739"/>
            </a:avLst>
          </a:prstGeom>
          <a:solidFill>
            <a:srgbClr val="E9C8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· UAB · Turma ____ · Prof. Dr. Cleiton Franco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na Gestão Pública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969264"/>
            <a:ext cx="6400800" cy="402336"/>
          </a:xfrm>
          <a:prstGeom prst="roundRect">
            <a:avLst>
              <a:gd name="adj" fmla="val 22727"/>
            </a:avLst>
          </a:prstGeom>
          <a:solidFill>
            <a:srgbClr val="2A8C8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Indicadores e diagnósticos socioeconômicos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 (Lato Sensu)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45152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9744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8379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9824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Regente: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Calendar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4752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&amp; Semestre: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· a definir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45152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09744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254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9824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da unidade: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(__/__ a __/__)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547872"/>
            <a:ext cx="7863840" cy="676656"/>
          </a:xfrm>
          <a:prstGeom prst="roundRect">
            <a:avLst>
              <a:gd name="adj" fmla="val 8108"/>
            </a:avLst>
          </a:prstGeom>
          <a:solidFill>
            <a:srgbClr val="EAF3F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 2 · Leitura: JANNUZZI (2014), indicadores e diagnósticos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conteúdos: Unidades 3 e 4 · Exercícios de fixação 1 · A1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no ciclo das políticas públicas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71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diagnóstico à avaliação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em cada fase da política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1819656" cy="201168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problema, qual o tamanho e quem é afetado?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2670048" y="1234440"/>
            <a:ext cx="1819656" cy="2011680"/>
          </a:xfrm>
          <a:prstGeom prst="roundRect">
            <a:avLst>
              <a:gd name="adj" fmla="val 3015"/>
            </a:avLst>
          </a:prstGeom>
          <a:solidFill>
            <a:srgbClr val="E6F2F0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metas e qual público priorizar?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654296" y="1234440"/>
            <a:ext cx="1819656" cy="2011680"/>
          </a:xfrm>
          <a:prstGeom prst="roundRect">
            <a:avLst>
              <a:gd name="adj" fmla="val 301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ações estão acontecendo como previsto?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638544" y="1234440"/>
            <a:ext cx="1819656" cy="2011680"/>
          </a:xfrm>
          <a:prstGeom prst="roundRect">
            <a:avLst>
              <a:gd name="adj" fmla="val 3015"/>
            </a:avLst>
          </a:prstGeom>
          <a:solidFill>
            <a:srgbClr val="E6F2F0"/>
          </a:solidFill>
          <a:ln/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2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política produziu os efeitos esperados?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7472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pede indicadores diferentes: de contexto no diagnóstico, de processo no monitoramento e de resultado e impacto na avaliação.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Eficiência, eficácia e efetividade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245668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Co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904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07592"/>
            <a:ext cx="1679448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entre resultados e custos. Ex.: custo por dose de vacina aplicada.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43656" y="1234440"/>
            <a:ext cx="245668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80816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904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29456" y="1307592"/>
            <a:ext cx="1679448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Eficácia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de alcance das metas. Ex.: 95% da meta de cobertura vacinal atingida.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01512" y="1234440"/>
            <a:ext cx="2456688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38672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Heartb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4904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87312" y="1307592"/>
            <a:ext cx="1679448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na vida da população. Ex.: queda das internações por doenças evitáveis.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338328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programa pode ser eficiente e eficaz sem ser efetivo: cumprir metas baratas que não mudam a realidade.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 socioeconômico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697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Retrato do território para orientar prioridades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diagnóstico socioeconômico?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7498080" cy="914400"/>
          </a:xfrm>
          <a:prstGeom prst="roundRect">
            <a:avLst>
              <a:gd name="adj" fmla="val 8000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retrato organizado das condições de vida da população de um território, construído com indicadores, para orientar a definição de prioridades.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245668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87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File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5877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404872"/>
            <a:ext cx="1679448" cy="10881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e LDO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e metas do governo municipal.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43656" y="2331720"/>
            <a:ext cx="245668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80816" y="2487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ClinicMedic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58775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9456" y="2404872"/>
            <a:ext cx="1679448" cy="10881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setoriais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municipais de saúde, educação e assistência social.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001512" y="2331720"/>
            <a:ext cx="245668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38672" y="2487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C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258775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87312" y="2404872"/>
            <a:ext cx="1679448" cy="10881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Diretor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 solo, moradia e infraestrutura urbana.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374904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é exigido em editais, convênios e captação de recursos.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um diagnóstico municipal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objetivo e território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Subsidiar o Plano Municipal de Educação; município e seus bairros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Selecionar dimensões e indicadores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Acesso, fluxo e aprendizagem escolar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Levantar dados e fontes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 Escolar (INEP), IDEB, Censo 2022 (IBGE)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e analisar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Evolução no tempo; município × estado × país; bairros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Identificar prioridades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estão as maiores carências e os grupos mais afetados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Tabelas, gráficos e mapas simples, com fonte e ano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de um diagnóstico e exemplos de indicadores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18333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Demografia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por idade; taxa de crescimento.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2665476" y="1188720"/>
            <a:ext cx="18333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atendimento em creche; IDEB.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645152" y="1188720"/>
            <a:ext cx="18333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Mortalidade infantil; cobertura vacinal.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624828" y="1188720"/>
            <a:ext cx="18333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 renda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Emprego formal; renda per capita.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18333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Habitação e saneamento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domicílios com esgoto adequado.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665476" y="2651760"/>
            <a:ext cx="18333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Assistência social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no CadÚnico por mil habitantes.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2651760"/>
            <a:ext cx="18333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homicídios por 100 mil habitantes.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624828" y="2651760"/>
            <a:ext cx="18333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 públicas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própria sobre receita total.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para interpretar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isolado diz pouco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45668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Hi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904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307592"/>
            <a:ext cx="1679448" cy="15910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histórica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melhorou ou piorou nos últimos anos?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43656" y="1234440"/>
            <a:ext cx="245668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80816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MapMarked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9047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9456" y="1307592"/>
            <a:ext cx="1679448" cy="15910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ESPAÇO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Territórios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município está em relação ao estado, ao país e a vizinhos?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01512" y="1234440"/>
            <a:ext cx="245668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38672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FlagChecke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49047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87312" y="1307592"/>
            <a:ext cx="1679448" cy="15910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METAS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distância da meta do plano, da lei ou dos ODS?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5800" y="3154680"/>
            <a:ext cx="7772400" cy="1188720"/>
          </a:xfrm>
          <a:prstGeom prst="roundRect">
            <a:avLst>
              <a:gd name="adj" fmla="val 6154"/>
            </a:avLst>
          </a:prstGeom>
          <a:solidFill>
            <a:srgbClr val="FBF4DC"/>
          </a:solidFill>
          <a:ln/>
        </p:spPr>
      </p:sp>
      <p:sp>
        <p:nvSpPr>
          <p:cNvPr id="17" name="Shape 12"/>
          <p:cNvSpPr/>
          <p:nvPr/>
        </p:nvSpPr>
        <p:spPr>
          <a:xfrm>
            <a:off x="850392" y="33192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18" name="Image 3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41985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3264408"/>
            <a:ext cx="6903720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desocupação de 8%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Isoladamente, parece baixa. Se o estado tem 5% e a taxa do município subiu de 4% para 8% em dois anos, o quadro é preocupante. (Dados hipotéticos.)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no tempo e no espaço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da taxa de desocupação de 8%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desocupação (%)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Isolado, 8% parece pouco.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série, a taxa do município dobrou em dois anos.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espaço, passou de abaixo para acima da taxa do estado.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é um problema que pede investigação e ação.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hipotéticos, para fins didáticos.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 na leitura dos indicadores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3749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Exclamation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2971800" cy="11795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absolutos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maiores sempre terão mais casos: use taxas para comparar.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749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SortNumeric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94960" y="1261872"/>
            <a:ext cx="2971800" cy="11795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números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municípios pequenos, um caso muda muito a taxa: use médias de 3 anos.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85800" y="2697480"/>
            <a:ext cx="3749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960" y="28529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95351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770632"/>
            <a:ext cx="2971800" cy="11795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Denominador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estimada ou desatualizada distorce as taxas.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709160" y="2697480"/>
            <a:ext cx="37490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46320" y="28529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7" name="Image 3" descr="/tmp/claude-0/-home-user-zero-claude/d7e33190-c541-582c-a7cc-1156817732ce/scratchpad/deck/assets/icon_FaRand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95351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2770632"/>
            <a:ext cx="2971800" cy="11795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método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se a forma de cálculo mudou ao longo da série.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esconde desigualdades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desagregar os indicadores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analfabetismo, pessoas de 15 anos ou mais (%)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total de 8% esconde duas realidades.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zona rural, a taxa é três vezes a urbana.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os idosos, quase um em cada quatro não sabe ler.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política deve mirar esses grupos, por exemplo com a EJA no campo.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hipotéticos, para fins didáticos.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diagnóstico em Mato Grosso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7772400" cy="1225296"/>
          </a:xfrm>
          <a:prstGeom prst="roundRect">
            <a:avLst>
              <a:gd name="adj" fmla="val 5970"/>
            </a:avLst>
          </a:prstGeom>
          <a:solidFill>
            <a:srgbClr val="FBF4DC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" y="1307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5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408176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52728"/>
            <a:ext cx="69037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Municipal de Educação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secretaria de um município de MT precisa definir onde abrir novas vagas de creche e como melhorar a alfabetização.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14600"/>
          <a:ext cx="7772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na decisão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atendimento em creche (0 a 3 anos)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 Escolar + IBGE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falta vaga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IDEB dos anos iniciais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do ensino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Distorção idade-série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 de evasão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Crianças em famílias do CadÚnico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Priorizar os mais pobres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abrir vagas de creche?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por região do município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de 0 a 3 anos atendidas em creche (%)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 1 do PNE é atender pelo menos 50% das crianças de 0 a 3 anos.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Centro alcança a meta.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Leste e zona rural concentram a maior falta de vagas.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com o CadÚnico ajuda a priorizar as famílias mais pobres.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hipotéticos, para fins didáticos. Fontes usuais: Censo Escolar (INEP) e estimativas populacionais do IBGE.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da Unidade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e prazos da unidade (todas as entregas até 23h55)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806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Videoaula 2 e leitura da unidade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__/__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Exercícios de fixação 1 (não avaliativos)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__/__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 A1: questionário no SIGAA (Unidades 1 e 2), 23h55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3840480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unidade: os produtores de dados e as principais fontes do país.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1097280"/>
            <a:ext cx="1005840" cy="1005840"/>
          </a:xfrm>
          <a:prstGeom prst="roundRect">
            <a:avLst>
              <a:gd name="adj" fmla="val 18182"/>
            </a:avLst>
          </a:prstGeom>
          <a:solidFill>
            <a:srgbClr val="2A8C85"/>
          </a:solidFill>
          <a:ln/>
        </p:spPr>
      </p:sp>
      <p:pic>
        <p:nvPicPr>
          <p:cNvPr id="3" name="Image 0" descr="/tmp/claude-0/-home-user-zero-claude/d7e33190-c541-582c-a7cc-1156817732ce/scratchpad/deck/assets/icon_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25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2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perguntas para revisar a unidade. Pause o vídeo, escolha sua resposta e confira no slide seguinte.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2 · PERGUNTA 1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fase de diagnóstico, os indicadores servem para: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impacto final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problemas, sua dimensão e quem é afetado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fornecedores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o orçamento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2 · PERGUNTA 1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fase de diagnóstico, os indicadores servem para: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impacto final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problemas, sua dimensão e quem é afetado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 fornecedores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o orçamento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 revela a situação e a distribuição dos problemas e orienta as prioridades.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2 · PERGUNTA 2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Atingir 95% da meta de cobertura vacinal expressa 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Eficácia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2 · PERGUNTA 2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Atingir 95% da meta de cobertura vacinal expressa 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Eficácia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c)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Eficácia é o grau de alcance das metas.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2 · PERGUNTA 3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das internações por doenças evitáveis após a vacinação expressa 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Eficácia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2 · PERGUNTA 3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das internações por doenças evitáveis após a vacinação expressa a: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Eficácia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a)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 mede a mudança nas condições de vida: o impacto.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2 · PERGUNTA 4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o município com o estado e o país é uma comparação: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metas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espaço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2 · PERGUNTA 4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o município com o estado e o país é uma comparação: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metas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espaço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d)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territoriais situam o município em seu contexto.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2 · PERGUNTA 5 DE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municípios pequenos, para reduzir a oscilação das taxas, recomenda-se: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números absolutos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842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médias de vários anos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os dados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98064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3044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834640"/>
            <a:ext cx="304495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apenas o IDH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DA UNIDADE 2 · PERGUNTA 5 DE 5 · RESPOSTA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municípios pequenos, para reduzir a oscilação das taxas, recomenda-se: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números absolutos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E3F2E8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1456" y="1901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73936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médias de vários anos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os dados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633472"/>
            <a:ext cx="37947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91456" y="2798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9AA3A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670048"/>
            <a:ext cx="3044952" cy="676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apenas o IDH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841248"/>
          </a:xfrm>
          <a:prstGeom prst="roundRect">
            <a:avLst>
              <a:gd name="adj" fmla="val 8696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b) </a:t>
            </a:r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poucos eventos, as taxas oscilam muito; médias trienais suavizam essa variação.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Socioeconômicos · Unidade 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UNEMAT / DEAD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Indicadores Socioeconômicos na Gestão Pública – Unidade 2: Indicadores e diagnósticos socioeconômicos</dc:title>
  <dc:subject>PptxGenJS Presentation</dc:subject>
  <dc:creator>Prof. Dr. Cleiton Franco</dc:creator>
  <cp:lastModifiedBy>Prof. Dr. Cleiton Franco</cp:lastModifiedBy>
  <cp:revision>1</cp:revision>
  <dcterms:created xsi:type="dcterms:W3CDTF">2026-09-26T20:14:12Z</dcterms:created>
  <dcterms:modified xsi:type="dcterms:W3CDTF">2026-09-26T20:14:12Z</dcterms:modified>
</cp:coreProperties>
</file>