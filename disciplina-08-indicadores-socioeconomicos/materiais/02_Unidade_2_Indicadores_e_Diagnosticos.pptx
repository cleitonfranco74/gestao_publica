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zero-claude/d7e33190-c541-582c-a7cc-1156817732ce/scratchpad/deck/assets/brasa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02336"/>
            <a:ext cx="1243584" cy="1325880"/>
          </a:xfrm>
          <a:prstGeom prst="rect">
            <a:avLst/>
          </a:prstGeom>
        </p:spPr>
      </p:pic>
      <p:pic>
        <p:nvPicPr>
          <p:cNvPr id="3" name="Image 1" descr="/tmp/claude-0/-home-user-zero-claude/d7e33190-c541-582c-a7cc-1156817732ce/scratchpad/deck/assets/unem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2848" y="548640"/>
            <a:ext cx="2743200" cy="1060704"/>
          </a:xfrm>
          <a:prstGeom prst="rect">
            <a:avLst/>
          </a:prstGeom>
        </p:spPr>
      </p:pic>
      <p:pic>
        <p:nvPicPr>
          <p:cNvPr id="4" name="Image 2" descr="/tmp/claude-0/-home-user-zero-claude/d7e33190-c541-582c-a7cc-1156817732ce/scratchpad/deck/assets/dead_apr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576072"/>
            <a:ext cx="3063240" cy="101041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188720" y="1810512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</a:t>
            </a:r>
            <a:endParaRPr lang="en-US" sz="2000" dirty="0"/>
          </a:p>
        </p:txBody>
      </p:sp>
      <p:sp>
        <p:nvSpPr>
          <p:cNvPr id="6" name="Text 1"/>
          <p:cNvSpPr txBox="1"/>
          <p:nvPr/>
        </p:nvSpPr>
        <p:spPr>
          <a:xfrm>
            <a:off x="1188720" y="2157984"/>
            <a:ext cx="7223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na Gestão Pública</a:t>
            </a:r>
            <a:endParaRPr lang="en-US" sz="3600" dirty="0"/>
          </a:p>
        </p:txBody>
      </p:sp>
      <p:sp>
        <p:nvSpPr>
          <p:cNvPr id="7" name="Text 2"/>
          <p:cNvSpPr txBox="1"/>
          <p:nvPr/>
        </p:nvSpPr>
        <p:spPr>
          <a:xfrm>
            <a:off x="1188720" y="3236976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2 · Indicadores e diagnósticos socioeconômicos</a:t>
            </a:r>
            <a:endParaRPr lang="en-US" sz="1900" dirty="0"/>
          </a:p>
        </p:txBody>
      </p:sp>
      <p:sp>
        <p:nvSpPr>
          <p:cNvPr id="8" name="Text 3"/>
          <p:cNvSpPr txBox="1"/>
          <p:nvPr/>
        </p:nvSpPr>
        <p:spPr>
          <a:xfrm>
            <a:off x="1243584" y="3785616"/>
            <a:ext cx="4937760" cy="420624"/>
          </a:xfrm>
          <a:prstGeom prst="roundRect">
            <a:avLst>
              <a:gd name="adj" fmla="val 21739"/>
            </a:avLst>
          </a:prstGeom>
          <a:solidFill>
            <a:srgbClr val="E9C85C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· UAB · Turma ____ · Prof. Dr. Cleiton Franco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na Gestão Pública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969264"/>
            <a:ext cx="6400800" cy="402336"/>
          </a:xfrm>
          <a:prstGeom prst="roundRect">
            <a:avLst>
              <a:gd name="adj" fmla="val 22727"/>
            </a:avLst>
          </a:prstGeom>
          <a:solidFill>
            <a:srgbClr val="2A8C85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2 · Indicadores e diagnósticos socioeconômicos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37944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44752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 (Lato Sensu)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645152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09744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User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9472" y="1837944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49824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Regente: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Cleiton Franco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04672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CalendarA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825496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44752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 &amp; Semestre: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 · a definir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4645152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09744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Clo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9472" y="2825496"/>
            <a:ext cx="292608" cy="29260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49824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 da unidade: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2 (__/__ a __/__)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3547872"/>
            <a:ext cx="7863840" cy="676656"/>
          </a:xfrm>
          <a:prstGeom prst="roundRect">
            <a:avLst>
              <a:gd name="adj" fmla="val 8108"/>
            </a:avLst>
          </a:prstGeom>
          <a:solidFill>
            <a:srgbClr val="EAF3F1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Videoaula 2 · Leitura: JANNUZZI (2014), indicadores e diagnósticos</a:t>
            </a:r>
            <a:endParaRPr lang="en-US" sz="15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de conteúdos: Unidades 3 e 4 · Exercícios de fixação 1 · A1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no ciclo das políticas públicas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7180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diagnóstico à avaliação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em cada fase da política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34440"/>
            <a:ext cx="1819656" cy="2011680"/>
          </a:xfrm>
          <a:prstGeom prst="roundRect">
            <a:avLst>
              <a:gd name="adj" fmla="val 3015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24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</a:t>
            </a:r>
            <a:endParaRPr lang="en-US" sz="2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é o problema, qual o tamanho e quem é afetado?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2670048" y="1234440"/>
            <a:ext cx="1819656" cy="2011680"/>
          </a:xfrm>
          <a:prstGeom prst="roundRect">
            <a:avLst>
              <a:gd name="adj" fmla="val 3015"/>
            </a:avLst>
          </a:prstGeom>
          <a:solidFill>
            <a:srgbClr val="E6F2F0"/>
          </a:solidFill>
          <a:ln/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24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Formulação</a:t>
            </a:r>
            <a:endParaRPr lang="en-US" sz="2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metas e qual público priorizar?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4654296" y="1234440"/>
            <a:ext cx="1819656" cy="2011680"/>
          </a:xfrm>
          <a:prstGeom prst="roundRect">
            <a:avLst>
              <a:gd name="adj" fmla="val 3015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24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Implementação</a:t>
            </a:r>
            <a:endParaRPr lang="en-US" sz="2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ações estão acontecendo como previsto?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6638544" y="1234440"/>
            <a:ext cx="1819656" cy="2011680"/>
          </a:xfrm>
          <a:prstGeom prst="roundRect">
            <a:avLst>
              <a:gd name="adj" fmla="val 3015"/>
            </a:avLst>
          </a:prstGeom>
          <a:solidFill>
            <a:srgbClr val="E6F2F0"/>
          </a:solidFill>
          <a:ln/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24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</a:t>
            </a:r>
            <a:endParaRPr lang="en-US" sz="2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política produziu os efeitos esperados?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474720"/>
            <a:ext cx="7772400" cy="777240"/>
          </a:xfrm>
          <a:prstGeom prst="roundRect">
            <a:avLst>
              <a:gd name="adj" fmla="val 9412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fase pede indicadores diferentes: de contexto no diagnóstico, de processo no monitoramento e de resultado e impacto na avaliação.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Eficiência, eficácia e efetividade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85800" y="1234440"/>
            <a:ext cx="2456688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Coi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9047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307592"/>
            <a:ext cx="1679448" cy="17739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Relação entre resultados e custos. Ex.: custo por dose de vacina aplicada.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3343656" y="1234440"/>
            <a:ext cx="2456688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480816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Bullsey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49047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029456" y="1307592"/>
            <a:ext cx="1679448" cy="17739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METAS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Eficácia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Grau de alcance das metas. Ex.: 95% da meta de cobertura vacinal atingida.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6001512" y="1234440"/>
            <a:ext cx="2456688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38672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Heartbea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49047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687312" y="1307592"/>
            <a:ext cx="1679448" cy="17739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Efetividade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Mudança na vida da população. Ex.: queda das internações por doenças evitáveis.</a:t>
            </a:r>
            <a:endParaRPr lang="en-US" sz="1100" dirty="0"/>
          </a:p>
        </p:txBody>
      </p:sp>
      <p:sp>
        <p:nvSpPr>
          <p:cNvPr id="15" name="Text 10"/>
          <p:cNvSpPr txBox="1"/>
          <p:nvPr/>
        </p:nvSpPr>
        <p:spPr>
          <a:xfrm>
            <a:off x="685800" y="3383280"/>
            <a:ext cx="7772400" cy="777240"/>
          </a:xfrm>
          <a:prstGeom prst="roundRect">
            <a:avLst>
              <a:gd name="adj" fmla="val 9412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programa pode ser eficiente e eficaz sem ser efetivo: cumprir metas baratas que não mudam a realidade.</a:t>
            </a:r>
            <a:endParaRPr lang="en-US" sz="1450" dirty="0"/>
          </a:p>
        </p:txBody>
      </p:sp>
      <p:sp>
        <p:nvSpPr>
          <p:cNvPr id="16" name="Text 11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diagnóstico socioeconômico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6974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Retrato do território para orientar prioridades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um diagnóstico socioeconômico?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188720"/>
            <a:ext cx="7498080" cy="914400"/>
          </a:xfrm>
          <a:prstGeom prst="roundRect">
            <a:avLst>
              <a:gd name="adj" fmla="val 8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retrato organizado das condições de vida da população de um território, construído com indicadores, para orientar a definição de prioridades.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85800" y="2331720"/>
            <a:ext cx="2456688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487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FileA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25877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2404872"/>
            <a:ext cx="1679448" cy="10881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PPA e LDO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Programas e metas do governo municipal.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343656" y="2331720"/>
            <a:ext cx="2456688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80816" y="2487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ClinicMedic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258775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29456" y="2404872"/>
            <a:ext cx="1679448" cy="10881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Planos setoriais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Planos municipais de saúde, educação e assistência social.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6001512" y="2331720"/>
            <a:ext cx="2456688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138672" y="2487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Cit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258775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687312" y="2404872"/>
            <a:ext cx="1679448" cy="10881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Diretor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do solo, moradia e infraestrutura urbana.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685800" y="3749040"/>
            <a:ext cx="7772400" cy="548640"/>
          </a:xfrm>
          <a:prstGeom prst="roundRect">
            <a:avLst>
              <a:gd name="adj" fmla="val 1333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Também é exigido em editais, convênios e captação de recursos.</a:t>
            </a:r>
            <a:endParaRPr lang="en-US" sz="1350" dirty="0"/>
          </a:p>
        </p:txBody>
      </p:sp>
      <p:sp>
        <p:nvSpPr>
          <p:cNvPr id="17" name="Text 1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 de um diagnóstico municipal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77724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377440"/>
                <a:gridCol w="4663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fazer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Exemplo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Definir objetivo e território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Subsidiar o Plano Municipal de Educação; município e seus bairros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Selecionar dimensões e indicadores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Acesso, fluxo e aprendizagem escolar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Levantar dados e fontes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Censo Escolar (INEP), IDEB, Censo 2022 (IBGE)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Comparar e analisar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Evolução no tempo; município × estado × país; bairros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Identificar prioridades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Onde estão as maiores carências e os grupos mais afetados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Comunicar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Tabelas, gráficos e mapas simples, com fonte e ano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Dimensões de um diagnóstico e exemplos de indicadores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88720"/>
            <a:ext cx="1833372" cy="129844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Demografia</a:t>
            </a:r>
            <a:endParaRPr lang="en-US" sz="13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População por idade; taxa de crescimento.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2665476" y="1188720"/>
            <a:ext cx="1833372" cy="129844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Educação</a:t>
            </a:r>
            <a:endParaRPr lang="en-US" sz="13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atendimento em creche; IDEB.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4645152" y="1188720"/>
            <a:ext cx="1833372" cy="129844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</a:t>
            </a:r>
            <a:endParaRPr lang="en-US" sz="13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Mortalidade infantil; cobertura vacinal.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624828" y="1188720"/>
            <a:ext cx="1833372" cy="129844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 e renda</a:t>
            </a:r>
            <a:endParaRPr lang="en-US" sz="13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Emprego formal; renda per capita.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651760"/>
            <a:ext cx="1833372" cy="129844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Habitação e saneamento</a:t>
            </a:r>
            <a:endParaRPr lang="en-US" sz="13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de domicílios com esgoto adequado.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665476" y="2651760"/>
            <a:ext cx="1833372" cy="129844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Assistência social</a:t>
            </a:r>
            <a:endParaRPr lang="en-US" sz="13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Famílias no CadÚnico por mil habitantes.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4645152" y="2651760"/>
            <a:ext cx="1833372" cy="129844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</a:t>
            </a:r>
            <a:endParaRPr lang="en-US" sz="13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homicídios por 100 mil habitantes.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624828" y="2651760"/>
            <a:ext cx="1833372" cy="129844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Finanças públicas</a:t>
            </a:r>
            <a:endParaRPr lang="en-US" sz="13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Receita própria sobre receita total.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Comparar para interpretar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número isolado diz pouco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234440"/>
            <a:ext cx="2456688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Histo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9047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07592"/>
            <a:ext cx="1679448" cy="159105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TEMPO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Série histórica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taxa melhorou ou piorou nos últimos anos?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343656" y="1234440"/>
            <a:ext cx="2456688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80816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MapMarkedAl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49047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29456" y="1307592"/>
            <a:ext cx="1679448" cy="159105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ESPAÇO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Territórios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o município está em relação ao estado, ao país e a vizinhos?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001512" y="1234440"/>
            <a:ext cx="2456688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138672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FlagChecker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49047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687312" y="1307592"/>
            <a:ext cx="1679448" cy="159105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METAS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Padrões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a distância da meta do plano, da lei ou dos ODS?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685800" y="3154680"/>
            <a:ext cx="7772400" cy="1188720"/>
          </a:xfrm>
          <a:prstGeom prst="roundRect">
            <a:avLst>
              <a:gd name="adj" fmla="val 6154"/>
            </a:avLst>
          </a:prstGeom>
          <a:solidFill>
            <a:srgbClr val="FBF4DC"/>
          </a:solidFill>
          <a:ln/>
        </p:spPr>
      </p:sp>
      <p:sp>
        <p:nvSpPr>
          <p:cNvPr id="17" name="Shape 12"/>
          <p:cNvSpPr/>
          <p:nvPr/>
        </p:nvSpPr>
        <p:spPr>
          <a:xfrm>
            <a:off x="850392" y="331927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18" name="Image 3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76" y="3419856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417320" y="3264408"/>
            <a:ext cx="6903720" cy="9692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desocupação de 8%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Isoladamente, parece baixa. Se o estado tem 5% e a taxa do município subiu de 4% para 8% em dois anos, o quadro é preocupante. (Dados hipotéticos.)</a:t>
            </a:r>
            <a:endParaRPr lang="en-US" sz="1100" dirty="0"/>
          </a:p>
        </p:txBody>
      </p:sp>
      <p:sp>
        <p:nvSpPr>
          <p:cNvPr id="20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Cuidados na leitura dos indicadores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85800" y="1188720"/>
            <a:ext cx="374904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ExclamationTriang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447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261872"/>
            <a:ext cx="2971800" cy="117957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Números absolutos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Cidades maiores sempre terão mais casos: use taxas para comparar.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709160" y="1188720"/>
            <a:ext cx="374904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84632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SortNumericU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4447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94960" y="1261872"/>
            <a:ext cx="2971800" cy="117957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Pequenos números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municípios pequenos, um caso muda muito a taxa: use médias de 3 anos.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85800" y="2697480"/>
            <a:ext cx="374904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822960" y="28529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Use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295351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71600" y="2770632"/>
            <a:ext cx="2971800" cy="117957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Denominador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População estimada ou desatualizada distorce as taxas.</a:t>
            </a:r>
            <a:endParaRPr lang="en-US" sz="1600" dirty="0"/>
          </a:p>
        </p:txBody>
      </p:sp>
      <p:sp>
        <p:nvSpPr>
          <p:cNvPr id="15" name="Shape 10"/>
          <p:cNvSpPr/>
          <p:nvPr/>
        </p:nvSpPr>
        <p:spPr>
          <a:xfrm>
            <a:off x="4709160" y="2697480"/>
            <a:ext cx="374904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4846320" y="28529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7" name="Image 3" descr="/tmp/claude-0/-home-user-zero-claude/d7e33190-c541-582c-a7cc-1156817732ce/scratchpad/deck/assets/icon_FaRandom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904" y="2953512"/>
            <a:ext cx="256032" cy="25603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394960" y="2770632"/>
            <a:ext cx="2971800" cy="117957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Mudança de método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Confira se a forma de cálculo mudou ao longo da série.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diagnóstico em Mato Grosso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1143000"/>
            <a:ext cx="7772400" cy="1225296"/>
          </a:xfrm>
          <a:prstGeom prst="roundRect">
            <a:avLst>
              <a:gd name="adj" fmla="val 5970"/>
            </a:avLst>
          </a:prstGeom>
          <a:solidFill>
            <a:srgbClr val="FBF4DC"/>
          </a:solidFill>
          <a:ln/>
        </p:spPr>
      </p:sp>
      <p:sp>
        <p:nvSpPr>
          <p:cNvPr id="4" name="Shape 2"/>
          <p:cNvSpPr/>
          <p:nvPr/>
        </p:nvSpPr>
        <p:spPr>
          <a:xfrm>
            <a:off x="850392" y="130759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5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1408176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252728"/>
            <a:ext cx="6903720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Municipal de Educação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secretaria de um município de MT precisa definir onde abrir novas vagas de creche e como melhorar a alfabetização.</a:t>
            </a:r>
            <a:endParaRPr lang="en-US" sz="11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514600"/>
          <a:ext cx="77724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37744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Indicador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Uso na decisão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Taxa de atendimento em creche (0 a 3 anos)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Censo Escolar + IBGE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Onde falta vaga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IDEB dos anos iniciais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INEP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Qualidade do ensino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Distorção idade-série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INEP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Risco de evasão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Crianças em famílias do CadÚnico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MDS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Priorizar os mais pobres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da Unidade 2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e prazos da unidade (todas as entregas até 23h55)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325880"/>
          <a:ext cx="749808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5806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Semana 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Videoaula 2 e leitura da unidade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__/__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Exercícios de fixação 1 (não avaliativos)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__/__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Avaliação A1: questionário no SIGAA (Unidades 1 e 2), 23h55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22960" y="3840480"/>
            <a:ext cx="7498080" cy="548640"/>
          </a:xfrm>
          <a:prstGeom prst="roundRect">
            <a:avLst>
              <a:gd name="adj" fmla="val 1333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unidade: os produtores de dados e as principais fontes do país.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69080" y="1097280"/>
            <a:ext cx="1005840" cy="1005840"/>
          </a:xfrm>
          <a:prstGeom prst="roundRect">
            <a:avLst>
              <a:gd name="adj" fmla="val 18182"/>
            </a:avLst>
          </a:prstGeom>
          <a:solidFill>
            <a:srgbClr val="2A8C85"/>
          </a:solidFill>
          <a:ln/>
        </p:spPr>
      </p:sp>
      <p:pic>
        <p:nvPicPr>
          <p:cNvPr id="3" name="Image 0" descr="/tmp/claude-0/-home-user-zero-claude/d7e33190-c541-582c-a7cc-1156817732ce/scratchpad/deck/assets/icon_FaQues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32588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2402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1188720" y="292608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perguntas para revisar a unidade. Pause o vídeo, escolha sua resposta e confira no slide seguinte.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1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fase de diagnóstico, os indicadores servem para: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Medir o impacto final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Identificar problemas, sua dimensão e quem é afetado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Pagar fornecedores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Substituir o orçamento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1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fase de diagnóstico, os indicadores servem para: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Medir o impacto final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Identificar problemas, sua dimensão e quem é afetado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Pagar fornecedores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Substituir o orçamento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b)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diagnóstico revela a situação e a distribuição dos problemas e orienta as prioridades.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2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Atingir 95% da meta de cobertura vacinal expressa a: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Efetividade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Eficácia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Economicidade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2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Atingir 95% da meta de cobertura vacinal expressa a: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Efetividade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Eficácia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Economicidade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c)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Eficácia é o grau de alcance das metas.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3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queda das internações por doenças evitáveis após a vacinação expressa a: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Efetividade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Eficácia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Economicidade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3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queda das internações por doenças evitáveis após a vacinação expressa a: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Efetividade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Eficácia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Economicidade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a)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Efetividade mede a mudança nas condições de vida: o impacto.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4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Comparar o município com o estado e o país é uma comparação: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tempo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metas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Subjetiva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espaço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4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Comparar o município com o estado e o país é uma comparação: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tempo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metas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Subjetiva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espaço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d)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Comparações territoriais situam o município em seu contexto.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5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municípios pequenos, para reduzir a oscilação das taxas, recomenda-se: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números absolutos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médias de vários anos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Ignorar os dados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apenas o IDH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5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municípios pequenos, para reduzir a oscilação das taxas, recomenda-se: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números absolutos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médias de vários anos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Ignorar os dados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apenas o IDH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b)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poucos eventos, as taxas oscilam muito; médias trienais suavizam essa variação.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2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UNEMAT / DEAD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Indicadores Socioeconômicos na Gestão Pública – Unidade 2: Indicadores e diagnósticos socioeconômicos</dc:title>
  <dc:subject>PptxGenJS Presentation</dc:subject>
  <dc:creator>Prof. Dr. Cleiton Franco</dc:creator>
  <cp:lastModifiedBy>Prof. Dr. Cleiton Franco</cp:lastModifiedBy>
  <cp:revision>1</cp:revision>
  <dcterms:created xsi:type="dcterms:W3CDTF">2026-09-26T16:46:08Z</dcterms:created>
  <dcterms:modified xsi:type="dcterms:W3CDTF">2026-09-26T16:46:08Z</dcterms:modified>
</cp:coreProperties>
</file>