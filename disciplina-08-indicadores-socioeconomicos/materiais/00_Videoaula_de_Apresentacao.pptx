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vídeo. Boas-vindas à disciplina Indicadores Socioeconômicos na Gestão Pública.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Olá! Seja bem-vindo(a) à disciplina Indicadores Socioeconômicos na Gestão Pública, do 2º Eixo do Módulo Básico da Especialização em Gestão Pública. Eu sou o Prof. Dr. Cleiton Franco. A disciplina tem 30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professor: formação em Ciências Contábeis pela UNEMAT, mestrado em Economia pela UFMT, doutorado em Economia pelo PIMES/UFPE e pós-doutorado em Administração. Atuo com pesquisa em políticas públicas e avaliação de impacto, em que os indicadores são ferramenta de trabalho diária.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central da disciplina é: como transformar dados em informação para planejar, acompanhar e avaliar políticas públicas? Todo gestor precisa de diagnósticos confiáveis, e isso exige saber escolher, calcular e interpretar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Ementa da disciplina, conforme o PPC, e o objetivo geral.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disciplina tem quatro unidades, uma por semana, e uma quinta semana de revisão e da Avaliação A3. As datas serão divulgadas no SIGAA.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livro-texto base é o de Paulo de Martino Jannuzzi, Indicadores socioeconômicos na gestão pública, disponível no EduCAPES. Vamos usar também as fontes oficiais: IBGE, Atlas Brasil, DATASUS, INEP, Banco Central e IPEA.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30 horas: 28 horas e meia de estudo assíncrono no SIGAA e um encontro síncrono de 1h30 pelo Google Meet, na terceira semana, em data a definir. A presença nesse encontro é obrigatória.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três avaliações a distância. A A1, na semana 2, e a A2, na semana 4, são questionários de dez questões. A A3, na semana 5, tem dez questões objetivas e um estudo de caso em que você vai montar um diagnóstico com indicadores e fontes. A média de A1 e A2 vale 40% e a A3 vale 60%.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perder uma avaliação por motivo justificado pode requerer a 2ª chamada. Quem não atingir a nota de aprovação pode fazer a Prova Final, conforme as normas da UNEMAT.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mapa da disciplina, organizado por semanas. As datas exatas serão divulgadas no SIGAA. Todas as entregas vencem às 23h55.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rotina: assista à videoaula, leia o livro e a página de conteúdos, explore os dados do seu município no IBGE Cidades e no Atlas Brasil, participe dos fóruns e entregue as atividades antes das 23h55 do prazo.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começar: acesse o SIGAA, apresente-se no fórum dizendo qual município vai estudar e abra o IBGE Cidades para anotar três indicadores. Bons estudos!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zero-claude/d7e33190-c541-582c-a7cc-1156817732ce/scratchpad/deck/assets/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2336"/>
            <a:ext cx="1243584" cy="1325880"/>
          </a:xfrm>
          <a:prstGeom prst="rect">
            <a:avLst/>
          </a:prstGeom>
        </p:spPr>
      </p:pic>
      <p:pic>
        <p:nvPicPr>
          <p:cNvPr id="3" name="Image 1" descr="/tmp/claude-0/-home-user-zero-claude/d7e33190-c541-582c-a7cc-1156817732ce/scratchpad/deck/assets/une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548640"/>
            <a:ext cx="2743200" cy="1060704"/>
          </a:xfrm>
          <a:prstGeom prst="rect">
            <a:avLst/>
          </a:prstGeom>
        </p:spPr>
      </p:pic>
      <p:pic>
        <p:nvPicPr>
          <p:cNvPr id="4" name="Image 2" descr="/tmp/claude-0/-home-user-zero-claude/d7e33190-c541-582c-a7cc-1156817732ce/scratchpad/deck/assets/dead_ap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76072"/>
            <a:ext cx="3063240" cy="10104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88720" y="18105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</a:t>
            </a:r>
            <a:endParaRPr lang="en-US" sz="2000" dirty="0"/>
          </a:p>
        </p:txBody>
      </p:sp>
      <p:sp>
        <p:nvSpPr>
          <p:cNvPr id="6" name="Text 1"/>
          <p:cNvSpPr txBox="1"/>
          <p:nvPr/>
        </p:nvSpPr>
        <p:spPr>
          <a:xfrm>
            <a:off x="1188720" y="2157984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na Gestão Pública</a:t>
            </a:r>
            <a:endParaRPr lang="en-US" sz="3600" dirty="0"/>
          </a:p>
        </p:txBody>
      </p:sp>
      <p:sp>
        <p:nvSpPr>
          <p:cNvPr id="7" name="Text 2"/>
          <p:cNvSpPr txBox="1"/>
          <p:nvPr/>
        </p:nvSpPr>
        <p:spPr>
          <a:xfrm>
            <a:off x="1188720" y="323697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 de apresentação da disciplina</a:t>
            </a:r>
            <a:endParaRPr lang="en-US" sz="1900" dirty="0"/>
          </a:p>
        </p:txBody>
      </p:sp>
      <p:sp>
        <p:nvSpPr>
          <p:cNvPr id="8" name="Text 3"/>
          <p:cNvSpPr txBox="1"/>
          <p:nvPr/>
        </p:nvSpPr>
        <p:spPr>
          <a:xfrm>
            <a:off x="1243584" y="3785616"/>
            <a:ext cx="4937760" cy="420624"/>
          </a:xfrm>
          <a:prstGeom prst="roundRect">
            <a:avLst>
              <a:gd name="adj" fmla="val 21739"/>
            </a:avLst>
          </a:prstGeom>
          <a:solidFill>
            <a:srgbClr val="E9C8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· UAB · Turma ____ · Prof. Dr. Cleiton Franco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na Gestão Pública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969264"/>
            <a:ext cx="6400800" cy="402336"/>
          </a:xfrm>
          <a:prstGeom prst="roundRect">
            <a:avLst>
              <a:gd name="adj" fmla="val 22727"/>
            </a:avLst>
          </a:prstGeom>
          <a:solidFill>
            <a:srgbClr val="2A8C8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 de apresentação da disciplina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 (Lato Sensu)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45152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9744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8379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9824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Regente: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Calendar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4752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&amp; Semestre: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· a definir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45152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09744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254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9824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Oferta: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____/____ a ____/____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547872"/>
            <a:ext cx="7863840" cy="676656"/>
          </a:xfrm>
          <a:prstGeom prst="roundRect">
            <a:avLst>
              <a:gd name="adj" fmla="val 8108"/>
            </a:avLst>
          </a:prstGeom>
          <a:solidFill>
            <a:srgbClr val="EAF3F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horária: 30 h/a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28,5 h assíncronas no SIGAA · 1,5 h síncrona (um encontro virtual, data a definir)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acadêmica e atuação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20624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90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Univers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5910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4813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acadêmica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084832"/>
            <a:ext cx="388620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Graduação: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Ciências Contábeis, UNEMAT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Economia, UFMT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Doutorado: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Economia, PIMES/UFPE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Pós-doutorado: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Administração, ESAN/UFMS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20640" y="1325880"/>
            <a:ext cx="3337560" cy="3017520"/>
          </a:xfrm>
          <a:prstGeom prst="roundRect">
            <a:avLst>
              <a:gd name="adj" fmla="val 1818"/>
            </a:avLst>
          </a:prstGeom>
          <a:solidFill>
            <a:srgbClr val="E6F2F0"/>
          </a:solidFill>
          <a:ln/>
        </p:spPr>
      </p:sp>
      <p:sp>
        <p:nvSpPr>
          <p:cNvPr id="10" name="Shape 7"/>
          <p:cNvSpPr/>
          <p:nvPr/>
        </p:nvSpPr>
        <p:spPr>
          <a:xfrm>
            <a:off x="5303520" y="1490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A8C85"/>
          </a:solidFill>
          <a:ln/>
        </p:spPr>
      </p:sp>
      <p:pic>
        <p:nvPicPr>
          <p:cNvPr id="11" name="Image 1" descr="/tmp/claude-0/-home-user-zero-claude/d7e33190-c541-582c-a7cc-1156817732ce/scratchpad/deck/assets/icon_Fa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5910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79592" y="14813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atual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303520" y="2084832"/>
            <a:ext cx="301752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do curso de Ciências Contábeis da UNEMAT, câmpus de Sinop/MT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de projetos de pesquisa em políticas públicas e avaliação de impacto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Apresentação da disciplina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estudar esta disciplina?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guia as quatro unidades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25880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i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algn="l" indent="0" marL="0">
              <a:lnSpc>
                <a:spcPct val="100000"/>
              </a:lnSpc>
              <a:buNone/>
            </a:pPr>
            <a:r>
              <a:rPr lang="en-US" sz="21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dados em informação para planejar, acompanhar e avaliar políticas públicas?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61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7" name="Image 0" descr="/tmp/claude-0/-home-user-zero-claude/d7e33190-c541-582c-a7cc-1156817732ce/scratchpad/deck/assets/icon_Fa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8620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679192"/>
            <a:ext cx="2971800" cy="12710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seu trabalho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PPA, planos de saúde e educação, prestação de contas e editais exigem diagnósticos com indicadores.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09160" y="260604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2761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1" name="Image 1" descr="/tmp/claude-0/-home-user-zero-claude/d7e33190-c541-582c-a7cc-1156817732ce/scratchpad/deck/assets/icon_FaProject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8620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2679192"/>
            <a:ext cx="2971800" cy="12710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curso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Políticas Públicas, Planejamento Estratégico Governamental e o TCC.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Apresentação da disciplina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Ementa e objetivo geral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Projeto Pedagógico do Curso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98448"/>
            <a:ext cx="46634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Ementa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breve caracterização histórica. Indicadores sociais: do conceito às medidas. Indicadores e os diagnósticos socioeconômicos. Principais produtores de dados e indicadores no Brasil. Principais pesquisas amostrais e institucionais do IBGE. Registros administrativos, cadastros públicos e dados de programas. Dados e indicadores econômicos. Principais boletins de conjuntura. Principais pesquisas econômicas do IBGE.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298448"/>
            <a:ext cx="2926080" cy="3108960"/>
          </a:xfrm>
          <a:prstGeom prst="roundRect">
            <a:avLst>
              <a:gd name="adj" fmla="val 1875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o gestor a selecionar, calcular, interpretar e comunicar indicadores sociais e econômicos, utilizando as principais fontes de dados do país, para elaborar diagnósticos e apoiar o planejamento, o monitoramento e a avaliação de políticas públicas.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Apresentação da disciplina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da disciplina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unidades, uma videoaula para cada uma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1805940" cy="21488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sociais: breve histórico, conceito, cálculo, propriedades e classificações.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674620" y="1325880"/>
            <a:ext cx="1805940" cy="21488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 diagnósticos socioeconômicos; eficiência, eficácia e efetividade.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325880"/>
            <a:ext cx="1805940" cy="21488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Produtores de dados: Censo, pesquisas do IBGE, registros administrativos e cadastros.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652260" y="1325880"/>
            <a:ext cx="1805940" cy="21488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econômicos, pesquisas econômicas do IBGE e boletins de conjuntura.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0332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5: revisão e Avaliação A3. As datas de cada semana serão divulgadas no SIGAA.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Apresentação da disciplina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 e fontes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obrigatória, complementar e fontes oficiais de dados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98448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LIVRO-TEXTO BASE</a:t>
            </a:r>
            <a:endParaRPr lang="en-US" sz="115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JANNUZZI, Paulo de Martino. Indicadores socioeconômicos na gestão pública. 3. ed. Florianópolis: UFSC; Brasília: CAPES/UAB, 2014.</a:t>
            </a:r>
            <a:endParaRPr lang="en-US" sz="115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obrigatória em todas as unidades. Acesso livre no Portal EduCAPES (coleção PNAP, Módulo Básico).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Básicas do PPC também: JANNUZZI (2001); FEIJÓ et al. (2008).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298448"/>
            <a:ext cx="38862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complementares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CARLEY (1985); CARDOSO (1999)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GUIMARÃES; JANNUZZI (2005): IDH e indicadores sintéticos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SANTAGADA (2007): história dos indicadores sociais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3310128"/>
            <a:ext cx="3886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(Cidades, SIDRA) · Atlas Brasil · DATASUS · INEP · Banco Central · IPEA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Apresentação da disciplina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ecossistema de aprendizagem (30 h/a)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horas da disciplina se distribuem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245668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53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5544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371600"/>
            <a:ext cx="1679448" cy="21396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28,5 H ASSÍNCRONAS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núcleo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Videoaulas, leituras, fóruns, exercícios de fixação, atividades práticas com dados e avaliações no SIGAA.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43656" y="1298448"/>
            <a:ext cx="245668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80816" y="1453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55448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9456" y="1371600"/>
            <a:ext cx="1679448" cy="21396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H SÍNCRONA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encontro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encontro virtual no Google Meet, na Semana 3 (data a definir), das 19h às 20h30: dúvidas e orientações para A2 e A3.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01512" y="1298448"/>
            <a:ext cx="245668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38672" y="1453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HandsHelp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5544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87312" y="1371600"/>
            <a:ext cx="1679448" cy="21396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MEDIAÇÃO PEDAGÓGICA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apoio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mediador acompanha sua participação e leva dúvidas e dificuldades ao professor.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3730752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obrigatória no encontro síncrono (PPC: 75% de frequência nas atividades síncronas).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Apresentação da disciplina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avaliação: três etapas, todas a distância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final = (((A1 + A2) / 2) × 0,4) + (A3 × 0,6)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245668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· 40% (COM A A2)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Questionário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questões objetivas no SIGAA sobre as Unidades 1 e 2. Uma tentativa de 60 minutos.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343656" y="1325880"/>
            <a:ext cx="245668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 · 40% (COM A A1)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Questionário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questões objetivas no SIGAA sobre as Unidades 3 e 4. Uma tentativa de 60 minutos.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01512" y="1325880"/>
            <a:ext cx="245668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 · 60%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Objetivas + caso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questões objetivas e um estudo de caso: um diagnóstico com indicadores e fontes.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Aprovação: nota final igual ou superior a 7,0 e 75% de frequência. Exercícios de fixação (sem nota) ajudam a preparar cada avaliação.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Apresentação da disciplina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segurança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chamada e Prova Final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3794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CHAMADA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perdeu A1, A2 ou A3 por motivo justificado.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Requerimento com documento comprobatório, nos prazos e condições das normas da UNEMAT.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da A3: 10 objetivas + estudo de caso, a distância.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definida pela Coordenação.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325880"/>
            <a:ext cx="3794760" cy="2651760"/>
          </a:xfrm>
          <a:prstGeom prst="roundRect">
            <a:avLst>
              <a:gd name="adj" fmla="val 2069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FINAL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não atingir a nota de aprovação, nas condições das normas vigentes.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conteúdo da disciplina.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da A3: 10 objetivas + estudo de caso, a distância.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definida pela Coordenação.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Apresentação da disciplina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da disciplina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datas de cada semana serão divulgadas no SIGAA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98448"/>
          <a:ext cx="7498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Unidade, atividades e prazos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1 (__/__ a __/__)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1 · fórum de apresentação e fórum temático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2 (__/__ a __/__)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2 · exercícios de fixação 1 · prazo da A1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3 (__/__ a __/__)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3 · atividade prática com dados · encontro síncrono (19h)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4 (__/__ a __/__)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4 · exercícios de fixação 2 · prazo da A2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5 (__/__ a __/__)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· prazo da A3 · encerramento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Após o encerramento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2ª chamada e Prova Final (datas da Coordenação)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Apresentação da disciplina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estudar a cada semana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rotina de 6 a 7 horas por semana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422806" cy="2103120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videoaula da unidade no SIGAA.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273198" y="1371600"/>
            <a:ext cx="1422806" cy="2103120"/>
          </a:xfrm>
          <a:prstGeom prst="roundRect">
            <a:avLst>
              <a:gd name="adj" fmla="val 3856"/>
            </a:avLst>
          </a:prstGeom>
          <a:solidFill>
            <a:srgbClr val="E6F2F0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livro-texto de Jannuzzi e a página de conteúdos.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860597" y="1371600"/>
            <a:ext cx="1422806" cy="2103120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do seu município no IBGE Cidades e no Atlas Brasil.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47995" y="1371600"/>
            <a:ext cx="1422806" cy="2103120"/>
          </a:xfrm>
          <a:prstGeom prst="roundRect">
            <a:avLst>
              <a:gd name="adj" fmla="val 3856"/>
            </a:avLst>
          </a:prstGeom>
          <a:solidFill>
            <a:srgbClr val="E6F2F0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fóruns e do encontro síncrono.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035394" y="1371600"/>
            <a:ext cx="1422806" cy="2103120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atividades antes das 23h55 do prazo.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0332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escolha desde já um município para acompanhar em todas as unidades.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Apresentação da disciplina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2456688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SignIn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1679448" cy="12984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Acesse o SIGAA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 turma virtual e confira o roteiro da Unidade 1.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43656" y="1188720"/>
            <a:ext cx="2456688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80816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Com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29456" y="1261872"/>
            <a:ext cx="1679448" cy="12984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Apresente-se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no fórum de apresentação e diga qual município vai estudar.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01512" y="1188720"/>
            <a:ext cx="2456688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38672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MapMarked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4447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87312" y="1261872"/>
            <a:ext cx="1679448" cy="12984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Explore os dados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IBGE Cidades e anote três indicadores do seu município.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22960" y="2852928"/>
            <a:ext cx="7498080" cy="1234440"/>
          </a:xfrm>
          <a:prstGeom prst="roundRect">
            <a:avLst>
              <a:gd name="adj" fmla="val 5926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i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algn="l" indent="0" marL="0">
              <a:lnSpc>
                <a:spcPct val="100000"/>
              </a:lnSpc>
              <a:buNone/>
            </a:pPr>
            <a:r>
              <a:rPr lang="en-US" sz="19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indicador não é o fim da análise, e sim o começo de uma boa pergunta sobre a realidade. Bons estudos!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Apresentação da disciplina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UNEMAT / DEAD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Indicadores Socioeconômicos na Gestão Pública – Videoaula de apresentação da disciplina</dc:title>
  <dc:subject>PptxGenJS Presentation</dc:subject>
  <dc:creator>Prof. Dr. Cleiton Franco</dc:creator>
  <cp:lastModifiedBy>Prof. Dr. Cleiton Franco</cp:lastModifiedBy>
  <cp:revision>1</cp:revision>
  <dcterms:created xsi:type="dcterms:W3CDTF">2026-09-26T16:46:08Z</dcterms:created>
  <dcterms:modified xsi:type="dcterms:W3CDTF">2026-09-26T16:46:08Z</dcterms:modified>
</cp:coreProperties>
</file>