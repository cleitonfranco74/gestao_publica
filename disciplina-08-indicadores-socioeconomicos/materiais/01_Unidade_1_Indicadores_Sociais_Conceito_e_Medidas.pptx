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A: 60 óbitos</c:v>
                  </c:pt>
                  <c:pt idx="1">
                    <c:v>B: 30 óbitos</c:v>
                  </c:pt>
                  <c:pt idx="2">
                    <c:v>C: 12 óbitos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1991</c:v>
                  </c:pt>
                  <c:pt idx="1">
                    <c:v>2000</c:v>
                  </c:pt>
                  <c:pt idx="2">
                    <c:v>2010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0.493</c:v>
                </c:pt>
                <c:pt idx="1">
                  <c:v>0.612</c:v>
                </c:pt>
                <c:pt idx="2">
                  <c:v>0.727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Mato Grosso</c:v>
                </c:pt>
              </c:strCache>
            </c:strRef>
          </c:tx>
          <c:spPr>
            <a:solidFill>
              <a:srgbClr val="2A8C8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1991</c:v>
                  </c:pt>
                  <c:pt idx="1">
                    <c:v>2000</c:v>
                  </c:pt>
                  <c:pt idx="2">
                    <c:v>2010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0.449</c:v>
                </c:pt>
                <c:pt idx="1">
                  <c:v>0.601</c:v>
                </c:pt>
                <c:pt idx="2">
                  <c:v>0.725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Longevidade</c:v>
                  </c:pt>
                  <c:pt idx="1">
                    <c:v>Renda</c:v>
                  </c:pt>
                  <c:pt idx="2">
                    <c:v>Educação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0.816</c:v>
                </c:pt>
                <c:pt idx="1">
                  <c:v>0.739</c:v>
                </c:pt>
                <c:pt idx="2">
                  <c:v>0.637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Mato Grosso</c:v>
                </c:pt>
              </c:strCache>
            </c:strRef>
          </c:tx>
          <c:spPr>
            <a:solidFill>
              <a:srgbClr val="2A8C8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Longevidade</c:v>
                  </c:pt>
                  <c:pt idx="1">
                    <c:v>Renda</c:v>
                  </c:pt>
                  <c:pt idx="2">
                    <c:v>Educação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0.821</c:v>
                </c:pt>
                <c:pt idx="1">
                  <c:v>0.732</c:v>
                </c:pt>
                <c:pt idx="2">
                  <c:v>0.635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32369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Indicadores sociais: do conceito às medidas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785616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____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Indicadores sociais: do conceito às medidas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· a definir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(__/__ a __/__)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1 · Leitura: JANNUZZI (2014) e JANNUZZI (2001)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Unidades 1 e 2 · Fóruns de apresentação e temático 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breve caracterização histórica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 como passamos a medir a realidade social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medir?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498080" cy="914400"/>
          </a:xfrm>
          <a:prstGeom prst="roundRect">
            <a:avLst>
              <a:gd name="adj" fmla="val 8000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informação, o gestor decide às cegas: não sabe quem precisa, quanto precisa e se a política funcionou.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819656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1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5420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359152"/>
            <a:ext cx="1042416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os problemas e quem é mais afetado.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70048" y="2286000"/>
            <a:ext cx="1819656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07208" y="2441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254203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55848" y="2359152"/>
            <a:ext cx="1042416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prioridades, metas e recursos.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54296" y="2286000"/>
            <a:ext cx="1819656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91456" y="2441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Tas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4203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0096" y="2359152"/>
            <a:ext cx="1042416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execução das ações.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638544" y="2286000"/>
            <a:ext cx="1819656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75704" y="2441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heckDou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25420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24344" y="2359152"/>
            <a:ext cx="1042416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resultados e impactos.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" y="3767328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também servem ao controle social: a população pode cobrar metas com base em dados públicos.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breve história dos indicadores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245668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SÉC. XIX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 oficiais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Censos e registros de Estado. No Brasil, o 1º censo é de 1872; o IBGE surge em 1936.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188720"/>
            <a:ext cx="245668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1930–1950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nacionais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PIB se torna a principal medida do desempenho das economias.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188720"/>
            <a:ext cx="245668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1960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dos indicadores sociais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não bastava: era preciso medir saúde, educação e condições de vida.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45668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 (PNUD)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que combina saúde, educação e renda.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43656" y="2834640"/>
            <a:ext cx="245668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2000–2015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e ODS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globais: Agenda 2030 com 17 objetivos.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01512" y="2834640"/>
            <a:ext cx="245668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Portais públicos e registros administrativos digitais.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PIB não mede tudo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3794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PIB MOSTRA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da produção de bens e serviços finais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ritmo de crescimento da economia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média por habitante (PIB per capita)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3794760" cy="1920240"/>
          </a:xfrm>
          <a:prstGeom prst="roundRect">
            <a:avLst>
              <a:gd name="adj" fmla="val 2857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PIB ESCONDE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renda se distribui (desigualdade)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saúde, educação e saneamento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ambientais e trabalho não pago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7772400" cy="1170432"/>
          </a:xfrm>
          <a:prstGeom prst="roundRect">
            <a:avLst>
              <a:gd name="adj" fmla="val 6250"/>
            </a:avLst>
          </a:prstGeom>
          <a:solidFill>
            <a:srgbClr val="FBF4DC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3410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7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5112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3355848"/>
            <a:ext cx="6903720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per capita alto, pobreza alta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município pode ter PIB per capita elevado por causa do agronegócio e, ainda assim, muitas famílias pobres.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sociais: do conceito às medidas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cálculo, propriedades e classificações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indicador social?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segundo Paulo Jannuzzi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7498080" cy="1143000"/>
          </a:xfrm>
          <a:prstGeom prst="roundRect">
            <a:avLst>
              <a:gd name="adj" fmla="val 64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medida, em geral quantitativa, dotada de significado social, usada para substituir, quantificar ou operacionalizar um conceito social abstrato, de interesse teórico ou programático.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abstrato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Pobreza, desenvolvimento, qualidade da educação: ideias que não se observam diretamente.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256032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observável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per capita, taxa de analfabetismo, IDEB: números que representam o conceito.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ao indicador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pobreza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Pobreza: privação de condições básicas de vida.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670048" y="128016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Renda, moradia, acesso a água e esgoto, educação.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654296" y="128016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Censo, PNAD Contínua, CadÚnico.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638544" y="128016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pessoas com renda per capita abaixo de uma linha de pobreza.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das dimensões e da linha de corte muda o resultado: todo indicador envolve decisões metodológicas.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Dado, indicador e índice sintético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245668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óbitos de bebês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simples. Não permite comparar municípios de tamanhos diferentes.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280160"/>
            <a:ext cx="245668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por mil nascidos vivos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mortalidade infantil: relaciona o dado a uma base comparável.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280160"/>
            <a:ext cx="245668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SINTÉTICO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IDHM 0,72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vários indicadores (saúde, educação e renda) em um único número.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hipotéticos, para ilustração.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absoluto ou taxa?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municípios hipotéticos: óbitos de menores de 1 ano e taxa de mortalidade infantil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mortalidade infantil (óbitos por mil nascidos vivos)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 o maior número de óbitos, mas é o maior município (4.000 nascidos vivos).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tem só 12 óbitos em 500 nascidos vivos: a maior taxa, 24 por mil.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territórios, use taxas, não contagens.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 A: 60 ÷ 4.000 × 1.000 = 15 · B: 30 ÷ 2.500 × 1.000 = 12 · C: 12 ÷ 500 × 1.000 = 24.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calcula: taxas, proporções e razões</a:t>
            </a:r>
            <a:endParaRPr lang="en-US" sz="2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(dados hipotéticos)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Mortalidade infantil: 18 óbitos &lt; 1 ano ÷ 1.200 nascidos vivos × 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por mil nascidos vivos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Analfabetismo: 900 analfabetos ÷ 9.000 pessoas de 15 anos ou 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Médicos por habitante: 24 médicos ÷ 12.000 habitantes × 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médicos por mil habitantes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Número-índice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do ano ÷ valor do ano-base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=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611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verifique numerador, denominador e unidade: “por mil”, “por cem mil” ou “%”.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de um bom indicador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uma questão importante da agenda pública.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188720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de fato o conceito que se quer medir.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188720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boa qualidade, coletados com método consistente.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as mudanças produzidas pela política.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43656" y="2450592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Reflete o fenômeno de interesse, e não outros.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01512" y="2450592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Desagregabilidade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calculado por bairro, sexo, idade, cor/raça.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75888"/>
            <a:ext cx="7772400" cy="694944"/>
          </a:xfrm>
          <a:prstGeom prst="roundRect">
            <a:avLst>
              <a:gd name="adj" fmla="val 10526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importam: periodicidade, comunicabilidade, factibilidade (custo) e historicidade (série no tempo).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dos indicadores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e exemplos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Objetivos (taxa de matrícula) × subjetivos (satisfação com o posto de saúde)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(taxa de analfabetismo) × sintéticos ou compostos (IDH, IDEB)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da política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 (recursos) · processo (ações) · resultado (metas) · impacto (mudança na população)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Descritivos (retratam a realidade) × normativos (comparam com um padrão desejado)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" y="3310128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FBF4DC"/>
          </a:solidFill>
          <a:ln/>
        </p:spPr>
      </p:sp>
      <p:sp>
        <p:nvSpPr>
          <p:cNvPr id="5" name="Shape 2"/>
          <p:cNvSpPr/>
          <p:nvPr/>
        </p:nvSpPr>
        <p:spPr>
          <a:xfrm>
            <a:off x="850392" y="3474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6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57530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3419856"/>
            <a:ext cx="69037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materno-infantil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Insumo: médicos por mil habitantes · Processo: consultas de pré-natal realizadas · Resultado: gestantes com 7+ consultas · Impacto: queda da mortalidade infantil.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sintéticos: IDH e IDHM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245668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Heartb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1679448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Longevidade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Esperança de vida ao nascer.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43656" y="1188720"/>
            <a:ext cx="245668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Book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261872"/>
            <a:ext cx="1679448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Escolaridade da população adulta e fluxo escolar dos jovens.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01512" y="1188720"/>
            <a:ext cx="245668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44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261872"/>
            <a:ext cx="1679448" cy="12070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per capita.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2697480"/>
            <a:ext cx="37947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 desenvolvimento em um número de 0 a 1.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comparar municípios e acompanhar a evolução.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2697480"/>
            <a:ext cx="3794760" cy="1645920"/>
          </a:xfrm>
          <a:prstGeom prst="roundRect">
            <a:avLst>
              <a:gd name="adj" fmla="val 333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desigualdades internas e entre dimensões.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 componentes são escolhas metodológicas.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IDHM do Brasil e de Mato Grosso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entre os Censos de 1991, 2000 e 2010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Desenvolvimento Humano Municipal (0 a 1)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passaram de “muito baixo” (abaixo de 0,500) para “alto” (0,700 a 0,799).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começou abaixo da média nacional e praticamente a alcançou em 2010.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IDHM é calculado com dados do Censo: por isso a série é decenal.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PNUD, Ipea e FJP. Atlas do Desenvolvimento Humano no Brasil (com dados dos Censos do IBGE).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número único esconde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IDHM 2010 por dimensão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IDHM por dimensão, 2010 (0 a 1)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educação é a dimensão mais baixa, no Brasil e em MT.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geral (0,727 no Brasil) é uma média geométrica das três dimensões.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sempre os componentes antes de concluir algo pelo índice sintético.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PNUD, Ipea e FJP. Atlas do Desenvolvimento Humano no Brasil, dados do Censo 2010.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de apresentação e Videoaula 1; leitura de Jannuzzi (2014)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de apresentação: diga qual município vai acompanhar na disciplina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temático 1: escolha um indicador do seu município e analise duas propriedades dele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indicadores e diagnósticos socioeconômicos.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9728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2A8C85"/>
          </a:solidFill>
          <a:ln/>
        </p:spPr>
      </p:sp>
      <p:pic>
        <p:nvPicPr>
          <p:cNvPr id="3" name="Image 0" descr="/tmp/claude-0/-home-user-zero-claude/d7e33190-c541-582c-a7cc-1156817732ce/scratchpad/deck/assets/icon_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perguntas para revisar a unidade. Pause o vídeo, escolha sua resposta e confira no slide seguinte.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1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movimento dos indicadores sociais, nos anos 1960, criticava?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existência dos censos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bem-estar apenas pelo PIB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de taxas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criação do IBGE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1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movimento dos indicadores sociais, nos anos 1960, criticava?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existência dos censos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bem-estar apenas pelo PIB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de taxas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criação do IBGE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do PIB não garantia melhores condições de vida; era preciso medir diretamente saúde, educação e moradia.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2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18 óbitos de menores de 1 ano e 1.200 nascidos vivos, a taxa de mortalidade infantil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por mil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por mil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por mil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por mil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2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18 óbitos de menores de 1 ano e 1.200 nascidos vivos, a taxa de mortalidade infantil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por mil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por mil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por mil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por mil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÷ 1.200 × 1.000 = 15 óbitos por mil nascidos vivos.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3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indicador que mede de fato o conceito que pretende medir tem: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Comunicabilidade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Historicidade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3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indicador que mede de fato o conceito que pretende medir tem: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Comunicabilidade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Historicidade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a)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é a correspondência entre a medida e o conceito.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4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IDHM é um exemplo de indicador: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insumo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 (composto)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4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IDHM é um exemplo de indicador: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insumo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 (composto)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d)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longevidade, educação e renda em um único índice.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5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consultas de pré-natal realizadas é um indicador de: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5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consultas de pré-natal realizadas é um indicador de: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execução das ações do programa (processo). O impacto seria a queda da mortalidade infantil.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Socioeconômicos na Gestão Pública – Unidade 1: Indicadores sociais: do conceito às medidas</dc:title>
  <dc:subject>PptxGenJS Presentation</dc:subject>
  <dc:creator>Prof. Dr. Cleiton Franco</dc:creator>
  <cp:lastModifiedBy>Prof. Dr. Cleiton Franco</cp:lastModifiedBy>
  <cp:revision>1</cp:revision>
  <dcterms:created xsi:type="dcterms:W3CDTF">2026-09-26T20:14:12Z</dcterms:created>
  <dcterms:modified xsi:type="dcterms:W3CDTF">2026-09-26T20:14:12Z</dcterms:modified>
</cp:coreProperties>
</file>