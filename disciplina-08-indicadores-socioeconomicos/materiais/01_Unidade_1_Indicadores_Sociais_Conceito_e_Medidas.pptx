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A: 60 óbitos</c:v>
                  </c:pt>
                  <c:pt idx="1">
                    <c:v>B: 30 óbitos</c:v>
                  </c:pt>
                  <c:pt idx="2">
                    <c:v>C: 12 óbitos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12</c:v>
                </c:pt>
                <c:pt idx="2">
                  <c:v>24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Brasil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1991</c:v>
                  </c:pt>
                  <c:pt idx="1">
                    <c:v>2000</c:v>
                  </c:pt>
                  <c:pt idx="2">
                    <c:v>2010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0.493</c:v>
                </c:pt>
                <c:pt idx="1">
                  <c:v>0.612</c:v>
                </c:pt>
                <c:pt idx="2">
                  <c:v>0.727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Mato Grosso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1991</c:v>
                  </c:pt>
                  <c:pt idx="1">
                    <c:v>2000</c:v>
                  </c:pt>
                  <c:pt idx="2">
                    <c:v>2010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0.449</c:v>
                </c:pt>
                <c:pt idx="1">
                  <c:v>0.601</c:v>
                </c:pt>
                <c:pt idx="2">
                  <c:v>0.725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Brasil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Longevidade</c:v>
                  </c:pt>
                  <c:pt idx="1">
                    <c:v>Renda</c:v>
                  </c:pt>
                  <c:pt idx="2">
                    <c:v>Educação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0.816</c:v>
                </c:pt>
                <c:pt idx="1">
                  <c:v>0.739</c:v>
                </c:pt>
                <c:pt idx="2">
                  <c:v>0.637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Mato Grosso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Longevidade</c:v>
                  </c:pt>
                  <c:pt idx="1">
                    <c:v>Renda</c:v>
                  </c:pt>
                  <c:pt idx="2">
                    <c:v>Educação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0.821</c:v>
                </c:pt>
                <c:pt idx="1">
                  <c:v>0.732</c:v>
                </c:pt>
                <c:pt idx="2">
                  <c:v>0.635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Indicadores Socioeconômicos na Gestão Pública. Eu sou o Prof. Dr. Cleiton Franco. Nesta videoaula, vamos entender por que a gestão pública precisa de indicadores e como um conceito social, como pobreza ou desenvolvimento, se transforma em uma medida. Uma dica para toda a disciplina: escolha desde já um município, de preferência aquele em que você vive ou trabalha, e acompanhe os indicadores dele em todas as unidades.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lembrete da organização. Esta é a primeira semana da disciplina; as datas estão no SIGAA. A leitura é o livro de Paulo Jannuzzi, Indicadores socioeconômicos na gestão pública, de 2014, e o texto de Jannuzzi de 2001, junto com os tópicos 1 e 2 do sumário da página de conteúdos. Nesta semana, você participa do fórum de apresentação e do fórum temático 1. A videoaula tem duas partes: a história dos indicadores e, depois, o caminho do conceito à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sumário: uma breve caracterização histórica. Por que e como passamos a medir a realidade social?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Governar exige informação. Sem dados, o gestor decide às cegas: não sabe quem precisa de uma política, quanto precisa e se a ação funcionou. Os indicadores servem para quatro coisas: diagnosticar os problemas e quem é mais afetado; planejar, definindo prioridades, metas e recursos; monitorar a execução das ações; e avaliar resultados e impactos. E há um quinto uso, muito importante na democracia: o controle social. Com dados públicos, a população pode cobrar metas.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uma breve história. No século XIX, consolidam-se as estatísticas oficiais e os censos; no Brasil, o primeiro recenseamento geral é de 1872, e o IBGE surge em 1936. Entre 1930 e 1950, com as contas nacionais, o PIB se torna a principal medida do desempenho das economias. Nos anos 1960, nos Estados Unidos, surge o movimento dos indicadores sociais: crescer não bastava, era preciso medir saúde, educação, moradia e condições de vida. Em 1990, o PNUD lança o IDH. Depois vêm os Objetivos do Milênio e a Agenda 2030, com 17 Objetivos de Desenvolvimento Sustentável. E hoje contamos com dados abertos, portais públicos e registros administrativos digitais.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PIB não basta? Ele mostra o valor da produção de bens e serviços finais, o ritmo de crescimento e a renda média por habitante. Mas esconde como a renda se distribui, o acesso a saúde, educação e saneamento, e os custos ambientais e o trabalho não pago. Um exemplo bem próximo de nós: um município pode ter PIB per capita elevado, graças ao agronegócio, e ainda assim muitas famílias em situação de pobreza. Por isso precisamos de indicadores sociais.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indicadores sociais, do conceito às medidas. Vamos ver o conceito, o cálculo, as propriedades, as classificações e os índices sintéticos.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Paulo Jannuzzi, indicador social é uma medida, em geral quantitativa, dotada de significado social, usada para substituir, quantificar ou operacionalizar um conceito social abstrato, de interesse teórico ou programático. Em outras palavras: pobreza, desenvolvimento e qualidade da educação são ideias que não se observam diretamente. Renda per capita, taxa de analfabetismo e IDEB são números que representam esses conceitos.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se chega do conceito ao indicador? Vamos pelo exemplo da pobreza, em quatro passos. Primeiro, o conceito: pobreza como privação de condições básicas de vida. Segundo, as dimensões: renda, moradia, acesso a água e esgoto, educação. Terceiro, os dados: o Censo, a PNAD Contínua ou o CadÚnico. Quarto, o indicador: por exemplo, a proporção de pessoas com renda per capita abaixo de uma linha de pobreza. Atenção: a escolha das dimensões e da linha de corte muda o resultado. Todo indicador envolve decisões metodológicas.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mostra três níveis de informação, com números hipotéticos. O dado bruto, como 18 óbitos de menores de 1 ano, é uma contagem: não permite comparar municípios de tamanhos diferentes. O indicador, 15 óbitos por mil nascidos vivos, relaciona o dado a uma base comparável. E o índice sintético, como um IDHM de 0,72, combina vários indicadores em um só número. Do dado ao índice, ganhamos comparabilidade e síntese, mas perdemos detalhe; por isso é preciso olhar os três níveis.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por que as taxas importam. [Apontar para as colunas.] O município A tem 60 óbitos de bebês, o maior número, mas também é o maior, com 4 mil nascidos vivos: a taxa é 15 por mil. O município C tem só 12 óbitos, mas em apenas 500 nascidos vivos: a taxa é 24 por mil, a maior das três. Quem olhasse só as contagens escolheria o município errado para priorizar. Para comparar territórios, use taxas, não números absolutos.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aos cálculos, com dados hipotéticos. Taxa: a mortalidade infantil é o número de óbitos de menores de 1 ano dividido pelos nascidos vivos, vezes mil: 18 dividido por 1.200, vezes mil, dá 15 por mil nascidos vivos. Proporção: 900 analfabetos em 9 mil pessoas de 15 anos ou mais, vezes 100, dá 10%. Razão: 24 médicos para 12 mil habitantes, vezes mil, dá 2 médicos por mil habitantes. E o número-índice: o valor do ano dividido pelo valor do ano-base, vezes 100, com o ano-base igual a 100. Sempre verifique o numerador, o denominador e a unidade: por mil, por cem mil ou porcentagem.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saber se um indicador é bom? Jannuzzi aponta várias propriedades. Relevância: responde a uma questão importante da agenda pública. Validade: mede de fato o conceito que se pretende medir. Confiabilidade: usa dados de boa qualidade, coletados com método consistente. Sensibilidade: capta as mudanças, inclusive as produzidas pela política. Especificidade: reflete o fenômeno de interesse, e não outros. Desagregabilidade: pode ser calculado por bairro, sexo, idade, cor ou raça. Também importam a periodicidade, a comunicabilidade, a factibilidade, ou seja, o custo, e a historicidade, isto é, a existência de uma série no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indicadores podem ser classificados por quatro critérios. Pela natureza: objetivos, como a taxa de matrícula, ou subjetivos, como a satisfação com o posto de saúde. Pela complexidade: simples, como a taxa de analfabetismo, ou sintéticos, como o IDH e o IDEB. Pelo fluxo da política: insumo, processo, resultado e impacto. E pelo uso: descritivos, que retratam a realidade, ou normativos, que comparam com um padrão desejado. Veja o exemplo da saúde materno-infantil: médicos por mil habitantes é um insumo; consultas de pré-natal realizadas, um processo; gestantes com sete ou mais consultas, um resultado; e a queda da mortalidade infantil, o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sintético mais conhecido é o IDH, que combina três dimensões: longevidade, medida pela esperança de vida ao nascer; educação, pela escolaridade da população adulta e pelo fluxo escolar dos jovens; e renda per capita. O resultado vai de 0 a 1. No Brasil, o IDHM é calculado para os municípios e divulgado no Atlas do Desenvolvimento Humano. A vantagem é resumir o desenvolvimento em um número e facilitar comparações. O limite é esconder desigualdades internas e entre as dimensões, além de depender de escolhas de componentes e pesos, como discutem Guimarães e Jannuzzi, em 2005.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o IDHM do Brasil e de Mato Grosso. [Apontar para as colunas.] Em 1991, os dois estavam na faixa “muito baixo”, abaixo de 0,500: o Brasil com 0,493 e Mato Grosso com 0,449. Em 2010, os dois chegaram à faixa “alto”: 0,727 e 0,725. Mato Grosso começou abaixo da média nacional e praticamente a alcançou. Repare que o IDHM é calculado com dados do Censo, e por isso a série é de dez em dez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o que o número único esconde. [Apontar para as barras de cada dimensão.] Em 2010, a longevidade é a dimensão mais alta, acima de 0,8, e a educação, a mais baixa, em torno de 0,64, tanto no Brasil quanto em Mato Grosso. O índice geral é uma média geométrica das três dimensões. A lição é: antes de concluir algo pelo índice sintético, olhe sempre os seus componentes.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1, com as datas no SIGAA. Nesta semana, assista à videoaula de apresentação e a esta videoaula, e leia Jannuzzi. No fórum de apresentação, conte qual município você vai acompanhar na disciplina. E no fórum temático 1, escolha um indicador desse município e analise duas propriedades dele. Todas as entregas vão até as 23h55. Na próxima unidade, vamos estudar os indicadores no ciclo das políticas públicas e o diagnóstico socioeconômico.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Eu leio a pergunta, você pausa o vídeo, escolhe a sua resposta e confere a correção no slide seguinte.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O que o movimento dos indicadores sociais, nos anos 1960, criticava? Letra a: A existência dos censos. Letra b: Medir o bem-estar apenas pelo PIB. Letra c: O uso de taxas. Letra d: A criação do IBGE.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Medir o bem-estar apenas pelo PIB. O crescimento do PIB não garantia melhores condições de vida; era preciso medir diretamente saúde, educação e moradia.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Com 18 óbitos de menores de 1 ano e 1.200 nascidos vivos, a taxa de mortalidade infantil é: Letra a: 1,5 por mil. Letra b: 18 por mil. Letra c: 15 por mil. Letra d: 150 por mil.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15 por mil. 18 ÷ 1.200 × 1.000 = 15 óbitos por mil nascidos vivos.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Um indicador que mede de fato o conceito que pretende medir tem: Letra a: Validade. Letra b: Periodicidade. Letra c: Comunicabilidade. Letra d: Historicidade.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Validade. Validade é a correspondência entre a medida e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IDHM é um exemplo de indicador: Letra a: Subjetivo. Letra b: De insumo. Letra c: Simples. Letra d: Sintético (composto).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Sintético (composto). Combina longevidade, educação e renda em um único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O número de consultas de pré-natal realizadas é um indicador de: Letra a: Insumo. Letra b: Processo. Letra c: Impacto. Letra d: Contexto.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Processo. Mede a execução das ações do programa (processo). O impacto seria a queda da mortalidade infantil.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1, vamos recapitular. [Apontar para o quadro da esquerda.] No tópico 1, vimos que os indicadores servem para diagnosticar, planejar, monitorar, avaliar e para o controle social. Percorremos a história, dos censos e da criação do IBGE ao movimento dos indicadores sociais, ao IDH e aos ODS, e vimos que o PIB mede a produção, mas não mostra a distribuição da renda nem o acesso a serviços. [Apontar para o quadro da direita.] No tópico 2, definimos indicador social com Jannuzzi, vimos o caminho do conceito ao indicador, a diferença entre dado, indicador e índice, como calcular taxas, proporções, razões e números-índice, as propriedades de um bom indicador, as classificações e os índices sintéticos, com os seus limites. Na próxima unidade, indicadores no ciclo das políticas e o diagnóstico socioeconômico.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Indicadores sociais: do conceito às medidas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Indicadores sociais: do conceito às medidas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JANNUZZI (2014) e JANNUZZI (2001)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de apresentação e temático 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breve caracterização histórica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 como passamos a medir a realidade social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medir?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914400"/>
          </a:xfrm>
          <a:prstGeom prst="roundRect">
            <a:avLst>
              <a:gd name="adj" fmla="val 8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informação, o gestor decide às cegas: não sabe quem precisa, quanto precisa e se a política funcionou.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5420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os problemas e quem é mais afetado.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670048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07208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Bulls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254203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55848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prioridades, metas e recursos.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654296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91456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Task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54203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execução das ações.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638544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775704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254203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24344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resultados e impactos.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67328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também servem ao controle social: a população pode cobrar metas com base em dados públicos.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breve história dos indicadores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Estatísticas oficiais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Censos e registros de Estado. No Brasil, o 1º censo é de 1872; o IBGE surge em 1936.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1930–1950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nacionais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se torna a principal medida do desempenho das economias.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1960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dos indicadores sociais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EUA: crescer não bastava; era preciso medir saúde, educação, moradia e condições de vida.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3464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 (PNUD)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que combina saúde, educação e renda.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83464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2000–2015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 e ODS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globais: Agenda 2030 com 17 objetivos.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83464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abertos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Portais públicos e registros administrativos digitais.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não mede tudo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PIB MOSTRA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produção de bens e serviços finais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ritmo de crescimento da economia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renda média por habitante (PIB per capita)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PIB ESCONDE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renda se distribui (desigualdade)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 saúde, educação e saneamento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ambientais e trabalho não pago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3246120"/>
            <a:ext cx="7772400" cy="1170432"/>
          </a:xfrm>
          <a:prstGeom prst="roundRect">
            <a:avLst>
              <a:gd name="adj" fmla="val 6250"/>
            </a:avLst>
          </a:prstGeom>
          <a:solidFill>
            <a:srgbClr val="FBF4DC"/>
          </a:solidFill>
          <a:ln/>
        </p:spPr>
      </p:sp>
      <p:sp>
        <p:nvSpPr>
          <p:cNvPr id="6" name="Shape 4"/>
          <p:cNvSpPr/>
          <p:nvPr/>
        </p:nvSpPr>
        <p:spPr>
          <a:xfrm>
            <a:off x="850392" y="3410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355848"/>
            <a:ext cx="6903720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per capita alto, pobreza alta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município pode ter PIB per capita elevado por causa do agronegócio e, ainda assim, muitas famílias pobres.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sociais: do conceito às medidas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cálculo, propriedades, classificações e índices sintéticos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indicador social?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segundo Paulo Jannuzzi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1143000"/>
          </a:xfrm>
          <a:prstGeom prst="roundRect">
            <a:avLst>
              <a:gd name="adj" fmla="val 64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medida, em geral quantitativa, dotada de significado social, usada para substituir, quantificar ou operacionalizar um conceito social abstrato, de interesse teórico ou programático.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6032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abstrato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Pobreza, desenvolvimento, qualidade da educação: ideias que não se observam diretamente.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256032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observável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per capita, taxa de analfabetismo, IDEB: números que representam o conceito.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conceito ao indicador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pobreza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Pobreza: privação de condições básicas de vida.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2670048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Renda, moradia, acesso a água e esgoto, educação.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654296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Censo, PNAD Contínua, CadÚnico.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638544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pessoas com renda per capita abaixo de uma linha de pobreza.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2044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das dimensões e da linha de corte muda o resultado: todo indicador envolve decisões metodológicas.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Dado, indicador e índice sintético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(hipotético)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bruto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óbitos de menores de 1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Contagem; não permite comparar municípios de tamanhos diferentes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óbitos por mil nascidos vivos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 o dado a uma base comparável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sintético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IDHM = 0,72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vários indicadores em um número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dado ao índice, ganha-se comparabilidade e síntese, mas perde-se detalhe: por isso é preciso olhar os três níveis.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absoluto ou taxa?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municípios hipotéticos: óbitos de menores de 1 ano e taxa de mortalidade infantil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mortalidade infantil (óbitos por mil nascidos vivos)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 o maior número de óbitos, mas é o maior município (4.000 nascidos vivos).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tem só 12 óbitos em 500 nascidos vivos: a maior taxa, 24 por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territórios, use taxas, não contagens.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A: 60 ÷ 4.000 × 1.000 = 15 · B: 30 ÷ 2.500 × 1.000 = 12 · C: 12 ÷ 500 × 1.000 = 24.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calcula: taxas, proporções e razões</a:t>
            </a:r>
            <a:endParaRPr lang="en-US" sz="2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(dados hipotéticos)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Mortalidade infantil: 18 óbitos &lt; 1 ano ÷ 1.200 nascidos vivos × 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por mil nascidos vivos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Analfabetismo: 900 analfabetos ÷ 9.000 pessoas de 15 anos ou mais ×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Médicos por habitante: 24 médicos ÷ 12.000 habitantes × 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médicos por mil habitantes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Número-índice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do ano ÷ valor do ano-base ×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Ano-base =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verifique numerador, denominador e unidade: “por mil”, “por cem mil” ou “%”.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 de um bom indicador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a uma questão importante da agenda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de fato o conceito que se quer medir.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boa qualidade, coletados com método consistente.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as mudanças produzidas pela política.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Reflete o fenômeno de interesse, e não outros.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Desagregabilidade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calculado por bairro, sexo, idade, cor/raça.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75888"/>
            <a:ext cx="7772400" cy="694944"/>
          </a:xfrm>
          <a:prstGeom prst="roundRect">
            <a:avLst>
              <a:gd name="adj" fmla="val 1052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importam: periodicidade, comunicabilidade, factibilidade (custo) e historicidade (série no tempo).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Classificações dos indicadores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394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Tipos e exemplos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Objetivos (taxa de matrícula) × subjetivos (satisfação com o posto de saúde)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 (taxa de analfabetismo) × sintéticos ou compostos (IDH, IDEB)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 da política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 (recursos) · processo (ações) · resultado (metas) · impacto (mudança na população)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Descritivos (retratam a realidade) × normativos (comparam com um padrão desejado)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310128"/>
            <a:ext cx="7772400" cy="1097280"/>
          </a:xfrm>
          <a:prstGeom prst="roundRect">
            <a:avLst>
              <a:gd name="adj" fmla="val 666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4747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57530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419856"/>
            <a:ext cx="69037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materno-infantil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Insumo: médicos por mil habitantes · Processo: consultas de pré-natal realizadas · Resultado: gestantes com 7+ consultas · Impacto: queda da mortalidade infantil.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sintéticos: IDH e IDHM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Esperança de vida ao nascer.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okO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Escolaridade da população adulta e fluxo escolar dos jovens.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per capita.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2697480"/>
            <a:ext cx="379476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 desenvolvimento em um número de 0 a 1.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comparar municípios e acompanhar a evolução.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663440" y="2697480"/>
            <a:ext cx="3794760" cy="1645920"/>
          </a:xfrm>
          <a:prstGeom prst="roundRect">
            <a:avLst>
              <a:gd name="adj" fmla="val 333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 desigualdades internas e entre dimensões.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e pesos são escolhas metodológicas (Guimarães e Jannuzzi, 2005).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IDHM do Brasil e de Mato Grosso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entre os Censos de 1991, 2000 e 2010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Desenvolvimento Humano Municipal (0 a 1)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passaram de “muito baixo” (abaixo de 0,500) para “alto” (0,700 a 0,799).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Mato Grosso começou abaixo da média nacional e praticamente a alcançou em 2010.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IDHM é calculado com dados do Censo: por isso a série é decenal.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PNUD, Ipea e FJP. Atlas do Desenvolvimento Humano no Brasil (com dados dos Censos do IBGE).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número único esconde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IDHM 2010 por dimensão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IDHM por dimensão, 2010 (0 a 1)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educação é a dimensão mais baixa, no Brasil e em MT.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geral (0,727 no Brasil) é uma média geométrica das três dimensões.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Olhe sempre os componentes antes de concluir algo pelo índice sintético.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PNUD, Ipea e FJP. Atlas do Desenvolvimento Humano no Brasil, dados do Censo 2010.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de apresentação e Videoaula 1; leitura de Jannuzzi (2014)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apresentação: diga qual município vai acompanhar na disciplina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escolha um indicador do seu município e analise duas propriedades dele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indicadores e diagnósticos socioeconômicos.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movimento dos indicadores sociais, nos anos 1960, criticava?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existência dos censos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bem-estar apenas pelo PIB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uso de taxas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do IBGE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movimento dos indicadores sociais, nos anos 1960, criticava?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existência dos censos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bem-estar apenas pelo PIB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uso de taxas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do IBGE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do PIB não garantia melhores condições de vida; era preciso medir diretamente saúde, educação e moradia.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18 óbitos de menores de 1 ano e 1.200 nascidos vivos, a taxa de mortalidade infantil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por mil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por mil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por mil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por mil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18 óbitos de menores de 1 ano e 1.200 nascidos vivos, a taxa de mortalidade infantil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por mil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por mil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por mil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por mil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÷ 1.200 × 1.000 = 15 óbitos por mil nascidos vivos.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indicador que mede de fato o conceito que pretende medir tem: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Comunicabilidade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indicador que mede de fato o conceito que pretende medir tem: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Comunicabilidade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é a correspondência entre a medida e o conceito.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IDHM é um exemplo de indicador: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insumo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Sintético (composto)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IDHM é um exemplo de indicador: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insumo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Sintético (composto)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longevidade, educação e renda em um único índice.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consultas de pré-natal realizadas é um indicador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consultas de pré-natal realizadas é um indicador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a execução das ações do programa (processo). O impacto seria a queda da mortalidade infantil.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breve caracterização histórica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servem para diagnosticar, planejar, monitorar, avaliar e para o controle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Marcos: censos (1872 no Brasil), IBGE (1936), contas nacionais, movimento dos indicadores sociais (anos 1960), IDH (1990) e ODS.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mede a produção, mas não a distribuição da renda nem o acesso a serviços.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sociais: do conceito às medidas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Indicador: medida com significado social que operacionaliza um conceito abstrato (Jannuzzi).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conceito ao indicador: dimensões, dados e medida.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bruto, indicador e índice; taxas, proporções, razões e números-índice.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Propriedades: relevância, validade, confiabilidade, sensibilidade, especificidade, desagregabilidade.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Classificações e índices sintéticos (IDH, IDHM) com seus limites.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indicadores no ciclo das políticas públicas e o diagnóstico socioeconômico.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1: Indicadores sociais: do conceito às medidas</dc:title>
  <dc:subject>PptxGenJS Presentation</dc:subject>
  <dc:creator>Prof. Dr. Cleiton Franco</dc:creator>
  <cp:lastModifiedBy>Prof. Dr. Cleiton Franco</cp:lastModifiedBy>
  <cp:revision>1</cp:revision>
  <dcterms:created xsi:type="dcterms:W3CDTF">2026-09-26T21:40:35Z</dcterms:created>
  <dcterms:modified xsi:type="dcterms:W3CDTF">2026-09-26T21:40:35Z</dcterms:modified>
</cp:coreProperties>
</file>