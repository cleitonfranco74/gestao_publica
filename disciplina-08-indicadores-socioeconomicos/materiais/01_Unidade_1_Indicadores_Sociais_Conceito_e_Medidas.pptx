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zero-claude/d7e33190-c541-582c-a7cc-1156817732ce/scratchpad/deck/assets/brasa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402336"/>
            <a:ext cx="1243584" cy="1325880"/>
          </a:xfrm>
          <a:prstGeom prst="rect">
            <a:avLst/>
          </a:prstGeom>
        </p:spPr>
      </p:pic>
      <p:pic>
        <p:nvPicPr>
          <p:cNvPr id="3" name="Image 1" descr="/tmp/claude-0/-home-user-zero-claude/d7e33190-c541-582c-a7cc-1156817732ce/scratchpad/deck/assets/unem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2848" y="548640"/>
            <a:ext cx="2743200" cy="1060704"/>
          </a:xfrm>
          <a:prstGeom prst="rect">
            <a:avLst/>
          </a:prstGeom>
        </p:spPr>
      </p:pic>
      <p:pic>
        <p:nvPicPr>
          <p:cNvPr id="4" name="Image 2" descr="/tmp/claude-0/-home-user-zero-claude/d7e33190-c541-582c-a7cc-1156817732ce/scratchpad/deck/assets/dead_apr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576072"/>
            <a:ext cx="3063240" cy="101041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188720" y="1810512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</a:t>
            </a:r>
            <a:endParaRPr lang="en-US" sz="2000" dirty="0"/>
          </a:p>
        </p:txBody>
      </p:sp>
      <p:sp>
        <p:nvSpPr>
          <p:cNvPr id="6" name="Text 1"/>
          <p:cNvSpPr txBox="1"/>
          <p:nvPr/>
        </p:nvSpPr>
        <p:spPr>
          <a:xfrm>
            <a:off x="1188720" y="2157984"/>
            <a:ext cx="7223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na Gestão Pública</a:t>
            </a:r>
            <a:endParaRPr lang="en-US" sz="3600" dirty="0"/>
          </a:p>
        </p:txBody>
      </p:sp>
      <p:sp>
        <p:nvSpPr>
          <p:cNvPr id="7" name="Text 2"/>
          <p:cNvSpPr txBox="1"/>
          <p:nvPr/>
        </p:nvSpPr>
        <p:spPr>
          <a:xfrm>
            <a:off x="1188720" y="3236976"/>
            <a:ext cx="7223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1 · Indicadores sociais: do conceito às medidas</a:t>
            </a:r>
            <a:endParaRPr lang="en-US" sz="1900" dirty="0"/>
          </a:p>
        </p:txBody>
      </p:sp>
      <p:sp>
        <p:nvSpPr>
          <p:cNvPr id="8" name="Text 3"/>
          <p:cNvSpPr txBox="1"/>
          <p:nvPr/>
        </p:nvSpPr>
        <p:spPr>
          <a:xfrm>
            <a:off x="1243584" y="3785616"/>
            <a:ext cx="4937760" cy="420624"/>
          </a:xfrm>
          <a:prstGeom prst="roundRect">
            <a:avLst>
              <a:gd name="adj" fmla="val 21739"/>
            </a:avLst>
          </a:prstGeom>
          <a:solidFill>
            <a:srgbClr val="E9C85C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 · UAB · Turma ____ · Prof. Dr. Cleiton Franco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na Gestão Pública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969264"/>
            <a:ext cx="6400800" cy="402336"/>
          </a:xfrm>
          <a:prstGeom prst="roundRect">
            <a:avLst>
              <a:gd name="adj" fmla="val 22727"/>
            </a:avLst>
          </a:prstGeom>
          <a:solidFill>
            <a:srgbClr val="2A8C85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1 · Indicadores sociais: do conceito às medidas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GraduationC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37944"/>
            <a:ext cx="292608" cy="2926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44752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 (Lato Sensu)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645152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09744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UserT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9472" y="1837944"/>
            <a:ext cx="292608" cy="29260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49824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 Regente: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Dr. Cleiton Franco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40080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04672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CalendarAl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825496"/>
            <a:ext cx="292608" cy="29260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44752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Turma &amp; Semestre: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 · a definir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4645152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09744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Clo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9472" y="2825496"/>
            <a:ext cx="292608" cy="29260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449824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Período da unidade: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1 (__/__ a __/__)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3547872"/>
            <a:ext cx="7863840" cy="676656"/>
          </a:xfrm>
          <a:prstGeom prst="roundRect">
            <a:avLst>
              <a:gd name="adj" fmla="val 8108"/>
            </a:avLst>
          </a:prstGeom>
          <a:solidFill>
            <a:srgbClr val="EAF3F1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Videoaula 1 · Leitura: JANNUZZI (2014) e JANNUZZI (2001)</a:t>
            </a:r>
            <a:endParaRPr lang="en-US" sz="15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de conteúdos: Unidades 1 e 2 · Fóruns de apresentação e temático 1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breve caracterização histórica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6974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e como passamos a medir a realidade social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medir?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188720"/>
            <a:ext cx="7498080" cy="914400"/>
          </a:xfrm>
          <a:prstGeom prst="roundRect">
            <a:avLst>
              <a:gd name="adj" fmla="val 8000"/>
            </a:avLst>
          </a:prstGeom>
          <a:solidFill>
            <a:srgbClr val="FBF4DC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i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</a:t>
            </a:r>
            <a:pPr algn="l" indent="0" marL="0">
              <a:lnSpc>
                <a:spcPct val="100000"/>
              </a:lnSpc>
              <a:buNone/>
            </a:pPr>
            <a:r>
              <a:rPr lang="en-US" sz="1800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informação, o gestor decide às cegas: não sabe quem precisa, quanto precisa e se a política funcionou.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85800" y="2286000"/>
            <a:ext cx="1819656" cy="1353312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4414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Sear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254203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2359152"/>
            <a:ext cx="1042416" cy="12070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Diagnosticar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Conhecer os problemas e quem é mais afetado.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2670048" y="2286000"/>
            <a:ext cx="1819656" cy="1353312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807208" y="24414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Bullsey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7792" y="254203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355848" y="2359152"/>
            <a:ext cx="1042416" cy="12070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Planejar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 prioridades, metas e recursos.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4654296" y="2286000"/>
            <a:ext cx="1819656" cy="1353312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791456" y="24414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Task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254203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340096" y="2359152"/>
            <a:ext cx="1042416" cy="12070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Monitorar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Acompanhar a execução das ações.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6638544" y="2286000"/>
            <a:ext cx="1819656" cy="1353312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775704" y="24414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CheckDoubl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76288" y="2542032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324344" y="2359152"/>
            <a:ext cx="1042416" cy="12070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Avaliar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Verificar resultados e impactos.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685800" y="3767328"/>
            <a:ext cx="7772400" cy="658368"/>
          </a:xfrm>
          <a:prstGeom prst="roundRect">
            <a:avLst>
              <a:gd name="adj" fmla="val 11111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também servem ao controle social: a população pode cobrar metas com base em dados públicos.</a:t>
            </a:r>
            <a:endParaRPr lang="en-US" sz="1350" dirty="0"/>
          </a:p>
        </p:txBody>
      </p:sp>
      <p:sp>
        <p:nvSpPr>
          <p:cNvPr id="21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breve história dos indicadores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88720"/>
            <a:ext cx="2456688" cy="1499616"/>
          </a:xfrm>
          <a:prstGeom prst="roundRect">
            <a:avLst>
              <a:gd name="adj" fmla="val 365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SÉC. XIX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Estatísticas oficiais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Censos e registros de Estado. No Brasil, o 1º censo é de 1872; o IBGE surge em 1936.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343656" y="1188720"/>
            <a:ext cx="2456688" cy="1499616"/>
          </a:xfrm>
          <a:prstGeom prst="roundRect">
            <a:avLst>
              <a:gd name="adj" fmla="val 365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1930–1950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Contas nacionais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PIB se torna a principal medida do desempenho das economias.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001512" y="1188720"/>
            <a:ext cx="2456688" cy="1499616"/>
          </a:xfrm>
          <a:prstGeom prst="roundRect">
            <a:avLst>
              <a:gd name="adj" fmla="val 365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ANOS 1960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Movimento dos indicadores sociais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Crescer não bastava: era preciso medir saúde, educação e condições de vida.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834640"/>
            <a:ext cx="2456688" cy="1499616"/>
          </a:xfrm>
          <a:prstGeom prst="roundRect">
            <a:avLst>
              <a:gd name="adj" fmla="val 365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1990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IDH (PNUD)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que combina saúde, educação e renda.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3343656" y="2834640"/>
            <a:ext cx="2456688" cy="1499616"/>
          </a:xfrm>
          <a:prstGeom prst="roundRect">
            <a:avLst>
              <a:gd name="adj" fmla="val 365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2000–2015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ODM e ODS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Metas globais: Agenda 2030 com 17 objetivos.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001512" y="2834640"/>
            <a:ext cx="2456688" cy="1499616"/>
          </a:xfrm>
          <a:prstGeom prst="roundRect">
            <a:avLst>
              <a:gd name="adj" fmla="val 365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abertos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Portais públicos e registros administrativos digitais.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PIB não mede tudo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88720"/>
            <a:ext cx="379476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PIB MOSTRA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valor da produção de bens e serviços finais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ritmo de crescimento da economia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renda média por habitante (PIB per capita)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663440" y="1188720"/>
            <a:ext cx="3794760" cy="1920240"/>
          </a:xfrm>
          <a:prstGeom prst="roundRect">
            <a:avLst>
              <a:gd name="adj" fmla="val 2857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PIB ESCONDE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 renda se distribui (desigualdade)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Acesso a saúde, educação e saneamento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Custos ambientais e trabalho não pago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85800" y="3246120"/>
            <a:ext cx="7772400" cy="1170432"/>
          </a:xfrm>
          <a:prstGeom prst="roundRect">
            <a:avLst>
              <a:gd name="adj" fmla="val 6250"/>
            </a:avLst>
          </a:prstGeom>
          <a:solidFill>
            <a:srgbClr val="FBF4DC"/>
          </a:solidFill>
          <a:ln/>
        </p:spPr>
      </p:sp>
      <p:sp>
        <p:nvSpPr>
          <p:cNvPr id="6" name="Shape 4"/>
          <p:cNvSpPr/>
          <p:nvPr/>
        </p:nvSpPr>
        <p:spPr>
          <a:xfrm>
            <a:off x="850392" y="341071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7" name="Image 0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3511296"/>
            <a:ext cx="256032" cy="25603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417320" y="3355848"/>
            <a:ext cx="6903720" cy="9509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PIB per capita alto, pobreza alta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município pode ter PIB per capita elevado por causa do agronegócio e, ainda assim, muitas famílias pobres.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sociais: do conceito às medidas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97180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Conceito, cálculo, propriedades e classificações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um indicador social?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Conceito segundo Paulo Jannuzzi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188720"/>
            <a:ext cx="7498080" cy="1143000"/>
          </a:xfrm>
          <a:prstGeom prst="roundRect">
            <a:avLst>
              <a:gd name="adj" fmla="val 6400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medida, em geral quantitativa, dotada de significado social, usada para substituir, quantificar ou operacionalizar um conceito social abstrato, de interesse teórico ou programático.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560320"/>
            <a:ext cx="374904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Conceito abstrato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Pobreza, desenvolvimento, qualidade da educação: ideias que não se observam diretamente.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4709160" y="2560320"/>
            <a:ext cx="374904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Medida observável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Renda per capita, taxa de analfabetismo, IDEB: números que representam o conceito.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conceito ao indicador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Exemplo: pobreza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80160"/>
            <a:ext cx="1819656" cy="2011680"/>
          </a:xfrm>
          <a:prstGeom prst="roundRect">
            <a:avLst>
              <a:gd name="adj" fmla="val 3015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24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Conceito</a:t>
            </a:r>
            <a:endParaRPr lang="en-US" sz="2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Pobreza: privação de condições básicas de vida.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2670048" y="1280160"/>
            <a:ext cx="1819656" cy="2011680"/>
          </a:xfrm>
          <a:prstGeom prst="roundRect">
            <a:avLst>
              <a:gd name="adj" fmla="val 3015"/>
            </a:avLst>
          </a:prstGeom>
          <a:solidFill>
            <a:srgbClr val="E6F2F0"/>
          </a:solidFill>
          <a:ln/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24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Dimensões</a:t>
            </a:r>
            <a:endParaRPr lang="en-US" sz="2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Renda, moradia, acesso a água e esgoto, educação.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4654296" y="1280160"/>
            <a:ext cx="1819656" cy="2011680"/>
          </a:xfrm>
          <a:prstGeom prst="roundRect">
            <a:avLst>
              <a:gd name="adj" fmla="val 3015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24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</a:t>
            </a:r>
            <a:endParaRPr lang="en-US" sz="2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Censo, PNAD Contínua, CadÚnico.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638544" y="1280160"/>
            <a:ext cx="1819656" cy="2011680"/>
          </a:xfrm>
          <a:prstGeom prst="roundRect">
            <a:avLst>
              <a:gd name="adj" fmla="val 3015"/>
            </a:avLst>
          </a:prstGeom>
          <a:solidFill>
            <a:srgbClr val="E6F2F0"/>
          </a:solidFill>
          <a:ln/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24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</a:t>
            </a:r>
            <a:endParaRPr lang="en-US" sz="2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de pessoas com renda per capita abaixo de uma linha de pobreza.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520440"/>
            <a:ext cx="7772400" cy="731520"/>
          </a:xfrm>
          <a:prstGeom prst="roundRect">
            <a:avLst>
              <a:gd name="adj" fmla="val 10000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escolha das dimensões e da linha de corte muda o resultado: todo indicador envolve decisões metodológicas.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Dado, indicador e índice sintético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80160"/>
            <a:ext cx="2456688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 BRUTO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óbitos de bebês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Contagem simples. Não permite comparar municípios de tamanhos diferentes.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343656" y="1280160"/>
            <a:ext cx="2456688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por mil nascidos vivos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de mortalidade infantil: relaciona o dado a uma base comparável.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001512" y="1280160"/>
            <a:ext cx="2456688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SINTÉTICO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IDHM 0,72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 vários indicadores (saúde, educação e renda) em um único número.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429000"/>
            <a:ext cx="7772400" cy="731520"/>
          </a:xfrm>
          <a:prstGeom prst="roundRect">
            <a:avLst>
              <a:gd name="adj" fmla="val 10000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Números hipotéticos, para ilustração.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se calcula: taxas, proporções e razões</a:t>
            </a:r>
            <a:endParaRPr lang="en-US" sz="2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88720"/>
          <a:ext cx="77724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200400"/>
                <a:gridCol w="25603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Exemplo (dados hipotéticos)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Resultado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Mortalidade infantil: 18 óbitos &lt; 1 ano ÷ 1.200 nascidos vivos × 1.000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por mil nascidos vivos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Proporção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Analfabetismo: 900 analfabetos ÷ 9.000 pessoas de 15 anos ou mais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Razão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Médicos por habitante: 24 médicos ÷ 12.000 habitantes × 1.000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médicos por mil habitantes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Número-índice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do ano ÷ valor do ano-base × 100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= 100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85800" y="3611880"/>
            <a:ext cx="7772400" cy="658368"/>
          </a:xfrm>
          <a:prstGeom prst="roundRect">
            <a:avLst>
              <a:gd name="adj" fmla="val 11111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Sempre verifique numerador, denominador e unidade: “por mil”, “por cem mil” ou “%”.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Propriedades de um bom indicador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88720"/>
            <a:ext cx="2456688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Relevância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 a uma questão importante da agenda pública.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3343656" y="1188720"/>
            <a:ext cx="2456688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Validade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Mede de fato o conceito que se quer medir.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001512" y="1188720"/>
            <a:ext cx="2456688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Confiabilidade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de boa qualidade, coletados com método consistente.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450592"/>
            <a:ext cx="2456688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Sensibilidade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 as mudanças produzidas pela política.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3343656" y="2450592"/>
            <a:ext cx="2456688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Especificidade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Reflete o fenômeno de interesse, e não outros.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001512" y="2450592"/>
            <a:ext cx="2456688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Desagregabilidade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 ser calculado por bairro, sexo, idade, cor/raça.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675888"/>
            <a:ext cx="7772400" cy="694944"/>
          </a:xfrm>
          <a:prstGeom prst="roundRect">
            <a:avLst>
              <a:gd name="adj" fmla="val 10526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Também importam: periodicidade, comunicabilidade, factibilidade (custo) e historicidade (série no tempo).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Classificações dos indicadores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88720"/>
          <a:ext cx="77724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394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Critério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Tipos e exemplos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Natureza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Objetivos (taxa de matrícula) × subjetivos (satisfação com o posto de saúde)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Complexidade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Simples (taxa de analfabetismo) × sintéticos ou compostos (IDH, IDEB)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Fluxo da política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Insumo (recursos) · processo (ações) · resultado (metas) · impacto (mudança na população)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Descritivos (retratam a realidade) × normativos (comparam com um padrão desejado)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685800" y="3310128"/>
            <a:ext cx="7772400" cy="1097280"/>
          </a:xfrm>
          <a:prstGeom prst="roundRect">
            <a:avLst>
              <a:gd name="adj" fmla="val 6667"/>
            </a:avLst>
          </a:prstGeom>
          <a:solidFill>
            <a:srgbClr val="FBF4DC"/>
          </a:solidFill>
          <a:ln/>
        </p:spPr>
      </p:sp>
      <p:sp>
        <p:nvSpPr>
          <p:cNvPr id="5" name="Shape 2"/>
          <p:cNvSpPr/>
          <p:nvPr/>
        </p:nvSpPr>
        <p:spPr>
          <a:xfrm>
            <a:off x="850392" y="34747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6" name="Image 0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3575304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17320" y="3419856"/>
            <a:ext cx="6903720" cy="8778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 materno-infantil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Insumo: médicos por mil habitantes · Processo: consultas de pré-natal realizadas · Resultado: gestantes com 7+ consultas · Impacto: queda da mortalidade infantil.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sintéticos: IDH e IDHM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85800" y="1188720"/>
            <a:ext cx="2456688" cy="1353312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5" name="Image 0" descr="/tmp/claude-0/-home-user-zero-claude/d7e33190-c541-582c-a7cc-1156817732ce/scratchpad/deck/assets/icon_FaHeartbe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447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261872"/>
            <a:ext cx="1679448" cy="12070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Longevidade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Esperança de vida ao nascer.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343656" y="1188720"/>
            <a:ext cx="2456688" cy="1353312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480816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9" name="Image 1" descr="/tmp/claude-0/-home-user-zero-claude/d7e33190-c541-582c-a7cc-1156817732ce/scratchpad/deck/assets/icon_FaBookOp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144475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029456" y="1261872"/>
            <a:ext cx="1679448" cy="12070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Educação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Escolaridade da população adulta e fluxo escolar dos jovens.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6001512" y="1188720"/>
            <a:ext cx="2456688" cy="1353312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138672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3" name="Image 2" descr="/tmp/claude-0/-home-user-zero-claude/d7e33190-c541-582c-a7cc-1156817732ce/scratchpad/deck/assets/icon_FaCoin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1444752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687312" y="1261872"/>
            <a:ext cx="1679448" cy="12070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Renda per capita.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685800" y="2697480"/>
            <a:ext cx="3794760" cy="164592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VANTAGENS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 o desenvolvimento em um número de 0 a 1.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Facilita comparar municípios e acompanhar a evolução.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4663440" y="2697480"/>
            <a:ext cx="3794760" cy="1645920"/>
          </a:xfrm>
          <a:prstGeom prst="roundRect">
            <a:avLst>
              <a:gd name="adj" fmla="val 333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Esconde desigualdades internas e entre dimensões.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Pesos e componentes são escolhas metodológicas.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da Unidade 1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e prazos da unidade (todas as entregas até 23h55)</a:t>
            </a:r>
            <a:endParaRPr lang="en-US" sz="1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325880"/>
          <a:ext cx="749808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5806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Atividade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Semana 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Videoaula de apresentação e Videoaula 1; leitura de Jannuzzi (2014)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__/__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Fórum de apresentação: diga qual município vai acompanhar na disciplina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__/__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Fórum temático 1: escolha um indicador do seu município e analise duas propriedades dele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22960" y="3840480"/>
            <a:ext cx="7498080" cy="548640"/>
          </a:xfrm>
          <a:prstGeom prst="roundRect">
            <a:avLst>
              <a:gd name="adj" fmla="val 1333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unidade: indicadores e diagnósticos socioeconômicos.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69080" y="1097280"/>
            <a:ext cx="1005840" cy="1005840"/>
          </a:xfrm>
          <a:prstGeom prst="roundRect">
            <a:avLst>
              <a:gd name="adj" fmla="val 18182"/>
            </a:avLst>
          </a:prstGeom>
          <a:solidFill>
            <a:srgbClr val="2A8C85"/>
          </a:solidFill>
          <a:ln/>
        </p:spPr>
      </p:sp>
      <p:pic>
        <p:nvPicPr>
          <p:cNvPr id="3" name="Image 0" descr="/tmp/claude-0/-home-user-zero-claude/d7e33190-c541-582c-a7cc-1156817732ce/scratchpad/deck/assets/icon_FaQues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32588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2402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1188720" y="292608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perguntas para revisar a unidade. Pause o vídeo, escolha sua resposta e confira no slide seguinte.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1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movimento dos indicadores sociais, nos anos 1960, criticava?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existência dos censos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Medir o bem-estar apenas pelo PIB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uso de taxas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criação do IBGE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1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movimento dos indicadores sociais, nos anos 1960, criticava?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existência dos censos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Medir o bem-estar apenas pelo PIB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uso de taxas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criação do IBGE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b)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crescimento do PIB não garantia melhores condições de vida; era preciso medir diretamente saúde, educação e moradia.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2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18 óbitos de menores de 1 ano e 1.200 nascidos vivos, a taxa de mortalidade infantil é: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 por mil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por mil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por mil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 por mil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2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18 óbitos de menores de 1 ano e 1.200 nascidos vivos, a taxa de mortalidade infantil é: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 por mil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por mil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por mil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 por mil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c)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÷ 1.200 × 1.000 = 15 óbitos por mil nascidos vivos.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3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indicador que mede de fato o conceito que pretende medir tem: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Periodicidade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Comunicabilidade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Historicidade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3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indicador que mede de fato o conceito que pretende medir tem: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Periodicidade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Comunicabilidade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Historicidade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a)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Validade é a correspondência entre a medida e o conceito.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4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IDHM é um exemplo de indicador: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Subjetivo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insumo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Sintético (composto)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4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IDHM é um exemplo de indicador: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Subjetivo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insumo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Sintético (composto)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d)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 longevidade, educação e renda em um único índice.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5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número de consultas de pré-natal realizadas é um indicador de: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Insumo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5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número de consultas de pré-natal realizadas é um indicador de: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Insumo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b)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Mede a execução das ações do programa (processo). O impacto seria a queda da mortalidade infantil.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1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UNEMAT / DEAD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Indicadores Socioeconômicos na Gestão Pública – Unidade 1: Indicadores sociais: do conceito às medidas</dc:title>
  <dc:subject>PptxGenJS Presentation</dc:subject>
  <dc:creator>Prof. Dr. Cleiton Franco</dc:creator>
  <cp:lastModifiedBy>Prof. Dr. Cleiton Franco</cp:lastModifiedBy>
  <cp:revision>1</cp:revision>
  <dcterms:created xsi:type="dcterms:W3CDTF">2026-09-26T16:46:08Z</dcterms:created>
  <dcterms:modified xsi:type="dcterms:W3CDTF">2026-09-26T16:46:08Z</dcterms:modified>
</cp:coreProperties>
</file>