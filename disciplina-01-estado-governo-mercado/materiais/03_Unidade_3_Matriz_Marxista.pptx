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Trabalho necessário (salário)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Jornada de 8 h</c:v>
                  </c:pt>
                  <c:pt idx="1">
                    <c:v>Absoluta: 10 h</c:v>
                  </c:pt>
                  <c:pt idx="2">
                    <c:v>Relativa: 8 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4</c:v>
                </c:pt>
                <c:pt idx="2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Trabalho excedente (mais-valia)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Jornada de 8 h</c:v>
                  </c:pt>
                  <c:pt idx="1">
                    <c:v>Absoluta: 10 h</c:v>
                  </c:pt>
                  <c:pt idx="2">
                    <c:v>Relativa: 8 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05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Chegamos à Unidade 3: a matriz marxista e as mudanças do capitalismo no final do século XIX. Se a matriz liberal vê o mercado como eficiente e natural, a matriz marxista faz uma crítica profunda ao capitalismo e ao papel do Estado. Conhecer as duas é essencial para analisar qualquer política pública com mais de um olhar.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unidade vai de 26 de outubro a 1º de novembro. A leitura é o livro de Coelho, nas partes sobre a matriz marxista e as mudanças do século XIX, junto com os tópicos 5 e 6 do sumário da página de conteúdos. E atenção: hoje, segunda-feira, 26 de outubro, às 19h, temos o nosso encontro síncrono, o único da disciplina. A presença conta para a frequência.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1, que corresponde ao tópico 5 do sumário: a matriz marxista. Karl Marx e Friedrich Engels analisaram o capitalismo como um modo de produção histórico, que teve um começo e que, para eles, poderia ter um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foram eles? Karl Marx, que viveu de 1818 a 1883, foi um filósofo e economista alemão, autor de O Capital, de 1867. Friedrich Engels, de 1820 a 1895, foi o seu parceiro intelectual e coautor do Manifesto Comunista, de 1848. O ponto interessante é que os dois partem da mesma economia política clássica de Smith e Ricardo, para quem o valor vem do trabalho. Mas chegam a conclusões opostas: o capitalismo não é natural nem eterno; é um modo de produção histórico, marcado pela exploração e pelo conflito de classes.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conceitos organizam a matriz marxista. O materialismo histórico: a base econômica condiciona a superestrutura jurídica, política e ideológica. A luta de classes: de um lado, a burguesia, dona dos meios de produção; do outro, o proletariado, que só tem a sua força de trabalho. A mais-valia: o valor que o trabalhador produz além do seu salário, fonte do lucro. E as crises, de superprodução e de concentração do capital. Como diz o Manifesto Comunista, de 1848: “A história de todas as sociedades até hoje existentes é a história das lutas de classes.”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entender o modo de produção. Na base, ou infraestrutura, estão as forças produtivas, isto é, o trabalho, as máquinas e as técnicas, e as relações de produção, que definem quem é dono dos meios de produção. Sobre essa base se ergue a superestrutura: o Estado, o Direito, a política, a religião e as ideologias. Para Marx, a história conhece vários modos de produção, como o escravista, o feudal e o capitalista, e cada um tem as suas classes e o seu tipo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Vejamos a mais-valia com um exemplo. Numa jornada de 8 horas, suponha que nas primeiras 4 o trabalhador produza um valor igual ao seu salário: é o trabalho necessário. O valor produzido nas outras 4 horas, o trabalho excedente, fica com o capitalista: é a mais-valia, que para Marx é a fonte do lucro. Marx distingue duas formas de aumentá-la. A mais-valia absoluta vem de prolongar a jornada. A relativa vem de elevar a produtividade, reduzindo o tempo necessário para produzir o valor do salário.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as duas formas lado a lado. [Apontar para cada coluna.] Na primeira coluna, o ponto de partida: 4 horas pagam o salário e 4 geram mais-valia. Na segunda, a mais-valia absoluta: a jornada sobe para 10 horas, o trabalho necessário continua em 4 e o excedente sobe para 6. Na terceira, a relativa: a jornada continua em 8 horas, mas, com mais produtividade, o salário é produzido em 3 horas e o excedente sobe para 5. Isso ajuda a entender por que a luta pela redução da jornada foi tão central no movimento operário.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o Estado, nessa visão? O Manifesto afirma que o executivo do Estado moderno não passa de um comitê para gerir os negócios comuns de toda a burguesia. Ou seja, o Estado não é neutro: ele expressa a dominação de classe. Para Marx e Engels, a superação do capitalismo passaria por uma fase de transição, o socialismo, com a socialização dos meios de produção e a ditadura do proletariado, até chegar ao comunismo: uma sociedade sem classes, em que o Estado se extingue.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Engels, em A origem da família, da propriedade privada e do Estado, de 1884, explica de onde vem o Estado em três passos. Primeiro: nas comunidades primitivas, sem classes, não havia Estado. Segundo: com o excedente e a propriedade privada, surgem classes com interesses opostos. Terceiro: surge o Estado, um poder que parece estar acima da sociedade, mas que garante a dominação da classe proprietária. Compare com o liberalismo: para os liberais, o Estado protege os direitos de todos; para os marxistas, protege sobretudo os interesses da classe dominante.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quadro resume as duas matrizes. Sobre o mercado: para os liberais, é eficiente e natural; para os marxistas, é lugar de exploração e de crises. Sobre o Estado: para os liberais, garante direitos e deve ser limitado; para os marxistas, é instrumento de dominação de classe. Quanto ao foco, o liberalismo olha para o indivíduo livre e proprietário; o marxismo, para as classes sociais e o seu conflito. A propriedade privada é direito natural e base da liberdade para os liberais; para os marxistas, é a base da exploração e deve ser socializada. E o horizonte: aperfeiçoar o capitalismo, de um lado, ou superá-lo, do outro. Este quadro é uma ótima ferramenta de revisão para a A2 e a A3.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aplicar as duas matrizes a uma política concreta: o aumento real do salário mínimo. A leitura liberal se preocupa com os custos: se o salário crescer acima da produtividade, pode haver menos contratações e mais informalidade, e o ideal seria o mercado definir os salários. A leitura marxista vê uma conquista da luta dos trabalhadores, que reduz a exploração e a desigualdade, embora não supere o capitalismo. As duas olham para a mesma política e chegam a avaliações diferentes. É exatamente isso que o fórum temático 2 vai pedir de você.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2, que corresponde ao tópico 6 do sumário: as mudanças do final do século XIX. O capitalismo mudou muito entre 1870 e 1900, e essas mudanças abalaram tanto a matriz liberal quanto a marxista.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mudou? A Segunda Revolução Industrial trouxe o aço, a eletricidade, a química e o petróleo. Houve concentração: grandes empresas, trustes e cartéis. Surgiu o capital financeiro, com a fusão entre bancos e indústria. Os trabalhadores se organizaram em sindicatos e partidos operários. O direito de voto foi ampliado. E surgiram os primeiros seguros sociais, na Alemanha de Bismarck, na década de 1880. O capitalismo de pequenas empresas em livre concorrência, imaginado pelos clássicos, já não correspondia à realidade.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seguros sociais merecem destaque. Na Alemanha, em 1883, surge o seguro-doença obrigatório para os trabalhadores da indústria; em 1884, o seguro contra acidentes de trabalho; e em 1889, o seguro de invalidez e velhice. No Brasil, o marco é a Lei Eloy Chaves, de 1923, que criou as caixas de aposentadoria dos ferroviários, e depois a CLT, em 1943. Com isso, o Estado passa a proteger o trabalhador. É o começo da transição do Estado liberal para o Estado social.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Essas mudanças tiveram impacto nas duas matrizes. Na liberal, surge o liberalismo social. Os monopólios desmentem a ideia de concorrência perfeita, e vêm as leis antitruste, como o Sherman Act, nos Estados Unidos, em 1890. Esse liberalismo aceita alguma intervenção do Estado para garantir oportunidades, como defendia John Stuart Mill, com reformas sociais e educação. E aparecem as primeiras políticas sociais, com os seguros de Bismarck. Na matriz marxista, abre-se o debate entre reforma e revolução. O revisionismo de Bernstein diz que o socialismo poderia vir por reformas graduais e pela via eleitoral, sem revolução. A via revolucionária de Lênin diz que o capitalismo tinha chegado à fase do imperialismo, tema da obra de 1916, e que só a revolução, conduzida por um partido de vanguarda, levaria ao socialismo.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comparar esses dois caminhos. Eduard Bernstein, em Socialismo evolucionário, de 1899, aposta em reformas graduais, eleições e sindicatos, e vê o Estado como algo que pode ser usado para reformas sociais. Vladimir Lênin, em O Estado e a Revolução, de 1917, defende a revolução conduzida por um partido de vanguarda e um Estado que deve ser destruído e substituído. As heranças são diferentes: de Bernstein vem a social-democracia europeia; de Lênin, a Revolução Russa e o Estado soviético. A via social-democrata ajudou a construir o Estado de bem-estar; a revolucionária, o Estado socialista, que estudaremos na Unidade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Atividades da Unidade 3. A partir de 26 de outubro, videoaula e leitura. No próprio dia 26 de outubro, segunda-feira, das 19h às 20h30, teremos o encontro síncrono pelo Google Meet, o único da disciplina, com revisão das Unidades 1 e 2, a abertura desta unidade e orientações para a A2 e a A3. Traga as suas dúvidas! E até 1º de novembro, participe do fórum temático 2: como um liberal e um marxista avaliariam uma mesma política pública? Na próxima unidade, os modelos de Estado do século XX e o Estado brasileiro. E, para revisar, faça o quiz da Unidade 3 na página de conteúdos da disciplina: cinco perguntas com resposta comentada, sem nota.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 a Unidade 3, vamos recapitular. [Apontar para o quadro da esquerda.] No tópico 5, vimos que, para Marx e Engels, o capitalismo é um modo de produção histórico. Estudamos o materialismo histórico, a luta de classes e a mais-valia, absoluta e relativa, e a visão do Estado como instrumento de dominação de classe, com a transição ao socialismo e ao comunismo. Também comparamos as leituras liberal e marxista de uma mesma política. [Apontar para o quadro da direita.] No tópico 6, vimos as mudanças do final do século XIX: a Segunda Revolução Industrial, a concentração e o capital financeiro, os trabalhadores organizados e o voto ampliado, e os primeiros seguros sociais, na Alemanha de Bismarck e, no Brasil, com a Lei Eloy Chaves e a CLT. Essas mudanças produziram o liberalismo social, as leis antitruste e o debate entre reforma, com Bernstein, e revolução, com Lênin. Na próxima unidade, os modelos de Estado do século XX e o Estado brasileiro. Até a próxima videoaula!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Slide-8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A matriz marxista e as mudanças do século XIX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A matriz marxista e as mudanças do século XIX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26/10 a 01/11/2026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3 · Leitura: COELHO (2014), matriz marxista e mudanças do séc. XIX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5 e 6 do sumário · Encontro síncrono: 26/10, 19h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5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capitalismo, classes e Estado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a crítica ao capitalismo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1818–1883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Filósofo e economista alemão. Obra central: O Capital (1867).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1820–1895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Friedrich Engels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 intelectual de Marx e coautor do Manifesto Comunista (1848).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2606040"/>
            <a:ext cx="7772400" cy="1691640"/>
          </a:xfrm>
          <a:prstGeom prst="roundRect">
            <a:avLst>
              <a:gd name="adj" fmla="val 324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ponto de partida, conclusões opostas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Partem da economia política clássica de Smith e Ricardo, para quem o valor vem do trabalho.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Concluem que o capitalismo não é natural nem eterno: é um modo de produção histórico, marcado pela exploração e pelo conflito de classes.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marxista: conceitos centrais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o capitalismo como modo de produção histórico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Materialismo histórico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econômica condiciona a superestrutura jurídica, política e ideológica.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709160" y="123444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Luta de classes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Burguesia (meios de produção) × proletariado (força de trabalho).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produzido pelo trabalhador além do salário: fonte do lucro.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228600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Superprodução e concentração do capital.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7498080" cy="960120"/>
          </a:xfrm>
          <a:prstGeom prst="roundRect">
            <a:avLst>
              <a:gd name="adj" fmla="val 7619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de todas as sociedades até hoje existentes é a história das lutas de classes. (Manifesto Comunista, 1848)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de produção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base econômica se relaciona com o Estado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4754880" cy="1188720"/>
          </a:xfrm>
          <a:prstGeom prst="roundRect">
            <a:avLst>
              <a:gd name="adj" fmla="val 461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SUPERESTRUTURA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Direito, política, religião e ideologias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651760" y="23957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▼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475488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(INFRAESTRUTURA)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Forças produtivas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trabalho, máquinas, técnicas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Relações de produção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é dono dos meios de produção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1188720"/>
            <a:ext cx="2788920" cy="3063240"/>
          </a:xfrm>
          <a:prstGeom prst="roundRect">
            <a:avLst>
              <a:gd name="adj" fmla="val 1967"/>
            </a:avLst>
          </a:prstGeom>
          <a:solidFill>
            <a:srgbClr val="FBF4DC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Modos de produção na história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Escravista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Feudal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Capitalista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tem suas classes e seu tipo de Estado.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Mais-valia: um exemplo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que, para Marx, o lucro vem do trabalho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2A8C8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0" y="1325880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13294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37490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h: trabalho necessário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325880"/>
            <a:ext cx="37490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h: trabalho excedente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116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de 8 horas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necessário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primeiras 4 horas, o trabalhador produz um valor igual ao seu salário.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389376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produzido nas outras 4 horas fica com o capitalista: é a fonte do lucro.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55792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 × relativa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Absoluta: prolongar a jornada. Relativa: elevar a produtividade e reduzir o trabalho necessário.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 absoluta e relativa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da jornada de trabalho, em horas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de trabalho necessário e excedente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partida: 4 h pagam o salário e 4 h geram mais-valia.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Absoluta: a jornada sobe para 10 h e o excedente, para 6 h.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Relativa: com mais produtividade, o salário é produzido em 3 h e o excedente sobe para 5 h.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didático baseado em Marx, O Capital (1867).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na visão marxista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7498080" cy="1005840"/>
          </a:xfrm>
          <a:prstGeom prst="roundRect">
            <a:avLst>
              <a:gd name="adj" fmla="val 7273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8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executivo do Estado moderno não passa de um comitê para gerir os negócios comuns de toda a burguesia.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85800" y="246888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624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C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724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254203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Socialismo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Transição: socialização dos meios de produção e ditadura do proletariado.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246888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2624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Dov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724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254203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Comunismo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 sem classes, na qual o Estado se extingue.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Engels: a origem do Estado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origem da família, da propriedade privada e do Estado (1884)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Sociedades sem classes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comunidades primitivas não havia Estado.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 e classes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excedente e a propriedade privada, surgem classes com interesses opostos.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 o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poder que parece estar acima da sociedade, mas garante a dominação da classe proprietária.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47472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liberalismo, o Estado protege direitos de todos; para o marxismo, protege sobretudo os interesses da classe dominante.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 × marxista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duas matrizes teóricas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liberal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marxista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 eficiente e natural de coordenação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Espaço de exploração e fonte de crises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Garantidor de direitos e contratos; deve ser limitado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Instrumento de dominação da classe dominante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Indivíduo / classe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no indivíduo livre e proprietário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nas classes sociais e em seu conflito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Propriedade privada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Direito natural, base da liberdade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da exploração, deve ser socializada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Aperfeiçoar o capitalismo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Superar o capitalismo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mesma política, duas leituras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005840"/>
          </a:xfrm>
          <a:prstGeom prst="roundRect">
            <a:avLst>
              <a:gd name="adj" fmla="val 7273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7863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real do salário mínimo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 duas matrizes analisariam essa política?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31720"/>
            <a:ext cx="379476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Preocupa-se com os custos: se o salário superar a produtividade, pode haver menos contratações e mais informalidade. Prefere que o mercado defina salários.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2331720"/>
            <a:ext cx="3794760" cy="2011680"/>
          </a:xfrm>
          <a:prstGeom prst="roundRect">
            <a:avLst>
              <a:gd name="adj" fmla="val 272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MARXISTA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Vê uma conquista da luta dos trabalhadores, que reduz a exploração e a desigualdade, embora não supere o capitalismo.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6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mudanças do final do século XIX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novo capitalismo e seus impactos sobre as duas matrizes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novo capitalismo no final do século XIX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Revolução Industrial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Aço, eletricidade, química e petróleo.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3343656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Build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empresas, trustes e cartéis.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6001512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4475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financeiro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Fusão entre bancos e indústria.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685800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FistRais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Trabalhadores organizados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Sindicatos e partidos operários.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3343656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480816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1" name="Image 4" descr="/tmp/claude-0/-home-user-zero-claude/d7e33190-c541-582c-a7cc-1156817732ce/scratchpad/deck/assets/icon_FaVoteYe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1400" y="2999232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029456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Sufrágio ampliado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cidadãos com direito de voto.</a:t>
            </a:r>
            <a:endParaRPr lang="en-US" sz="1450" dirty="0"/>
          </a:p>
        </p:txBody>
      </p:sp>
      <p:sp>
        <p:nvSpPr>
          <p:cNvPr id="23" name="Shape 16"/>
          <p:cNvSpPr/>
          <p:nvPr/>
        </p:nvSpPr>
        <p:spPr>
          <a:xfrm>
            <a:off x="6001512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138672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5" name="Image 5" descr="/tmp/claude-0/-home-user-zero-claude/d7e33190-c541-582c-a7cc-1156817732ce/scratchpad/deck/assets/icon_FaFirstAi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9256" y="2999232"/>
            <a:ext cx="256032" cy="25603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6687312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Bismarck, Alemanha, década de 1880.</a:t>
            </a:r>
            <a:endParaRPr lang="en-US" sz="1450" dirty="0"/>
          </a:p>
        </p:txBody>
      </p:sp>
      <p:sp>
        <p:nvSpPr>
          <p:cNvPr id="27" name="Text 1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Alemanha de Bismarck e reflexos no Brasil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309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Seguro-doença obrigatório para trabalhadores da indústria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 contra acidentes de trabalho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 de invalidez e velhice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 Eloy Chaves: caixas de aposentadoria dos ferroviários (Brasil)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Consolidação das Leis do Trabalho, CLT (Brasil)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passa a proteger o trabalhador: começa a transição do Estado liberal para o Estado social.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Impactos sobre as duas matrizes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379476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 social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monopólios desmentem a concorrência perfeita: leis antitruste (Sherman Act, EUA, 1890).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alguma intervenção do Estado para garantir oportunidades.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Stuart Mill: liberdade com reformas sociais e educação.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Primeiras políticas sociais: seguros de Bismarck (anos 1880).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234440"/>
            <a:ext cx="3794760" cy="2971800"/>
          </a:xfrm>
          <a:prstGeom prst="roundRect">
            <a:avLst>
              <a:gd name="adj" fmla="val 1846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MARXISTA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× revolução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Revisionismo (Bernstein): </a:t>
            </a:r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socialismo viria por reformas graduais e pela via eleitoral, sem revolução.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revolucionária (Lênin): </a:t>
            </a:r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capitalismo chegara à fase do imperialismo (1916); só a revolução, conduzida por um partido de vanguarda, levaria ao socialismo.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ou revolução?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80360"/>
                <a:gridCol w="2880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Eduard Bernstein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Vladimir Lênin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Socialismo evolucionário (1899)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Estado e a Revolução (1917)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Reformas graduais, eleições e sindicatos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Revolução conduzida por um partido de vanguarda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ser usado para reformas sociais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 ser destruído e substituído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Herança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Social-democracia europeia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Revolução Russa e Estado soviético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65760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via social-democrata ajudou a construir o Estado de bem-estar; a via revolucionária, o Estado socialista (Unidade 4).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3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Encontro síncrono único (Google Meet), 19h–20h30: revisão das Unidades 1 e 2, abertura da Unidade 3 e orientações para A2 e A3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01/11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2: como um liberal e um marxista avaliariam uma mesma política pública?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página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Quiz de revisão da Unidade 3: 5 perguntas com resposta comentada (sem nota)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os modelos de Estado no século XX e o Estado brasileiro.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da Unidade 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discutimos nesta unidade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o capitalismo é um modo de produção histórico.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Materialismo histórico, luta de classes e mais-valia (absoluta e relativa).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como instrumento de dominação de classe; socialismo e comunismo.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Liberais e marxistas fazem leituras opostas de uma mesma política.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6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mudanças do final do século XIX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Revolução Industrial, concentração e capital financeiro.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Trabalhadores organizados e ampliação do voto.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 de Bismarck; no Brasil, Lei Eloy Chaves e CLT.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 social e leis antitruste.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(Bernstein) × revolução (Lênin).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95928"/>
            <a:ext cx="7772400" cy="484632"/>
          </a:xfrm>
          <a:prstGeom prst="roundRect">
            <a:avLst>
              <a:gd name="adj" fmla="val 15094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os modelos de Estado do século XX e o Estado brasileiro.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3: A matriz marxista e as mudanças do século XIX</dc:title>
  <dc:subject>PptxGenJS Presentation</dc:subject>
  <dc:creator>Prof. Dr. Cleiton Franco</dc:creator>
  <cp:lastModifiedBy>Prof. Dr. Cleiton Franco</cp:lastModifiedBy>
  <cp:revision>1</cp:revision>
  <dcterms:created xsi:type="dcterms:W3CDTF">2026-09-30T01:46:29Z</dcterms:created>
  <dcterms:modified xsi:type="dcterms:W3CDTF">2026-09-30T01:46:29Z</dcterms:modified>
</cp:coreProperties>
</file>