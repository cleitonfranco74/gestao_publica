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5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Trabalho necessário (salário)</c:v>
                </c:pt>
              </c:strCache>
            </c:strRef>
          </c:tx>
          <c:spPr>
            <a:solidFill>
              <a:srgbClr val="2A8C85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Jornada de 8 h</c:v>
                  </c:pt>
                  <c:pt idx="1">
                    <c:v>Absoluta: 10 h</c:v>
                  </c:pt>
                  <c:pt idx="2">
                    <c:v>Relativa: 8 h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</c:v>
                </c:pt>
                <c:pt idx="1">
                  <c:v>4</c:v>
                </c:pt>
                <c:pt idx="2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Trabalho excedente (mais-valia)</c:v>
                </c:pt>
              </c:strCache>
            </c:strRef>
          </c:tx>
          <c:spPr>
            <a:solidFill>
              <a:srgbClr val="13294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Jornada de 8 h</c:v>
                  </c:pt>
                  <c:pt idx="1">
                    <c:v>Absoluta: 10 h</c:v>
                  </c:pt>
                  <c:pt idx="2">
                    <c:v>Relativa: 8 h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</c:v>
                </c:pt>
                <c:pt idx="1">
                  <c:v>6</c:v>
                </c:pt>
                <c:pt idx="2">
                  <c:v>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105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F2A3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Olá, turma! Chegamos à Unidade 3: a matriz marxista e as mudanças do capitalismo no final do século XIX. Se a matriz liberal vê o mercado como eficiente e natural, a matriz marxista faz uma crítica profunda ao capitalismo e ao papel do Estado. Conhecer as duas é essencial para analisar qualquer política pública com mais de um olhar.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unidade vai de 26 de outubro a 1º de novembro. A leitura é o livro de Coelho, nas partes sobre a matriz marxista e as mudanças do século XIX, junto com as Unidades 5 e 6 da página de conteúdos. E atenção: no dia 28 de outubro, às 19h, temos o nosso encontro síncrono, o único da disciplina. A presença conta para a frequência.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1: a matriz marxista. Karl Marx e Friedrich Engels analisaram o capitalismo como um modo de produção histórico, que teve um começo e que, para eles, poderia ter um fim.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Quatro conceitos organizam a matriz marxista. O materialismo histórico: a base econômica condiciona a superestrutura jurídica, política e ideológica. A luta de classes: de um lado, a burguesia, dona dos meios de produção; do outro, o proletariado, que só tem a sua força de trabalho. A mais-valia: o valor que o trabalhador produz além do seu salário, fonte do lucro. E as crises, de superprodução e de concentração do capital. Como diz o Manifesto Comunista, de 1848: “A história de todas as sociedades até hoje existentes é a história das lutas de classes.”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entender o modo de produção. Na base, ou infraestrutura, estão as forças produtivas, isto é, o trabalho, as máquinas e as técnicas, e as relações de produção, que definem quem é dono dos meios de produção. Sobre essa base se ergue a superestrutura: o Estado, o Direito, a política, a religião e as ideologias. Para Marx, a história conhece vários modos de produção, como o escravista, o feudal e o capitalista, e cada um tem as suas classes e o seu tipo de 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Vejamos a mais-valia com um exemplo. Numa jornada de 8 horas, suponha que nas primeiras 4 o trabalhador produza um valor igual ao seu salário: é o trabalho necessário. O valor produzido nas outras 4 horas, o trabalho excedente, fica com o capitalista: é a mais-valia, que para Marx é a fonte do lucro. Marx distingue duas formas de aumentá-la. A mais-valia absoluta vem de prolongar a jornada. A relativa vem de elevar a produtividade, reduzindo o tempo necessário para produzir o valor do salário.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mostra as duas formas lado a lado. [Apontar para cada coluna.] Na primeira coluna, o ponto de partida: 4 horas pagam o salário e 4 geram mais-valia. Na segunda, a mais-valia absoluta: a jornada sobe para 10 horas, o trabalho necessário continua em 4 e o excedente sobe para 6. Na terceira, a relativa: a jornada continua em 8 horas, mas, com mais produtividade, o salário é produzido em 3 horas e o excedente sobe para 5. Isso ajuda a entender por que a luta pela redução da jornada foi tão central no movimento operário.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 o Estado, nessa visão? O Manifesto afirma que o executivo do Estado moderno não passa de um comitê para gerir os negócios comuns de toda a burguesia. Ou seja, o Estado não é neutro: ele expressa a dominação de classe. Para Marx e Engels, a superação do capitalismo passaria por uma fase de transição, o socialismo, com a socialização dos meios de produção e a ditadura do proletariado, até chegar ao comunismo: uma sociedade sem classes, em que o Estado se extingue.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Engels, em A origem da família, da propriedade privada e do Estado, de 1884, explica de onde vem o Estado em três passos. Primeiro: nas comunidades primitivas, sem classes, não havia Estado. Segundo: com o excedente e a propriedade privada, surgem classes com interesses opostos. Terceiro: surge o Estado, um poder que parece estar acima da sociedade, mas que garante a dominação da classe proprietária. Compare com o liberalismo: para os liberais, o Estado protege os direitos de todos; para os marxistas, protege sobretudo os interesses da classe dominante.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quadro resume as duas matrizes. Sobre o mercado: para os liberais, é eficiente e natural; para os marxistas, é lugar de exploração e de crises. Sobre o Estado: para os liberais, garante direitos e deve ser limitado; para os marxistas, é instrumento de dominação de classe. A unidade de análise do liberalismo é o indivíduo; a do marxismo, as classes sociais. A propriedade privada é direito natural para uns e base da exploração para outros. E o horizonte: aperfeiçoar o capitalismo, de um lado, ou superá-lo, do outro. Este quadro é uma ótima ferramenta de revisão para a A2 e a A3.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aplicar as duas matrizes a uma política concreta: o aumento real do salário mínimo. A leitura liberal se preocupa com os custos: se o salário crescer acima da produtividade, pode haver menos contratações e mais informalidade, e o ideal seria o mercado definir os salários. A leitura marxista vê uma conquista da luta dos trabalhadores, que reduz a exploração e a desigualdade, embora não supere o capitalismo. As duas olham para a mesma política e chegam a avaliações diferentes. É exatamente isso que o fórum temático 2 vai pedir de você.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2: o capitalismo no final do século XIX. O capitalismo mudou muito entre 1870 e 1900, e essas mudanças abalaram tanto a matriz liberal quanto a marxista.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mudou? A Segunda Revolução Industrial trouxe o aço, a eletricidade, a química e o petróleo. Houve concentração: grandes empresas, trustes e cartéis. Surgiu o capital financeiro, com a fusão entre bancos e indústria. Os trabalhadores se organizaram em sindicatos e partidos operários. O direito de voto foi ampliado. E surgiram os primeiros seguros sociais, na Alemanha de Bismarck, na década de 1880. O capitalismo de pequenas empresas em livre concorrência, imaginado pelos clássicos, já não correspondia à realidade.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seguros sociais merecem destaque. Na Alemanha, em 1883, surge o seguro-doença obrigatório para os trabalhadores da indústria; em 1884, o seguro contra acidentes de trabalho; e em 1889, o seguro de invalidez e velhice. No Brasil, o marco é a Lei Eloy Chaves, de 1923, que criou as caixas de aposentadoria dos ferroviários, e depois a CLT, em 1943. Com isso, o Estado passa a proteger o trabalhador. É o começo da transição do Estado liberal para o Estado social.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Essas mudanças tiveram impacto nas duas matrizes. Na liberal, surge o liberalismo social: os monopólios desmentem a ideia de concorrência perfeita, e vêm as leis antitruste, como o Sherman Act, nos Estados Unidos, em 1890. John Stuart Mill defende a liberdade combinada com reformas sociais e educação. Na marxista, abre-se o debate entre reforma e revolução: Bernstein defende a social-democracia e as reformas graduais pela via eleitoral; Lênin defende a análise do imperialismo e a via revolucionária.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comparar esses dois caminhos. Eduard Bernstein, em Socialismo evolucionário, de 1899, aposta em reformas graduais, eleições e sindicatos, e vê o Estado como algo que pode ser usado para reformas sociais. Vladimir Lênin, em O Estado e a Revolução, de 1917, defende a revolução conduzida por um partido de vanguarda e um Estado que deve ser destruído e substituído. As heranças são diferentes: de Bernstein vem a social-democracia europeia; de Lênin, a Revolução Russa e o Estado soviético. A via social-democrata ajudou a construir o Estado de bem-estar; a revolucionária, o Estado socialista, que estudaremos na Unidade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Atividades da Unidade 3. A partir de 26 de outubro, videoaula e leitura. No dia 28 de outubro, quarta-feira, das 19h às 20h30, teremos o encontro síncrono pelo Google Meet, com revisão das Unidades 1 a 3 e orientações para a A2 e a A3. Traga as suas dúvidas! E até 1º de novembro, participe do fórum temático 2: como um liberal e um marxista avaliariam uma mesma política pública? Na próxima unidade, os modelos de Estado do século XX e o Estado brasileiro.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ao quiz da Unidade 3: cinco perguntas. Pause, responda e confira no slide seguinte.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1. Para Marx, a base econômica (forças produtivas e relações de produção) condiciona: Letra a: A superestrutura jurídica, política e ideológica. Letra b: Apenas os preços dos produtos. Letra c: Somente o comércio exterior. Letra d: Nada: as ideias determinam a economia.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a: A superestrutura jurídica, política e ideológica. É a tese do materialismo histórico: Estado, Direito e ideologias se apoiam na base econômica.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2. Numa jornada de 8 horas, o trabalhador produz em 4 horas o valor do seu salário. As outras 4 horas geram: Letra a: Salário. Letra b: Mais-valia. Letra c: Juros. Letra d: Aluguel.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b: Mais-valia. O valor produzido no trabalho excedente é apropriado pelo capitalista: é a mais-valia, fonte do lucro.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3. Elevar a produtividade para reduzir o tempo de trabalho necessário gera mais-valia: Letra a: Absoluta. Letra b: Comercial. Letra c: Relativa. Letra d: Fictícia.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c: Relativa. A mais-valia relativa vem do aumento da produtividade; a absoluta, do prolongamento da jornada.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4. Os primeiros seguros sociais estatais (doença, acidentes e velhice) foram criados: Letra a: Na Inglaterra de Thatcher. Letra b: Na Alemanha de Bismarck. Letra c: Nos EUA de Roosevelt. Letra d: Na União Soviética.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b: Na Alemanha de Bismarck. Entre 1883 e 1889, na Alemanha de Bismarck: marco inicial da proteção social pelo 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5. Reformas graduais pela via eleitoral e revolução por um partido de vanguarda são, respectivamente, estratégias de: Letra a: Bernstein e Lênin. Letra b: Lênin e Bernstein. Letra c: Smith e Marx. Letra d: Keynes e Hayek.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a: Bernstein e Lênin. Bernstein representa o revisionismo social-democrata; Lênin, a via revolucionária. Encerramos a Unidade 3. Nos vemos no encontro síncrono do dia 28 de outubro, às 19h. Até lá!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Slide-7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zero-claude/d7e33190-c541-582c-a7cc-1156817732ce/scratchpad/deck/assets/bras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2336"/>
            <a:ext cx="1243584" cy="1325880"/>
          </a:xfrm>
          <a:prstGeom prst="rect">
            <a:avLst/>
          </a:prstGeom>
        </p:spPr>
      </p:pic>
      <p:pic>
        <p:nvPicPr>
          <p:cNvPr id="3" name="Image 1" descr="/tmp/claude-0/-home-user-zero-claude/d7e33190-c541-582c-a7cc-1156817732ce/scratchpad/deck/assets/une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548640"/>
            <a:ext cx="2743200" cy="1060704"/>
          </a:xfrm>
          <a:prstGeom prst="rect">
            <a:avLst/>
          </a:prstGeom>
        </p:spPr>
      </p:pic>
      <p:pic>
        <p:nvPicPr>
          <p:cNvPr id="4" name="Image 2" descr="/tmp/claude-0/-home-user-zero-claude/d7e33190-c541-582c-a7cc-1156817732ce/scratchpad/deck/assets/dead_apr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76072"/>
            <a:ext cx="3063240" cy="101041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88720" y="18105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</a:t>
            </a:r>
            <a:endParaRPr lang="en-US" sz="2000" dirty="0"/>
          </a:p>
        </p:txBody>
      </p:sp>
      <p:sp>
        <p:nvSpPr>
          <p:cNvPr id="6" name="Text 1"/>
          <p:cNvSpPr txBox="1"/>
          <p:nvPr/>
        </p:nvSpPr>
        <p:spPr>
          <a:xfrm>
            <a:off x="1188720" y="2157984"/>
            <a:ext cx="7223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4800" dirty="0"/>
          </a:p>
        </p:txBody>
      </p:sp>
      <p:sp>
        <p:nvSpPr>
          <p:cNvPr id="7" name="Text 2"/>
          <p:cNvSpPr txBox="1"/>
          <p:nvPr/>
        </p:nvSpPr>
        <p:spPr>
          <a:xfrm>
            <a:off x="1188720" y="2926080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3 · A matriz marxista e as mudanças do século XIX</a:t>
            </a:r>
            <a:endParaRPr lang="en-US" sz="1900" dirty="0"/>
          </a:p>
        </p:txBody>
      </p:sp>
      <p:sp>
        <p:nvSpPr>
          <p:cNvPr id="8" name="Text 3"/>
          <p:cNvSpPr txBox="1"/>
          <p:nvPr/>
        </p:nvSpPr>
        <p:spPr>
          <a:xfrm>
            <a:off x="1243584" y="3474720"/>
            <a:ext cx="4937760" cy="420624"/>
          </a:xfrm>
          <a:prstGeom prst="roundRect">
            <a:avLst>
              <a:gd name="adj" fmla="val 21739"/>
            </a:avLst>
          </a:prstGeom>
          <a:solidFill>
            <a:srgbClr val="E9C85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· UAB · Turma 2026/2 · Prof. Dr. Cleiton Franco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969264"/>
            <a:ext cx="6400800" cy="402336"/>
          </a:xfrm>
          <a:prstGeom prst="roundRect">
            <a:avLst>
              <a:gd name="adj" fmla="val 22727"/>
            </a:avLst>
          </a:prstGeom>
          <a:solidFill>
            <a:srgbClr val="2A8C85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3 · A matriz marxista e as mudanças do século XIX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37944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 (Lato Sensu)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45152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09744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1837944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9824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Regente: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4672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alendar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2549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44752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&amp; Semestre: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2026/2 · 1º bloco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45152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09744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C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282549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49824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da unidade: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26/10 a 01/11/2026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547872"/>
            <a:ext cx="7863840" cy="676656"/>
          </a:xfrm>
          <a:prstGeom prst="roundRect">
            <a:avLst>
              <a:gd name="adj" fmla="val 8108"/>
            </a:avLst>
          </a:prstGeom>
          <a:solidFill>
            <a:srgbClr val="EAF3F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3 · Leitura: COELHO (2014), matriz marxista e mudanças do séc. XIX</a:t>
            </a:r>
            <a:endParaRPr lang="en-US" sz="1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conteúdos: Unidades 5 e 6 · Encontro síncrono: 28/10, 19h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matriz marxista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Marx e Engels: capitalismo, classes e Estado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matriz marxista: conceitos centrais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Marx e Engels: o capitalismo como modo de produção histórico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374904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Materialismo histórico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 econômica condiciona a superestrutura jurídica, política e ideológica.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709160" y="1234440"/>
            <a:ext cx="374904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Luta de classes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Burguesia (meios de produção) × proletariado (força de trabalho).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286000"/>
            <a:ext cx="374904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Mais-valia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produzido pelo trabalhador além do salário: fonte do lucro.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709160" y="2286000"/>
            <a:ext cx="374904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Crises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Superprodução e concentração do capital.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383280"/>
            <a:ext cx="7498080" cy="960120"/>
          </a:xfrm>
          <a:prstGeom prst="roundRect">
            <a:avLst>
              <a:gd name="adj" fmla="val 7619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6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história de todas as sociedades até hoje existentes é a história das lutas de classes. (Manifesto Comunista, 1848)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de produção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base econômica se relaciona com o Estado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88720"/>
            <a:ext cx="4754880" cy="1188720"/>
          </a:xfrm>
          <a:prstGeom prst="roundRect">
            <a:avLst>
              <a:gd name="adj" fmla="val 4615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SUPERESTRUTURA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Direito, política, religião e ideologias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651760" y="239572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▼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788920"/>
            <a:ext cx="475488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(INFRAESTRUTURA)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Forças produtivas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trabalho, máquinas, técnicas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Relações de produção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é dono dos meios de produção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669280" y="1188720"/>
            <a:ext cx="2788920" cy="3063240"/>
          </a:xfrm>
          <a:prstGeom prst="roundRect">
            <a:avLst>
              <a:gd name="adj" fmla="val 1967"/>
            </a:avLst>
          </a:prstGeom>
          <a:solidFill>
            <a:srgbClr val="FBF4DC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Modos de produção na história</a:t>
            </a:r>
            <a:endParaRPr lang="en-US" sz="15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Escravista</a:t>
            </a:r>
            <a:endParaRPr lang="en-US" sz="15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Feudal</a:t>
            </a:r>
            <a:endParaRPr lang="en-US" sz="1500" dirty="0"/>
          </a:p>
          <a:p>
            <a:pPr algn="l"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Capitalista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um tem suas classes e seu tipo de Estado.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Mais-valia: um exemplo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que, para Marx, o lucro vem do trabalho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325880"/>
            <a:ext cx="3749040" cy="640080"/>
          </a:xfrm>
          <a:prstGeom prst="roundRect">
            <a:avLst>
              <a:gd name="adj" fmla="val 8571"/>
            </a:avLst>
          </a:prstGeom>
          <a:solidFill>
            <a:srgbClr val="2A8C85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0" y="1325880"/>
            <a:ext cx="3749040" cy="640080"/>
          </a:xfrm>
          <a:prstGeom prst="roundRect">
            <a:avLst>
              <a:gd name="adj" fmla="val 8571"/>
            </a:avLst>
          </a:prstGeom>
          <a:solidFill>
            <a:srgbClr val="13294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325880"/>
            <a:ext cx="374904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h: trabalho necessário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325880"/>
            <a:ext cx="374904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h: trabalho excedente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01168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Jornada de 8 horas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514600"/>
            <a:ext cx="236524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necessário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primeiras 4 horas, o trabalhador produz um valor igual ao seu salário.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389376" y="2514600"/>
            <a:ext cx="236524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Mais-valia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valor produzido nas outras 4 horas fica com o capitalista: é a fonte do lucro.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955792" y="2514600"/>
            <a:ext cx="236524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Absoluta × relativa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Absoluta: prolongar a jornada. Relativa: elevar a produtividade e reduzir o trabalho necessário.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Mais-valia absoluta e relativa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Divisão da jornada de trabalho, em horas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de trabalho necessário e excedente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de partida: 4 h pagam o salário e 4 h geram mais-valia.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Absoluta: a jornada sobe para 10 h e o excedente, para 6 h.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Relativa: com mais produtividade, o salário é produzido em 3 h e o excedente sobe para 5 h.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didático baseado em Marx, O Capital (1867).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na visão marxista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188720"/>
            <a:ext cx="7498080" cy="1005840"/>
          </a:xfrm>
          <a:prstGeom prst="roundRect">
            <a:avLst>
              <a:gd name="adj" fmla="val 7273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8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executivo do Estado moderno não passa de um comitê para gerir os negócios comuns de toda a burguesia.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85800" y="246888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624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UsersCo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72491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254203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Socialismo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Transição: socialização dos meios de produção e ditadura do proletariado.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709160" y="246888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2624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Dov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272491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254203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Comunismo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Sociedade sem classes, na qual o Estado se extingue.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Engels: a origem do Estado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origem da família, da propriedade privada e do Estado (1884)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34440"/>
            <a:ext cx="245668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Us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9047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07592"/>
            <a:ext cx="1679448" cy="18653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Sociedades sem classes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comunidades primitivas não havia Estado.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343656" y="1234440"/>
            <a:ext cx="245668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80816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Coi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49047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29456" y="1307592"/>
            <a:ext cx="1679448" cy="18653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Propriedade e classes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excedente e a propriedade privada, surgem classes com interesses opostos.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001512" y="1234440"/>
            <a:ext cx="245668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38672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Landm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49047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687312" y="1307592"/>
            <a:ext cx="1679448" cy="18653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 o Estado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poder que parece estar acima da sociedade, mas garante a dominação da classe proprietária.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685800" y="347472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o liberalismo, o Estado protege direitos de todos; para o marxismo, protege sobretudo os interesses da classe dominante.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 × marxista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das duas matrizes teóricas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234440"/>
          <a:ext cx="74980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697480"/>
                <a:gridCol w="2697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liberal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marxista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Eficiente e natural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Exploração e crises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Garante direitos; deve ser limitado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Instrumento de dominação de classe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Unidade de análise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Indivíduo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Classes sociais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Propriedade privada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Direito natural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da exploração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Horizonte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Aperfeiçoar o capitalismo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Superar o capitalismo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mesma política, duas leituras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43000"/>
            <a:ext cx="7772400" cy="1005840"/>
          </a:xfrm>
          <a:prstGeom prst="roundRect">
            <a:avLst>
              <a:gd name="adj" fmla="val 7273"/>
            </a:avLst>
          </a:prstGeom>
          <a:solidFill>
            <a:srgbClr val="FBF4DC"/>
          </a:solidFill>
          <a:ln/>
        </p:spPr>
      </p:sp>
      <p:sp>
        <p:nvSpPr>
          <p:cNvPr id="4" name="Shape 2"/>
          <p:cNvSpPr/>
          <p:nvPr/>
        </p:nvSpPr>
        <p:spPr>
          <a:xfrm>
            <a:off x="850392" y="13075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5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1408176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252728"/>
            <a:ext cx="6903720" cy="7863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Aumento real do salário mínimo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as duas matrizes analisariam essa política?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31720"/>
            <a:ext cx="3794760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LIBERAL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Preocupa-se com os custos: se o salário superar a produtividade, pode haver menos contratações e mais informalidade. Prefere que o mercado defina salários.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663440" y="2331720"/>
            <a:ext cx="3794760" cy="2011680"/>
          </a:xfrm>
          <a:prstGeom prst="roundRect">
            <a:avLst>
              <a:gd name="adj" fmla="val 2727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MARXISTA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Vê uma conquista da luta dos trabalhadores, que reduz a exploração e a desigualdade, embora não supere o capitalismo.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capitalismo no final do século XIX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Mudanças e impactos sobre as duas matrizes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novo capitalismo no final do século XIX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Indust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Segunda Revolução Industrial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Aço, eletricidade, química e petróleo.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3343656" y="118872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480816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Build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029456" y="126187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Concentração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 empresas, trustes e cartéis.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6001512" y="118872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38672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Univers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44475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687312" y="126187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financeiro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Fusão entre bancos e indústria.</a:t>
            </a:r>
            <a:endParaRPr lang="en-US" sz="1450" dirty="0"/>
          </a:p>
        </p:txBody>
      </p:sp>
      <p:sp>
        <p:nvSpPr>
          <p:cNvPr id="15" name="Shape 10"/>
          <p:cNvSpPr/>
          <p:nvPr/>
        </p:nvSpPr>
        <p:spPr>
          <a:xfrm>
            <a:off x="685800" y="274320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2296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7" name="Image 3" descr="/tmp/claude-0/-home-user-zero-claude/d7e33190-c541-582c-a7cc-1156817732ce/scratchpad/deck/assets/icon_FaFistRais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544" y="2999232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371600" y="281635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Trabalhadores organizados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Sindicatos e partidos operários.</a:t>
            </a:r>
            <a:endParaRPr lang="en-US" sz="1450" dirty="0"/>
          </a:p>
        </p:txBody>
      </p:sp>
      <p:sp>
        <p:nvSpPr>
          <p:cNvPr id="19" name="Shape 13"/>
          <p:cNvSpPr/>
          <p:nvPr/>
        </p:nvSpPr>
        <p:spPr>
          <a:xfrm>
            <a:off x="3343656" y="274320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3480816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21" name="Image 4" descr="/tmp/claude-0/-home-user-zero-claude/d7e33190-c541-582c-a7cc-1156817732ce/scratchpad/deck/assets/icon_FaVoteYe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81400" y="2999232"/>
            <a:ext cx="256032" cy="256032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4029456" y="281635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Sufrágio ampliado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cidadãos com direito de voto.</a:t>
            </a:r>
            <a:endParaRPr lang="en-US" sz="1450" dirty="0"/>
          </a:p>
        </p:txBody>
      </p:sp>
      <p:sp>
        <p:nvSpPr>
          <p:cNvPr id="23" name="Shape 16"/>
          <p:cNvSpPr/>
          <p:nvPr/>
        </p:nvSpPr>
        <p:spPr>
          <a:xfrm>
            <a:off x="6001512" y="274320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6138672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25" name="Image 5" descr="/tmp/claude-0/-home-user-zero-claude/d7e33190-c541-582c-a7cc-1156817732ce/scratchpad/deck/assets/icon_FaFirstAi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39256" y="2999232"/>
            <a:ext cx="256032" cy="25603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6687312" y="281635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Seguros sociais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Bismarck, Alemanha, década de 1880.</a:t>
            </a:r>
            <a:endParaRPr lang="en-US" sz="1450" dirty="0"/>
          </a:p>
        </p:txBody>
      </p:sp>
      <p:sp>
        <p:nvSpPr>
          <p:cNvPr id="27" name="Text 19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primeiros seguros sociais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Alemanha de Bismarck e reflexos no Brasil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309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Seguro-doença obrigatório para trabalhadores da indústria (Alemanha)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Seguro contra acidentes de trabalho (Alemanha)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Seguro de invalidez e velhice (Alemanha)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 Eloy Chaves: caixas de aposentadoria dos ferroviários (Brasil)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Consolidação das Leis do Trabalho, CLT (Brasil)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85800" y="361188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passa a proteger o trabalhador: começa a transição do Estado liberal para o Estado social.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Impactos sobre as duas matrizes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34440"/>
            <a:ext cx="3794760" cy="29718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LIBERAL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Liberalismo social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concorrência perfeita é desmentida pelos monopólios.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Leis antitruste: Sherman Act (EUA, 1890).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Stuart Mill: liberdade com reformas sociais e educação.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663440" y="1234440"/>
            <a:ext cx="3794760" cy="2971800"/>
          </a:xfrm>
          <a:prstGeom prst="roundRect">
            <a:avLst>
              <a:gd name="adj" fmla="val 1846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MARXISTA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 × revolução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Bernstein: </a:t>
            </a:r>
            <a:pPr algn="l" marL="177800" indent="-1778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social-democracia e reformas graduais pela via eleitoral.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5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Lênin: </a:t>
            </a:r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imperialismo e via revolucionária.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 ou revolução?</a:t>
            </a:r>
            <a:endParaRPr lang="en-US" sz="2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880360"/>
                <a:gridCol w="2880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Eduard Bernstein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Vladimir Lênin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Obra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Socialismo evolucionário (1899)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Estado e a Revolução (1917)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Estratégia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Reformas graduais, eleições e sindicatos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Revolução conduzida por um partido de vanguarda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Pode ser usado para reformas sociais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 ser destruído e substituído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Herança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Social-democracia europeia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Revolução Russa e Estado soviético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85800" y="3657600"/>
            <a:ext cx="7772400" cy="640080"/>
          </a:xfrm>
          <a:prstGeom prst="roundRect">
            <a:avLst>
              <a:gd name="adj" fmla="val 11429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via social-democrata ajudou a construir o Estado de bem-estar; a via revolucionária, o Estado socialista (Unidade 4).</a:t>
            </a:r>
            <a:endParaRPr lang="en-US" sz="1350" dirty="0"/>
          </a:p>
        </p:txBody>
      </p:sp>
      <p:sp>
        <p:nvSpPr>
          <p:cNvPr id="5" name="Text 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da Unidade 3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e prazos da unidade (todas as entregas até 23h55)</a:t>
            </a:r>
            <a:endParaRPr lang="en-US" sz="1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325880"/>
          <a:ext cx="74980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806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26/10 (seg)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Videoaula 3 e leitura da unidade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28/10 (qua)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Encontro síncrono (Google Meet), 19h–20h30: revisão das Unidades 1 a 3 e orientações para A2 e A3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01/11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temático 2: como um liberal e um marxista avaliariam uma mesma política pública?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3840480"/>
            <a:ext cx="749808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unidade: os modelos de Estado no século XX e o Estado brasileiro.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69080" y="1097280"/>
            <a:ext cx="1005840" cy="1005840"/>
          </a:xfrm>
          <a:prstGeom prst="roundRect">
            <a:avLst>
              <a:gd name="adj" fmla="val 18182"/>
            </a:avLst>
          </a:prstGeom>
          <a:solidFill>
            <a:srgbClr val="2A8C85"/>
          </a:solidFill>
          <a:ln/>
        </p:spPr>
      </p:sp>
      <p:pic>
        <p:nvPicPr>
          <p:cNvPr id="3" name="Image 0" descr="/tmp/claude-0/-home-user-zero-claude/d7e33190-c541-582c-a7cc-1156817732ce/scratchpad/deck/assets/icon_FaQues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3258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2402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1188720" y="29260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perguntas para revisar a unidade. Pause o vídeo, escolha sua resposta e confira no slide seguinte.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1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Marx, a base econômica (forças produtivas e relações de produção) condiciona: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superestrutura jurídica, política e ideológica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Apenas os preços dos produtos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Somente o comércio exterior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Nada: as ideias determinam a economia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1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Marx, a base econômica (forças produtivas e relações de produção) condiciona: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superestrutura jurídica, política e ideológica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Apenas os preços dos produtos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Somente o comércio exterior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Nada: as ideias determinam a economia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tese do materialismo histórico: Estado, Direito e ideologias se apoiam na base econômica.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2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Numa jornada de 8 horas, o trabalhador produz em 4 horas o valor do seu salário. As outras 4 horas geram: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Salário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Mais-valia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Juros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Aluguel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2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Numa jornada de 8 horas, o trabalhador produz em 4 horas o valor do seu salário. As outras 4 horas geram: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Salário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Mais-valia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Juros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Aluguel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valor produzido no trabalho excedente é apropriado pelo capitalista: é a mais-valia, fonte do lucro.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3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Elevar a produtividade para reduzir o tempo de trabalho necessário gera mais-valia: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Comercial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Fictícia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3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Elevar a produtividade para reduzir o tempo de trabalho necessário gera mais-valia: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Comercial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Fictícia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c)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mais-valia relativa vem do aumento da produtividade; a absoluta, do prolongamento da jornada.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4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primeiros seguros sociais estatais (doença, acidentes e velhice) foram criados: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Inglaterra de Thatcher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Alemanha de Bismarck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EUA de Roosevelt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União Soviética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4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primeiros seguros sociais estatais (doença, acidentes e velhice) foram criados: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Inglaterra de Thatcher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Alemanha de Bismarck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EUA de Roosevelt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União Soviética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1883 e 1889, na Alemanha de Bismarck: marco inicial da proteção social pelo Estado.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5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Reformas graduais pela via eleitoral e revolução por um partido de vanguarda são, respectivamente, estratégias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Bernstein e Lênin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Lênin e Bernstein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Smith e Marx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 e Hayek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5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Reformas graduais pela via eleitoral e revolução por um partido de vanguarda são, respectivamente, estratégias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Bernstein e Lênin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Lênin e Bernstein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Smith e Marx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 e Hayek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Bernstein representa o revisionismo social-democrata; Lênin, a via revolucionária.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UNEMAT / DEAD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Estado, Governo e Mercado – Unidade 3: A matriz marxista e as mudanças do século XIX</dc:title>
  <dc:subject>PptxGenJS Presentation</dc:subject>
  <dc:creator>Prof. Dr. Cleiton Franco</dc:creator>
  <cp:lastModifiedBy>Prof. Dr. Cleiton Franco</cp:lastModifiedBy>
  <cp:revision>1</cp:revision>
  <dcterms:created xsi:type="dcterms:W3CDTF">2026-09-26T20:41:20Z</dcterms:created>
  <dcterms:modified xsi:type="dcterms:W3CDTF">2026-09-26T20:41:20Z</dcterms:modified>
</cp:coreProperties>
</file>