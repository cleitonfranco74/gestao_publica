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vídeo. Boas-vindas à disciplina Estado, Governo e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Olá! Seja bem-vindo(a) à disciplina Estado, Governo e Mercado, a primeira do Módulo Básico da Especialização em Gestão Pública. Eu sou o Prof. Dr. Cleiton Franco. A disciplina acontece no 1º bloco, de 9 de outubro a 15 de novembro de 2026, com 30 horas.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professor: formação em Ciências Contábeis pela UNEMAT, mestrado em Economia pela UFMT, doutorado em Economia pelo PIMES/UFPE e pós-doutorado em Administração. Atualmente, docente do curso de Ciências Contábeis em Sinop e coordenador de projetos de pesquisa em políticas públicas e avaliação de impacto.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central da disciplina: qual deve ser o papel do Estado na economia e na sociedade, e qual deve ser o papel do mercado? Ela aparece no dia a dia do gestor e é a base das próximas disciplinas.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Ementa da disciplina, conforme o PPC, e o objetivo geral.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disciplina tem quatro unidades. A primeira vai de 9 a 18 de outubro; a segunda, de 19 a 25 de outubro; a terceira, de 26 de outubro a 1º de novembro; e a quarta, de 2 a 15 de novembro, com a última semana dedicada à revisão e à A3.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livro-texto base é o de Ricardo Corrêa Coelho, Estado, governo e mercado, disponível no EduCAPES. Há também leituras complementares. Use sempre fontes autorizadas: EduCAPES, Biblioteca Virtual da UNEMAT, BDTD e fontes oficiais.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30 horas: cerca de 22 horas e meia de estudo assíncrono no SIGAA e 7 horas e meia em cinco webaulas de 1h30, às quartas às 19h, nos dias 14, 21 e 28 de outubro e 4 e 11 de novembro. A frequência mínima nas atividades síncronas é de 75%. (Horários sugeridos; confirmar com a Coordenação.)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três avaliações a distância. A A1, até 25 de outubro, e a A2, até 8 de novembro, são questionários de dez questões. A A3, até 15 de novembro, tem dez questões objetivas e um estudo de caso discursivo. A média de A1 e A2 vale 40% e a A3 vale 60%. A aprovação exige nota 7,0 e 75% de frequência.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perder uma avaliação por motivo justificado pode requerer a 2ª chamada, com documento comprobatório. Quem não atingir a nota de aprovação pode fazer a Prova Final, conforme as normas da UNEMAT. As datas são definidas pela Coordenação.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mapa do bloco. Anote as datas: webaulas às quartas, 14, 21 e 28 de outubro e 4 e 11 de novembro; A1 até 25 de outubro; A2 até 8 de novembro; A3 até 15 de novembro, quando a disciplina se encerra. Todas as entregas até 23h55.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 de rotina: assista à videoaula, leia o livro e a página de conteúdos, revise com os slides e os exercícios de fixação, participe do fórum e da webaula e entregue as atividades antes das 23h55 do prazo.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começar: acesse o SIGAA, apresente-se no fórum até 18 de outubro e participe da aula inaugural em 14 de outubro, às 19h. Bons estudos e até a nossa primeira webaula!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zero-claude/d7e33190-c541-582c-a7cc-1156817732ce/scratchpad/deck/assets/bras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02336"/>
            <a:ext cx="1243584" cy="1325880"/>
          </a:xfrm>
          <a:prstGeom prst="rect">
            <a:avLst/>
          </a:prstGeom>
        </p:spPr>
      </p:pic>
      <p:pic>
        <p:nvPicPr>
          <p:cNvPr id="3" name="Image 1" descr="/tmp/claude-0/-home-user-zero-claude/d7e33190-c541-582c-a7cc-1156817732ce/scratchpad/deck/assets/unem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548640"/>
            <a:ext cx="2743200" cy="1060704"/>
          </a:xfrm>
          <a:prstGeom prst="rect">
            <a:avLst/>
          </a:prstGeom>
        </p:spPr>
      </p:pic>
      <p:pic>
        <p:nvPicPr>
          <p:cNvPr id="4" name="Image 2" descr="/tmp/claude-0/-home-user-zero-claude/d7e33190-c541-582c-a7cc-1156817732ce/scratchpad/deck/assets/dead_ap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76072"/>
            <a:ext cx="3063240" cy="101041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887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</a:t>
            </a:r>
            <a:endParaRPr lang="en-US" sz="4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Pública</a:t>
            </a:r>
            <a:endParaRPr lang="en-US" sz="4600" dirty="0"/>
          </a:p>
        </p:txBody>
      </p:sp>
      <p:sp>
        <p:nvSpPr>
          <p:cNvPr id="6" name="Text 1"/>
          <p:cNvSpPr txBox="1"/>
          <p:nvPr/>
        </p:nvSpPr>
        <p:spPr>
          <a:xfrm>
            <a:off x="1243584" y="3456432"/>
            <a:ext cx="3017520" cy="420624"/>
          </a:xfrm>
          <a:prstGeom prst="roundRect">
            <a:avLst>
              <a:gd name="adj" fmla="val 21739"/>
            </a:avLst>
          </a:prstGeom>
          <a:solidFill>
            <a:srgbClr val="E9C8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· UAB · Turma 2026/2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920240" y="969264"/>
            <a:ext cx="5303520" cy="402336"/>
          </a:xfrm>
          <a:prstGeom prst="roundRect">
            <a:avLst>
              <a:gd name="adj" fmla="val 22727"/>
            </a:avLst>
          </a:prstGeom>
          <a:solidFill>
            <a:srgbClr val="2A8C8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Videoaula de apresentação da disciplina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379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 (Lato Sensu)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45152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9744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83794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9824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Regente: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Cleiton Franco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4672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Calendar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254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44752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&amp; Semestre: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2026/2 · 1º bloco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645152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09744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8" name="Image 3" descr="/tmp/claude-0/-home-user-zero-claude/d7e33190-c541-582c-a7cc-1156817732ce/scratchpad/deck/assets/icon_Fa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8254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49824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Oferta: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09/10/2026 a 15/11/2026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547872"/>
            <a:ext cx="7863840" cy="676656"/>
          </a:xfrm>
          <a:prstGeom prst="roundRect">
            <a:avLst>
              <a:gd name="adj" fmla="val 8108"/>
            </a:avLst>
          </a:prstGeom>
          <a:solidFill>
            <a:srgbClr val="EAF3F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horária: 30 h/a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 h assíncronas no SIGAA · 7,5 h síncronas (5 webaulas de 1h30)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Cleiton Franco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acadêmica e atuação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20624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904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Univers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5910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4813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acadêmica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084832"/>
            <a:ext cx="388620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Graduação: </a:t>
            </a:r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Ciências Contábeis, UNEMAT</a:t>
            </a:r>
            <a:endParaRPr lang="en-US" sz="14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Mestrado: </a:t>
            </a:r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Economia, UFMT</a:t>
            </a:r>
            <a:endParaRPr lang="en-US" sz="14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Doutorado: </a:t>
            </a:r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Economia, PIMES/UFPE</a:t>
            </a:r>
            <a:endParaRPr lang="en-US" sz="14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Pós-doutorado: </a:t>
            </a:r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Administração, ESAN/UFMS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120640" y="1325880"/>
            <a:ext cx="3337560" cy="3017520"/>
          </a:xfrm>
          <a:prstGeom prst="roundRect">
            <a:avLst>
              <a:gd name="adj" fmla="val 1818"/>
            </a:avLst>
          </a:prstGeom>
          <a:solidFill>
            <a:srgbClr val="E6F2F0"/>
          </a:solidFill>
          <a:ln/>
        </p:spPr>
      </p:sp>
      <p:sp>
        <p:nvSpPr>
          <p:cNvPr id="10" name="Shape 7"/>
          <p:cNvSpPr/>
          <p:nvPr/>
        </p:nvSpPr>
        <p:spPr>
          <a:xfrm>
            <a:off x="5303520" y="14904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A8C85"/>
          </a:solidFill>
          <a:ln/>
        </p:spPr>
      </p:sp>
      <p:pic>
        <p:nvPicPr>
          <p:cNvPr id="11" name="Image 1" descr="/tmp/claude-0/-home-user-zero-claude/d7e33190-c541-582c-a7cc-1156817732ce/scratchpad/deck/assets/icon_Fa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15910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79592" y="14813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atual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303520" y="2084832"/>
            <a:ext cx="301752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do curso de Ciências Contábeis da UNEMAT, câmpus de Sinop/MT</a:t>
            </a:r>
            <a:endParaRPr lang="en-US" sz="14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 de projetos de pesquisa em políticas públicas e avaliação de impacto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estudar esta disciplina?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guia as quatro unidades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25880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FBF4DC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i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pPr algn="l" indent="0" marL="0">
              <a:lnSpc>
                <a:spcPct val="100000"/>
              </a:lnSpc>
              <a:buNone/>
            </a:pPr>
            <a:r>
              <a:rPr lang="en-US" sz="21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deve ser o papel do Estado na economia e na sociedade, e qual deve ser o papel do mercado?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761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7" name="Image 0" descr="/tmp/claude-0/-home-user-zero-claude/d7e33190-c541-582c-a7cc-1156817732ce/scratchpad/deck/assets/icon_FaLan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862072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2679192"/>
            <a:ext cx="2971800" cy="12710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seu trabalho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Tarifas, concessões, programas sociais, regulação e orçamento respondem a essa pergunta todos os dias.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09160" y="260604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2761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1" name="Image 1" descr="/tmp/claude-0/-home-user-zero-claude/d7e33190-c541-582c-a7cc-1156817732ce/scratchpad/deck/assets/icon_FaProject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28620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2679192"/>
            <a:ext cx="2971800" cy="12710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curso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O Público e o Privado, Desenvolvimento do Estado Brasileiro e Políticas Públicas.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Ementa e objetivo geral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o Projeto Pedagógico do Curso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98448"/>
            <a:ext cx="46634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Ementa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básicos. A dinâmica pendular das relações entre Estado e mercado. Duas matrizes teóricas para a interpretação das relações entre Estado e mercado: a liberal e a marxista. A formação da matriz do pensamento liberal. A matriz marxista. As mudanças nas sociedades capitalistas no final do século XIX e seus impactos sobre as matrizes marxista e liberal. O Estado liberal. O Estado socialista. O Estado de bem-estar social. O Estado neoliberal.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1298448"/>
            <a:ext cx="2926080" cy="3108960"/>
          </a:xfrm>
          <a:prstGeom prst="roundRect">
            <a:avLst>
              <a:gd name="adj" fmla="val 1875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as relações entre Estado, governo e mercado à luz dos fundamentos da economia e das matrizes liberal e marxista, analisando os modelos de Estado e suas implicações para a gestão pública brasileira.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 da disciplina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unidades, uma videoaula para cada uma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1805940" cy="21488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 A 18/10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economia; Estado, governo e mercado; falhas de mercado e funções do Estado.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674620" y="1325880"/>
            <a:ext cx="1805940" cy="21488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19/10 A 25/10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dinâmica pendular entre Estado e mercado e a matriz liberal (Locke e Adam Smith).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325880"/>
            <a:ext cx="1805940" cy="21488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26/10 A 01/11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marxista e as mudanças do capitalismo no final do século XIX.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652260" y="1325880"/>
            <a:ext cx="1805940" cy="21488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02/11 A 15/11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liberal, socialista, de bem-estar e neoliberal; o Estado brasileiro.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0332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09/11 a 15/11: semana de revisão, webaula de revisão e Avaliação A3.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 e fontes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obrigatória, complementar e repositórios autorizados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98448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LIVRO-TEXTO BASE</a:t>
            </a:r>
            <a:endParaRPr lang="en-US" sz="115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COELHO, Ricardo Corrêa. Estado, governo e mercado. 3. ed. Florianópolis: UFSC; Brasília: CAPES/UAB, 2014.</a:t>
            </a:r>
            <a:endParaRPr lang="en-US" sz="115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obrigatória em todas as unidades. Disponível no Portal EduCAPES.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Básicas do PPC também: LEITE JÚNIOR (2009); WEFFORT (1996).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298448"/>
            <a:ext cx="38862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complementares</a:t>
            </a:r>
            <a:endParaRPr lang="en-US" sz="1500" dirty="0"/>
          </a:p>
          <a:p>
            <a:pPr algn="l"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BOBBIO (1987); VASCONCELLOS, Economia: micro e macro</a:t>
            </a:r>
            <a:endParaRPr lang="en-US" sz="1500" dirty="0"/>
          </a:p>
          <a:p>
            <a:pPr algn="l"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 (1995); BRESSER-PEREIRA (1998)</a:t>
            </a:r>
            <a:endParaRPr lang="en-US" sz="15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Constituição de 1988; Lei de Responsabilidade Fiscal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3310128"/>
            <a:ext cx="3886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buscar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EduCAPES · Biblioteca Virtual da UNEMAT · BDTD · fontes oficiais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ecossistema de aprendizagem (30 h/a)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horas da disciplina se distribuem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2456688" cy="2450592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53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5544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371600"/>
            <a:ext cx="1679448" cy="23042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 H ASSÍNCRONAS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núcleo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Videoaulas, leituras, fóruns, exercícios de fixação e avaliações no SIGAA, no seu ritmo, seguindo o roteiro de entregas.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43656" y="1298448"/>
            <a:ext cx="2456688" cy="2450592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80816" y="1453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Vid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55448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9456" y="1371600"/>
            <a:ext cx="1679448" cy="23042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H SÍNCRONAS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conexão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webaulas de 1h30 no Google Meet, às quartas-feiras, às 19h: 14/10, 21/10, 28/10, 04/11 e 11/11.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01512" y="1298448"/>
            <a:ext cx="2456688" cy="2450592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38672" y="1453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HandsHelp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6" y="155448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87312" y="1371600"/>
            <a:ext cx="1679448" cy="23042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MEDIAÇÃO PEDAGÓGICA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apoio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mediador acompanha sua participação e leva dúvidas e dificuldades ao professor.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3904488"/>
            <a:ext cx="7772400" cy="475488"/>
          </a:xfrm>
          <a:prstGeom prst="roundRect">
            <a:avLst>
              <a:gd name="adj" fmla="val 15385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mínima de 75% nas atividades síncronas (PPC).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avaliação: três etapas, todas a distância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final = (((A1 + A2) / 2) × 0,4) + (A3 × 0,6)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245668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25/10 · 40% (COM A A2)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Questionário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questões objetivas no SIGAA sobre as Unidades 1 e 2. Uma tentativa de 60 minutos.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343656" y="1325880"/>
            <a:ext cx="245668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08/11 · 40% (COM A A1)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Questionário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questões objetivas no SIGAA sobre as Unidades 3 e 4. Uma tentativa de 60 minutos.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01512" y="1325880"/>
            <a:ext cx="245668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15/11 · 60%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Objetivas + caso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questões objetivas e um estudo de caso discursivo sobre todo o conteúdo, enviado em arquivo.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Aprovação: nota final igual ou superior a 7,0 e 75% de frequência. Exercícios de fixação (sem nota) ajudam a preparar cada avaliação.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segurança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chamada e Prova Final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37947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CHAMADA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perdeu A1, A2 ou A3 por motivo justificado.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Requerimento com documento comprobatório, nos prazos e condições das normas da UNEMAT.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da A3: 10 objetivas + estudo de caso, a distância.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definida pela Coordenação.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325880"/>
            <a:ext cx="3794760" cy="2651760"/>
          </a:xfrm>
          <a:prstGeom prst="roundRect">
            <a:avLst>
              <a:gd name="adj" fmla="val 2069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FINAL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não atingir a nota de aprovação, nas condições das normas vigentes.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conteúdo da disciplina.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da A3: 10 objetivas + estudo de caso, a distância.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definida pela Coordenação.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do 1º bloco: 09/10 a 15/11/2026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das unidades, webaulas e avaliações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98448"/>
          <a:ext cx="38404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697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Outubro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09/10 (sex)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Abertura no SIGAA · Unidade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14/10 (qua)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1ª webaula: aula inaugural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18/10 (dom)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Fóruns de apresentação e temático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19/10 (seg)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Início da Unidade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21/10 (qua)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2ª webaula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25/10 (dom)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da A1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28/10 (qua)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3 · 3ª webaula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298448"/>
          <a:ext cx="38404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697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Novembro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01/11 (dom)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Fórum temático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02/11 (seg)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Início da Unidade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04/11 (qua)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4ª webaula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08/11 (dom)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da A2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11/11 (qua)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5ª webaula: revisão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15/11 (dom)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da A3 · encerramento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Após 15/11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2ª chamada e Prova 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estudar a cada semana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rotina de 6 a 7 horas por semana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393546" cy="210312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videoaula da unidade no SIGAA.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280514" y="1371600"/>
            <a:ext cx="1393546" cy="210312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livro-texto e a página de conteúdos.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3875227" y="1371600"/>
            <a:ext cx="1393546" cy="210312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slides e os exercícios de fixação.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69941" y="1371600"/>
            <a:ext cx="1393546" cy="210312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fórum e da webaula de quarta-feira.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064654" y="1371600"/>
            <a:ext cx="1393546" cy="210312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atividades antes das 23h55 do prazo.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03320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deixe para a última hora: os prazos do SIGAA fecham automaticamente.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2456688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5" name="Image 0" descr="/tmp/claude-0/-home-user-zero-claude/d7e33190-c541-582c-a7cc-1156817732ce/scratchpad/deck/assets/icon_FaSignIn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447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61872"/>
            <a:ext cx="1679448" cy="12984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Acesse o SIGAA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a turma virtual e confira o roteiro da Unidade 1.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43656" y="1188720"/>
            <a:ext cx="2456688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80816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9" name="Image 1" descr="/tmp/claude-0/-home-user-zero-claude/d7e33190-c541-582c-a7cc-1156817732ce/scratchpad/deck/assets/icon_FaComm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4447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29456" y="1261872"/>
            <a:ext cx="1679448" cy="12984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Apresente-se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no fórum de apresentação até 18/10.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01512" y="1188720"/>
            <a:ext cx="2456688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38672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3" name="Image 2" descr="/tmp/claude-0/-home-user-zero-claude/d7e33190-c541-582c-a7cc-1156817732ce/scratchpad/deck/assets/icon_FaVide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6" y="144475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87312" y="1261872"/>
            <a:ext cx="1679448" cy="12984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Aula inaugural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Webaula em 14/10, quarta-feira, às 19h.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22960" y="2852928"/>
            <a:ext cx="7498080" cy="1234440"/>
          </a:xfrm>
          <a:prstGeom prst="roundRect">
            <a:avLst>
              <a:gd name="adj" fmla="val 5926"/>
            </a:avLst>
          </a:prstGeom>
          <a:solidFill>
            <a:srgbClr val="FBF4DC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i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pPr algn="l" indent="0" marL="0">
              <a:lnSpc>
                <a:spcPct val="100000"/>
              </a:lnSpc>
              <a:buNone/>
            </a:pPr>
            <a:r>
              <a:rPr lang="en-US" sz="19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 relação entre Estado e mercado é o primeiro passo para decidir melhor em nome do interesse público. Bons estudos!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UNEMAT / DEAD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Estado, Governo e Mercado – Videoaula de apresentação da disciplina</dc:title>
  <dc:subject>PptxGenJS Presentation</dc:subject>
  <dc:creator>Prof. Dr. Cleiton Franco</dc:creator>
  <cp:lastModifiedBy>Prof. Dr. Cleiton Franco</cp:lastModifiedBy>
  <cp:revision>1</cp:revision>
  <dcterms:created xsi:type="dcterms:W3CDTF">2026-09-26T15:52:33Z</dcterms:created>
  <dcterms:modified xsi:type="dcterms:W3CDTF">2026-09-26T15:52:33Z</dcterms:modified>
</cp:coreProperties>
</file>