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vídeo. Boas-vindas à disciplina Estado, Governo e Mercado.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Olá! Seja bem-vindo(a) à disciplina Estado, Governo e Mercado, a primeira do Módulo Básico da Especialização em Gestão Pública. Eu sou o Prof. Dr. Cleiton Franco. A disciplina acontece no 1º bloco, de 9 de outubro a 15 de novembro de 2026, com 30 horas.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professor: formação em Ciências Contábeis pela UNEMAT, mestrado em Economia pela UFMT, doutorado em Economia pelo PIMES/UFPE e pós-doutorado em Administração. Atualmente, docente do curso de Ciências Contábeis em Sinop e coordenador de projetos de pesquisa em políticas públicas e avaliação de impacto.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da disciplina: como dividir as tarefas entre Estado e mercado para promover o desenvolvimento da economia e o bem-estar da sociedade? Ela aparece no dia a dia do gestor e é a base das próximas disciplinas.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Ementa da disciplina, conforme o PPC, e o objetivo geral.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unidades. A primeira vai de 9 a 18 de outubro; a segunda, de 19 a 25 de outubro; a terceira, de 26 de outubro a 1º de novembro; e a quarta, de 2 a 15 de novembro, com a última semana dedicada à revisão e à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livro-texto base é o de Ricardo Corrêa Coelho, Estado, governo e mercado, disponível no EduCAPES. Há também leituras complementares. Os conteúdos, os slides, os estudos de caso e os exercícios estão na página da disciplina: cleitonfranco74.github.io/gestao_publica. Use sempre fontes autorizadas: EduCAPES, Biblioteca Virtual da UNEMAT, BDTD e fontes oficiais.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30 horas: 28 horas e meia de estudo assíncrono no SIGAA e um único encontro síncrono de 1h30 pelo Google Meet, na segunda-feira, 26 de outubro, das 19h às 20h30. A presença nesse encontro é obrigatória, porque o PPC exige 75% de frequência nas atividades síncronas. O encontro fica gravado no SIGAA.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disciplina tem quatro fóruns, todos na Turma Virtual do SIGAA e nenhum vale nota, mas eles são o nosso principal espaço de diálogo. No fórum de apresentação, até 18 de outubro, você se apresenta em 5 a 10 linhas e comenta a apresentação de um colega. O fórum de dúvidas fica aberto a disciplina toda, e o mediador responde em até 48 horas úteis. O fórum temático 1, também até 18 de outubro, pergunta que falha de mercado uma política pública do seu município procura corrigir e qual função do Estado ela cumpre. O fórum temático 2, de 26 de outubro a 1º de novembro, pede que você avalie uma política pública pelos olhos de um liberal e de um marxista, um ótimo treino para a A3. Para participar, entre na Turma Virtual, vá em Fóruns, abra o fórum da semana e clique em Cadastrar novo tópico.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três avaliações a distância. A A1, até 25 de outubro, e a A2, até 8 de novembro, são questionários de dez questões. A A3, até 15 de novembro, tem dez questões objetivas e um estudo de caso discursivo. A média de A1 e A2 vale 40% e a A3 vale 60%. A aprovação exige nota 7,0 e 75% de frequência.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Quem perder uma avaliação por motivo justificado pode requerer a 2ª chamada, com documento comprobatório. Quem não atingir a nota de aprovação pode fazer a Prova Final, conforme as normas da UNEMAT. As datas são definidas pela Coordenação.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mapa do bloco. Anote as datas: o único encontro síncrono é na segunda-feira, 26 de outubro, às 19h; A1 até 25 de outubro; A2 até 8 de novembro; A3 até 15 de novembro, quando a disciplina se encerra. Todas as entregas até 23h55.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rotina: assista à videoaula, leia o livro e a página de conteúdos, revise com os slides e os exercícios de fixação, participe dos fóruns e do encontro síncrono e entregue as atividades antes das 23h55 do prazo.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começar: acesse o SIGAA, apresente-se no fórum até 18 de outubro e anote na agenda o nosso encontro síncrono, na segunda-feira, 26 de outubro, às 19h. Bons estudos!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zero-claude/d7e33190-c541-582c-a7cc-1156817732ce/scratchpad/deck/assets/bras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2336"/>
            <a:ext cx="1243584" cy="1325880"/>
          </a:xfrm>
          <a:prstGeom prst="rect">
            <a:avLst/>
          </a:prstGeom>
        </p:spPr>
      </p:pic>
      <p:pic>
        <p:nvPicPr>
          <p:cNvPr id="3" name="Image 1" descr="/tmp/claude-0/-home-user-zero-claude/d7e33190-c541-582c-a7cc-1156817732ce/scratchpad/deck/assets/une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2848" y="548640"/>
            <a:ext cx="2743200" cy="1060704"/>
          </a:xfrm>
          <a:prstGeom prst="rect">
            <a:avLst/>
          </a:prstGeom>
        </p:spPr>
      </p:pic>
      <p:pic>
        <p:nvPicPr>
          <p:cNvPr id="4" name="Image 2" descr="/tmp/claude-0/-home-user-zero-claude/d7e33190-c541-582c-a7cc-1156817732ce/scratchpad/deck/assets/dead_apr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9240" y="576072"/>
            <a:ext cx="3063240" cy="1010412"/>
          </a:xfrm>
          <a:prstGeom prst="rect">
            <a:avLst/>
          </a:prstGeom>
        </p:spPr>
      </p:pic>
      <p:sp>
        <p:nvSpPr>
          <p:cNvPr id="5" name="Text 0"/>
          <p:cNvSpPr txBox="1"/>
          <p:nvPr/>
        </p:nvSpPr>
        <p:spPr>
          <a:xfrm>
            <a:off x="1188720" y="1810512"/>
            <a:ext cx="7223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</a:t>
            </a:r>
            <a:endParaRPr lang="en-US" sz="2000" dirty="0"/>
          </a:p>
        </p:txBody>
      </p:sp>
      <p:sp>
        <p:nvSpPr>
          <p:cNvPr id="6" name="Text 1"/>
          <p:cNvSpPr txBox="1"/>
          <p:nvPr/>
        </p:nvSpPr>
        <p:spPr>
          <a:xfrm>
            <a:off x="1188720" y="2157984"/>
            <a:ext cx="7223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4800" dirty="0"/>
          </a:p>
        </p:txBody>
      </p:sp>
      <p:sp>
        <p:nvSpPr>
          <p:cNvPr id="7" name="Text 2"/>
          <p:cNvSpPr txBox="1"/>
          <p:nvPr/>
        </p:nvSpPr>
        <p:spPr>
          <a:xfrm>
            <a:off x="1188720" y="2926080"/>
            <a:ext cx="7223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900" dirty="0"/>
          </a:p>
        </p:txBody>
      </p:sp>
      <p:sp>
        <p:nvSpPr>
          <p:cNvPr id="8" name="Text 3"/>
          <p:cNvSpPr txBox="1"/>
          <p:nvPr/>
        </p:nvSpPr>
        <p:spPr>
          <a:xfrm>
            <a:off x="1243584" y="3474720"/>
            <a:ext cx="4937760" cy="420624"/>
          </a:xfrm>
          <a:prstGeom prst="roundRect">
            <a:avLst>
              <a:gd name="adj" fmla="val 21739"/>
            </a:avLst>
          </a:prstGeom>
          <a:solidFill>
            <a:srgbClr val="E9C85C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 · UAB · Turma 2026/2 · Prof. Dr. Cleiton Franco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371600" y="969264"/>
            <a:ext cx="6400800" cy="402336"/>
          </a:xfrm>
          <a:prstGeom prst="roundRect">
            <a:avLst>
              <a:gd name="adj" fmla="val 22727"/>
            </a:avLst>
          </a:prstGeom>
          <a:solidFill>
            <a:srgbClr val="2A8C85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 de apresentação da disciplina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37944"/>
            <a:ext cx="292608" cy="2926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Especialização em Gestão Pública (Lato Sensu)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645152" y="1554480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809744" y="1728216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User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472" y="1837944"/>
            <a:ext cx="292608" cy="29260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49824" y="1627632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Professor Regente: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640080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04672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Calendar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2825496"/>
            <a:ext cx="292608" cy="29260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44752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&amp; Semestre: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2026/2 · 1º bloco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4645152" y="2542032"/>
            <a:ext cx="3858768" cy="859536"/>
          </a:xfrm>
          <a:prstGeom prst="roundRect">
            <a:avLst>
              <a:gd name="adj" fmla="val 6383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4809744" y="2715768"/>
            <a:ext cx="512064" cy="512064"/>
          </a:xfrm>
          <a:prstGeom prst="roundRect">
            <a:avLst>
              <a:gd name="adj" fmla="val 14286"/>
            </a:avLst>
          </a:prstGeom>
          <a:solidFill>
            <a:srgbClr val="13294B"/>
          </a:solidFill>
          <a:ln/>
        </p:spPr>
      </p:sp>
      <p:pic>
        <p:nvPicPr>
          <p:cNvPr id="18" name="Image 3" descr="/tmp/claude-0/-home-user-zero-claude/d7e33190-c541-582c-a7cc-1156817732ce/scratchpad/deck/assets/icon_FaClo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9472" y="2825496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449824" y="2615184"/>
            <a:ext cx="29718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de Oferta: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09/10/2026 a 15/11/2026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3547872"/>
            <a:ext cx="7863840" cy="676656"/>
          </a:xfrm>
          <a:prstGeom prst="roundRect">
            <a:avLst>
              <a:gd name="adj" fmla="val 8108"/>
            </a:avLst>
          </a:prstGeom>
          <a:solidFill>
            <a:srgbClr val="EAF3F1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horária: 30 h/a</a:t>
            </a:r>
            <a:endParaRPr lang="en-US" sz="15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 no SIGAA · 1,5 h síncrona (encontro virtual em 26/10, 19h)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Dr. Cleiton Franco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 e atuação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325880"/>
            <a:ext cx="420624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Univer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1591056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44752" y="1481328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Formação acadêmica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084832"/>
            <a:ext cx="388620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Graduação: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Ciências Contábeis, UNEMAT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Mestrado: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UFMT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Economia, PIMES/UFPE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Pós-doutorado: </a:t>
            </a:r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Administração, ESAN/UFMS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5120640" y="1325880"/>
            <a:ext cx="3337560" cy="3017520"/>
          </a:xfrm>
          <a:prstGeom prst="roundRect">
            <a:avLst>
              <a:gd name="adj" fmla="val 1818"/>
            </a:avLst>
          </a:prstGeom>
          <a:solidFill>
            <a:srgbClr val="E6F2F0"/>
          </a:solidFill>
          <a:ln/>
        </p:spPr>
      </p:sp>
      <p:sp>
        <p:nvSpPr>
          <p:cNvPr id="10" name="Shape 7"/>
          <p:cNvSpPr/>
          <p:nvPr/>
        </p:nvSpPr>
        <p:spPr>
          <a:xfrm>
            <a:off x="5303520" y="14904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A8C85"/>
          </a:solidFill>
          <a:ln/>
        </p:spPr>
      </p:sp>
      <p:pic>
        <p:nvPicPr>
          <p:cNvPr id="11" name="Image 1" descr="/tmp/claude-0/-home-user-zero-claude/d7e33190-c541-582c-a7cc-1156817732ce/scratchpad/deck/assets/icon_FaBriefcas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4104" y="159105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79592" y="1481328"/>
            <a:ext cx="2468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Atuação atual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5303520" y="2084832"/>
            <a:ext cx="3017520" cy="21945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do curso de Ciências Contábeis da UNEMAT, câmpus de Sinop/MT</a:t>
            </a:r>
            <a:endParaRPr lang="en-US" sz="1450" dirty="0"/>
          </a:p>
          <a:p>
            <a:pPr algn="l" marL="177800" indent="-177800">
              <a:lnSpc>
                <a:spcPct val="10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Coordenador de projetos de pesquisa em políticas públicas e avaliação de impacto</a:t>
            </a:r>
            <a:endParaRPr lang="en-US" sz="1450" dirty="0"/>
          </a:p>
        </p:txBody>
      </p:sp>
      <p:sp>
        <p:nvSpPr>
          <p:cNvPr id="14" name="Text 10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estudar esta disciplina?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que guia as quatro unidades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32588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dividir as tarefas entre Estado e mercado para promover o desenvolvimento da economia e o bem-estar da sociedade?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580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7" name="Image 0" descr="/tmp/claude-0/-home-user-zero-claude/d7e33190-c541-582c-a7cc-1156817732ce/scratchpad/deck/assets/icon_Fa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2862072"/>
            <a:ext cx="256032" cy="25603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trabalho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Tarifas, concessões, programas sociais, regulação e orçamento respondem a essa pergunta todos os dias.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709160" y="26060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46320" y="27614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1" name="Image 1" descr="/tmp/claude-0/-home-user-zero-claude/d7e33190-c541-582c-a7cc-1156817732ce/scratchpad/deck/assets/icon_FaProjectDiagra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6904" y="2862072"/>
            <a:ext cx="256032" cy="25603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394960" y="2679192"/>
            <a:ext cx="2971800" cy="127101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curso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para O Público e o Privado, Desenvolvimento do Estado Brasileiro e Políticas Públicas.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 e objetivo geral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o Projeto Pedagógico do Curso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4663440" cy="31089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Ementa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Conceitos básicos. A dinâmica pendular das relações entre Estado e mercado. Duas matrizes teóricas para a interpretação das relações entre Estado e mercado: a liberal e a marxista. A formação da matriz do pensamento liberal. A matriz marxista. As mudanças nas sociedades capitalistas no final do século XIX e seus impactos sobre as matrizes marxista e liberal. O Estado liberal. O Estado socialista. O Estado de bem-estar social. O Estado neoliberal.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532120" y="1298448"/>
            <a:ext cx="2926080" cy="3108960"/>
          </a:xfrm>
          <a:prstGeom prst="roundRect">
            <a:avLst>
              <a:gd name="adj" fmla="val 1875"/>
            </a:avLst>
          </a:prstGeom>
          <a:solidFill>
            <a:srgbClr val="E6F2F0"/>
          </a:solidFill>
          <a:ln/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as relações entre Estado, governo e mercado à luz dos fundamentos da economia e das matrizes liberal e marxista, analisando os modelos de Estado e suas implicações para a gestão pública brasileira.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unidades, uma videoaula para cada uma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 A 18/10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Introdução à economia; Estado, governo e mercado; falhas de mercado e funções do Estado.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67462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19/10 A 25/10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dinâmica pendular entre Estado e mercado e a matriz liberal (Locke e Adam Smith).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26/10 A 01/11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3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matriz marxista e as mudanças do capitalismo no final do século XIX.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52260" y="1325880"/>
            <a:ext cx="1805940" cy="214884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02/11 A 15/11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4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liberal, socialista, de bem-estar e neoliberal; o Estado brasileiro.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703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único: segunda-feira, 26/10, às 19h. De 09/11 a 15/11: revisão e Avaliação A3.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Bibliografia e fontes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obrigatória, complementar e repositórios autorizados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298448"/>
            <a:ext cx="3657600" cy="3063240"/>
          </a:xfrm>
          <a:prstGeom prst="roundRect">
            <a:avLst>
              <a:gd name="adj" fmla="val 179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LIVRO-TEXTO BASE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COELHO, Ricardo Corrêa. Estado, governo e mercado. 3. ed. Florianópolis: UFSC; Brasília: CAPES/UAB, 2014.</a:t>
            </a:r>
            <a:endParaRPr lang="en-US" sz="1150" dirty="0"/>
          </a:p>
          <a:p>
            <a:pPr algn="l"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obrigatória em todas as unidades. Acesso livre no Portal EduCAPES (coleção PNAP, Módulo Básico) e na página da disciplina.</a:t>
            </a:r>
            <a:endParaRPr lang="en-US" sz="11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Básicas do PPC também: LEITE JÚNIOR (2009); WEFFORT (1996).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298448"/>
            <a:ext cx="388620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Leituras complementares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BOBBIO (1987); VASCONCELLOS, Economia: micro e macro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ANDERSON (1995); BRESSER-PEREIRA (1998)</a:t>
            </a:r>
            <a:endParaRPr lang="en-US" sz="15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Constituição de 1988; Lei de Responsabilidade Fiscal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3017520"/>
            <a:ext cx="3886200" cy="1344168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buscar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da disciplina: </a:t>
            </a:r>
            <a:endParaRPr lang="en-US" sz="15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cleitonfranco74.github.io/gestao_publica</a:t>
            </a:r>
            <a:endParaRPr lang="en-US" sz="15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EduCAPES · Biblioteca Virtual da UNEMAT · BDTD · fontes oficiais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ecossistema de aprendizagem (30 h/a)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as horas da disciplina se distribuem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85800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6" name="Image 0" descr="/tmp/claude-0/-home-user-zero-claude/d7e33190-c541-582c-a7cc-1156817732ce/scratchpad/deck/assets/icon_Fa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554480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28,5 H ASSÍNCRONAS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núcleo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Videoaulas, leituras, fóruns, exercícios de fixação e avaliações no SIGAA, no seu ritmo, seguindo o roteiro de entregas.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43656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80816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0" name="Image 1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554480"/>
            <a:ext cx="256032" cy="2560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29456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H SÍNCRONA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encontro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Único, no Google Meet: segunda-feira, 26/10, 19h às 20h30. Revisão das Unidades 1 e 2, abertura da Unidade 3 e orientações para A2 e A3.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001512" y="1298448"/>
            <a:ext cx="2456688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138672" y="14538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4" name="Image 2" descr="/tmp/claude-0/-home-user-zero-claude/d7e33190-c541-582c-a7cc-1156817732ce/scratchpad/deck/assets/icon_FaHandsHelp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554480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687312" y="1371600"/>
            <a:ext cx="1679448" cy="2139696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MEDIAÇÃO PEDAGÓGICA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apoio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mediador acompanha sua participação e leva dúvidas e dificuldades ao professor.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685800" y="3730752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obrigatória no encontro síncrono (PPC: 75% de frequência nas atividades síncronas).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Fóruns da disciplina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fóruns na Turma Virtual do SIGAA, todos sem nota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61872"/>
          <a:ext cx="77724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280160"/>
                <a:gridCol w="4892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o aluno faz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apresentação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 de 5 a 10 linhas: nome, cidade e polo, onde trabalha e o que entende hoje por “papel do Estado na economia”. Comenta a apresentação de pelo menos um colega.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de dúvidas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disciplina toda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Tira dúvidas de conteúdo e de organização, indicando a unidade e o slide ou a página. O mediador responde em até 48 horas úteis.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a 18/10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“Que falha de mercado uma política pública do seu município procura corrigir? Qual função do Estado (alocativa, distributiva ou estabilizadora) ela cumpre?” Postagem de 10 a 20 linhas e comentários em pelo menos 2 colegas.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a 01/11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“Escolha uma política pública e explique como um liberal e um marxista a avaliariam.” Postagem de 15 a 25 linhas e comentários em 2 colegas. Serve de treino para o estudo de caso da A3.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avaliação: três etapas, todas a distância</a:t>
            </a:r>
            <a:endParaRPr lang="en-US" sz="23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final = (((A1 + A2) / 2) × 0,4) + (A3 × 0,6)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25/10 · 40% (COM A A2)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1 e 2. Uma tentativa de 60 minutos.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343656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08/11 · 40% (COM A A1)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 · Questionário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no SIGAA sobre as Unidades 3 e 4. Uma tentativa de 60 minutos.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001512" y="1325880"/>
            <a:ext cx="2456688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01600" tIns="101600" rIns="101600" bIns="101600" rtlCol="0" anchor="t"/>
          <a:lstStyle/>
          <a:p>
            <a:pPr algn="l" indent="0" marL="0">
              <a:lnSpc>
                <a:spcPct val="100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15/11 · 60%</a:t>
            </a:r>
            <a:endParaRPr lang="en-US" sz="1100" dirty="0"/>
          </a:p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· Objetivas + caso</a:t>
            </a:r>
            <a:endParaRPr lang="en-US" sz="11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questões objetivas e um estudo de caso discursivo sobre todo o conteúdo, enviado em arquivo.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657600"/>
            <a:ext cx="7772400" cy="658368"/>
          </a:xfrm>
          <a:prstGeom prst="roundRect">
            <a:avLst>
              <a:gd name="adj" fmla="val 11111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Aprovação: nota final igual ou superior a 7,0 e 75% de frequência. Exercícios de fixação (sem nota) ajudam a preparar cada avaliação.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de segurança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chamada e Prova Final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CHAMADA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perdeu A1, A2 ou A3 por motivo justificado.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Requerimento com documento comprobatório, nos prazos e condições das normas da UNEMAT.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325880"/>
            <a:ext cx="3794760" cy="2651760"/>
          </a:xfrm>
          <a:prstGeom prst="roundRect">
            <a:avLst>
              <a:gd name="adj" fmla="val 2069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FINAL</a:t>
            </a:r>
            <a:endParaRPr lang="en-US" sz="1200" dirty="0"/>
          </a:p>
          <a:p>
            <a:pPr algn="l" indent="0" marL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quem não atingir a nota de aprovação, nas condições das normas vigentes.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conteúdo da disciplina.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da A3: 10 objetivas + estudo de caso, a distância.</a:t>
            </a:r>
            <a:endParaRPr lang="en-US" sz="1200" dirty="0"/>
          </a:p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definida pela Coordenação.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mapa do 1º bloco: 09/10 a 15/11/2026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das unidades, do encontro síncrono e das avaliações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Outubro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09/10 (sex)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Abertura no SIGAA · Unidade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Fóruns de apresentação e temático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25/10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26/10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3 · encontro síncrono, 19h–20h30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298448"/>
          <a:ext cx="38404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697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Novembro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4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Fórum temático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02/11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Início da Unidade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09/11 (seg)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 de revisão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15/11 (dom)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da A3 · encerramento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Após 15/11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2ª chamada e Prova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8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estudar a cada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804672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rotina de 6 a 7 horas por semana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videoaula da unidade no SIGAA.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228051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Leia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livro-texto e a página de conteúdos.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3875227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os slides e os exercícios de fixação.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69941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fóruns e do encontro síncrono (26/10).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064654" y="1371600"/>
            <a:ext cx="1393546" cy="2103120"/>
          </a:xfrm>
          <a:prstGeom prst="roundRect">
            <a:avLst>
              <a:gd name="adj" fmla="val 3937"/>
            </a:avLst>
          </a:prstGeom>
          <a:solidFill>
            <a:srgbClr val="FFFFFF"/>
          </a:solidFill>
          <a:ln w="12700">
            <a:solidFill>
              <a:srgbClr val="DCD5C1"/>
            </a:solidFill>
          </a:ln>
        </p:spPr>
        <p:txBody>
          <a:bodyPr wrap="square" lIns="114300" tIns="114300" rIns="114300" bIns="114300" rtlCol="0" anchor="t"/>
          <a:lstStyle/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3000" b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000" dirty="0"/>
          </a:p>
          <a:p>
            <a:pPr algn="l" indent="0" marL="0">
              <a:lnSpc>
                <a:spcPct val="10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Entregue</a:t>
            </a:r>
            <a:endParaRPr lang="en-US" sz="3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atividades antes das 23h55 do prazo.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03320"/>
            <a:ext cx="7772400" cy="566928"/>
          </a:xfrm>
          <a:prstGeom prst="roundRect">
            <a:avLst>
              <a:gd name="adj" fmla="val 12903"/>
            </a:avLst>
          </a:prstGeom>
          <a:solidFill>
            <a:srgbClr val="E6F2F0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deixe para a última hora: os prazos do SIGAA fecham automaticamente.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56032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5" name="Image 0" descr="/tmp/claude-0/-home-user-zero-claude/d7e33190-c541-582c-a7cc-1156817732ce/scratchpad/deck/assets/icon_FaSignIn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" y="14447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Acesse o SIGAA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a turma virtual e confira o roteiro da Unidade 1.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343656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80816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9" name="Image 1" descr="/tmp/claude-0/-home-user-zero-claude/d7e33190-c541-582c-a7cc-1156817732ce/scratchpad/deck/assets/icon_FaComme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4447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029456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Apresente-se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 no fórum de apresentação até 18/10.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6001512" y="1188720"/>
            <a:ext cx="2456688" cy="1444752"/>
          </a:xfrm>
          <a:prstGeom prst="roundRect">
            <a:avLst>
              <a:gd name="adj" fmla="val 3797"/>
            </a:avLst>
          </a:prstGeom>
          <a:solidFill>
            <a:srgbClr val="FFFFFF"/>
          </a:solidFill>
          <a:ln w="12700">
            <a:solidFill>
              <a:srgbClr val="DCD5C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138672" y="134416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13294B"/>
          </a:solidFill>
          <a:ln/>
        </p:spPr>
      </p:sp>
      <p:pic>
        <p:nvPicPr>
          <p:cNvPr id="13" name="Image 2" descr="/tmp/claude-0/-home-user-zero-claude/d7e33190-c541-582c-a7cc-1156817732ce/scratchpad/deck/assets/icon_FaVide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9256" y="1444752"/>
            <a:ext cx="256032" cy="25603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687312" y="1261872"/>
            <a:ext cx="1679448" cy="129844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lnSpc>
                <a:spcPct val="100000"/>
              </a:lnSpc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Anote na agenda</a:t>
            </a:r>
            <a:endParaRPr lang="en-US" sz="1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Encontro síncrono em 26/10, segunda-feira, às 19h.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822960" y="2852928"/>
            <a:ext cx="7498080" cy="1234440"/>
          </a:xfrm>
          <a:prstGeom prst="roundRect">
            <a:avLst>
              <a:gd name="adj" fmla="val 5926"/>
            </a:avLst>
          </a:prstGeom>
          <a:solidFill>
            <a:srgbClr val="FBF4DC"/>
          </a:solidFill>
          <a:ln/>
        </p:spPr>
        <p:txBody>
          <a:bodyPr wrap="square" lIns="152400" tIns="152400" rIns="152400" bIns="15240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i="1" dirty="0">
                <a:solidFill>
                  <a:srgbClr val="2A8C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 </a:t>
            </a:r>
            <a:pPr algn="l" indent="0" marL="0">
              <a:lnSpc>
                <a:spcPct val="100000"/>
              </a:lnSpc>
              <a:buNone/>
            </a:pPr>
            <a:r>
              <a:rPr lang="en-US" sz="1900" i="1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Compreender a relação entre Estado e mercado é o primeiro passo para decidir melhor em nome do interesse público. Bons estudos!</a:t>
            </a:r>
            <a:endParaRPr lang="en-US" sz="1900" dirty="0"/>
          </a:p>
        </p:txBody>
      </p:sp>
      <p:sp>
        <p:nvSpPr>
          <p:cNvPr id="16" name="Text 11"/>
          <p:cNvSpPr txBox="1"/>
          <p:nvPr/>
        </p:nvSpPr>
        <p:spPr>
          <a:xfrm>
            <a:off x="4206240" y="36576"/>
            <a:ext cx="4800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Estado, Governo e Mercado · Apresentação da disciplina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UNEMAT / DEAD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Estado, Governo e Mercado – Videoaula de apresentação da disciplina</dc:title>
  <dc:subject>PptxGenJS Presentation</dc:subject>
  <dc:creator>Prof. Dr. Cleiton Franco</dc:creator>
  <cp:lastModifiedBy>Prof. Dr. Cleiton Franco</cp:lastModifiedBy>
  <cp:revision>1</cp:revision>
  <dcterms:created xsi:type="dcterms:W3CDTF">2026-09-30T01:46:28Z</dcterms:created>
  <dcterms:modified xsi:type="dcterms:W3CDTF">2026-09-30T01:46:28Z</dcterms:modified>
</cp:coreProperties>
</file>