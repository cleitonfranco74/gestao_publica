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Km pavimentados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escolas</c:v>
                  </c:pt>
                  <c:pt idx="1">
                    <c:v>1 escola</c:v>
                  </c:pt>
                  <c:pt idx="2">
                    <c:v>2 escolas</c:v>
                  </c:pt>
                  <c:pt idx="3">
                    <c:v>3 escolas</c:v>
                  </c:pt>
                  <c:pt idx="4">
                    <c:v>4 escolas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11</c:v>
                </c:pt>
                <c:pt idx="2">
                  <c:v>9</c:v>
                </c:pt>
                <c:pt idx="3">
                  <c:v>6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(passageiros)</c:v>
                </c:pt>
              </c:strCache>
            </c:strRef>
          </c:tx>
          <c:spPr>
            <a:solidFill>
              <a:srgbClr val="C0504D"/>
            </a:solidFill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130</c:v>
                </c:pt>
                <c:pt idx="1">
                  <c:v>115</c:v>
                </c:pt>
                <c:pt idx="2">
                  <c:v>100</c:v>
                </c:pt>
                <c:pt idx="3">
                  <c:v>85</c:v>
                </c:pt>
                <c:pt idx="4">
                  <c:v>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Oferta (empresa)</c:v>
                </c:pt>
              </c:strCache>
            </c:strRef>
          </c:tx>
          <c:spPr>
            <a:solidFill>
              <a:srgbClr val="2A8C85"/>
            </a:solidFill>
            <a:ln w="31750" cap="flat">
              <a:solidFill>
                <a:srgbClr val="2A8C85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8C85"/>
              </a:solidFill>
              <a:ln w="9525" cap="flat">
                <a:solidFill>
                  <a:srgbClr val="2A8C8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R$ 3,00</c:v>
                  </c:pt>
                  <c:pt idx="1">
                    <c:v>R$ 3,75</c:v>
                  </c:pt>
                  <c:pt idx="2">
                    <c:v>R$ 4,50</c:v>
                  </c:pt>
                  <c:pt idx="3">
                    <c:v>R$ 5,25</c:v>
                  </c:pt>
                  <c:pt idx="4">
                    <c:v>R$ 6,00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120</c:v>
                </c:pt>
                <c:pt idx="4">
                  <c:v>140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Despesa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3294B"/>
              </a:solidFill>
              <a:effectLst/>
            </c:spPr>
          </c:dPt>
          <c:dPt>
            <c:idx val="1"/>
            <c:bubble3D val="0"/>
            <c:spPr>
              <a:solidFill>
                <a:srgbClr val="2A8C85"/>
              </a:solidFill>
              <a:effectLst/>
            </c:spPr>
          </c:dPt>
          <c:dPt>
            <c:idx val="2"/>
            <c:bubble3D val="0"/>
            <c:spPr>
              <a:solidFill>
                <a:srgbClr val="E0A72E"/>
              </a:solidFill>
              <a:effectLst/>
            </c:spPr>
          </c:dPt>
          <c:dPt>
            <c:idx val="3"/>
            <c:bubble3D val="0"/>
            <c:spPr>
              <a:solidFill>
                <a:srgbClr val="C0504D"/>
              </a:solidFill>
              <a:effectLst/>
            </c:spPr>
          </c:dPt>
          <c:dPt>
            <c:idx val="4"/>
            <c:bubble3D val="0"/>
            <c:spPr>
              <a:solidFill>
                <a:srgbClr val="7A8B99"/>
              </a:solidFill>
              <a:effectLst/>
            </c:spPr>
          </c:dPt>
          <c:dPt>
            <c:idx val="5"/>
            <c:bubble3D val="0"/>
            <c:spPr>
              <a:solidFill>
                <a:srgbClr val="6B4C9A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Educação</c:v>
                </c:pt>
                <c:pt idx="1">
                  <c:v>Saúde</c:v>
                </c:pt>
                <c:pt idx="2">
                  <c:v>Urbanismo</c:v>
                </c:pt>
                <c:pt idx="3">
                  <c:v>Administração</c:v>
                </c:pt>
                <c:pt idx="4">
                  <c:v>Assistência social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27</c:v>
                </c:pt>
                <c:pt idx="1">
                  <c:v>22</c:v>
                </c:pt>
                <c:pt idx="2">
                  <c:v>15</c:v>
                </c:pt>
                <c:pt idx="3">
                  <c:v>14</c:v>
                </c:pt>
                <c:pt idx="4">
                  <c:v>5</c:v>
                </c:pt>
                <c:pt idx="5">
                  <c:v>17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Sejam bem-vindos e bem-vindas à Unidade 1 da disciplina Estado, Governo e Mercado. Eu sou o Prof. Dr. Cleiton Franco. Nesta videoaula, vamos construir a base de toda a disciplina: alguns conceitos fundamentais de economia e a diferença entre Estado, governo e mercado. Tenha papel e caneta por perto, porque esses conceitos vão aparecer nos fóruns e nas avaliações.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um lembrete da organização. Esta unidade vai de 9 a 18 de outubro. A leitura principal é o livro de Ricardo Corrêa Coelho, Estado, governo e mercado, na parte dos conceitos básicos, junto com os tópicos 1 e 2 do sumário da página de conteúdos. O fórum de apresentação e o fórum temático 1 ficam abertos até 18 de outubro, às 23h55. A videoaula tem duas partes: primeiro, fundamentos de economia; depois, os conceitos de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Começamos pela Parte 1, que corresponde ao tópico 1 do sumário da página de conteúdos: introdução à economia e seus conceitos básicos. Por que um curso de gestão pública começa pela economia? Porque toda decisão pública é, no fundo, uma escolha sobre como usar recursos limitados.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Economia é a ciência social que estuda como a sociedade emprega recursos escassos para produzir bens e serviços e distribuí-los entre as pessoas. Duas ideias sustentam essa definição. A primeira é a escassez: os recursos são limitados e as necessidades são praticamente ilimitadas, por isso é preciso escolher. A segunda é o custo de oportunidade: o valor da melhor alternativa de que abrimos mão. Se o município constrói uma ponte, talvez deixe de construir uma escola. Guarde esse conceito, porque ele atravessa todo 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 um exemplo da gestão pública. A prefeitura tem 5 milhões de reais para uma única obra e três opções: ampliar a UBS central, pavimentar 3 quilômetros de ruas ou reformar duas escolas. Se escolher a UBS, o custo de oportunidade são as ruas e as escolas que deixarão de ser feitas. A pergunta do gestor é: qual alternativa gera mais benefício para a população com os mesmos recursos? Para responder, ele conta com o diagnóstico das demandas, com indicadores, com audiências públicas e com o Plano Plurianual, o PPA.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a mesma ideia de forma visual. [Apontar para a curva.] É a fronteira de possibilidades do orçamento: cada ponto usa todo o dinheiro disponível. Sem reformar nenhuma escola, dá para pavimentar 12 quilômetros. Reformar a primeira escola custa apenas 1 quilômetro de rua; a quarta escola já custa 6 quilômetros. Ou seja, o custo de oportunidade cresce à medida que avançamos numa direção. E um ponto abaixo da curva significa desperdício: daria para fazer mais com o mesmo orçamento. Os números são hipotéticos, só para ilustrar o raciocínio.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sociedade precisa responder a três perguntas. O que produzir: hospitais ou estradas, e em que quantidade? Como produzir: com que tecnologia e com que combinação de trabalho, máquinas e recursos naturais? E para quem produzir: como o produto e a renda serão distribuídos? A forma como cada sociedade responde a essas perguntas define o seu sistema econômico, e é aí que entram o Estado e o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produzir, a economia usa fatores de produção, e cada um tem a sua remuneração. A terra, que inclui os recursos naturais, como solo, água, minérios e florestas, recebe aluguel. O trabalho, o esforço físico e intelectual das pessoas, recebe salário. O capital, isto é, máquinas, equipamentos e instalações, recebe juros. E a capacidade empresarial, que organiza os demais fatores e assume os riscos, recebe lucro. Esses fatores circulam entre quatro agentes econômicos. As famílias ofertam fatores e consomem. As empresas contratam fatores e produzem. O governo tributa, oferece serviços, regula e redistribui renda. E o setor externo troca bens, serviços e capitais com o país. Repare que o governo também é um agente econômico: ele compra, contrata, paga e arrecada.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responde às três perguntas? Depende do sistema econômico, e a tabela compara três deles por quem decide, pelo mecanismo de coordenação e pela propriedade dos meios de produção. Na economia de mercado, o capitalismo, decidem os consumidores e as empresas, a coordenação é feita pelos preços, pela oferta e pela demanda, e a propriedade é predominantemente privada. Na economia centralmente planificada, o socialismo, decide um órgão central de planejamento, com plano e metas de produção, e a propriedade é predominantemente estatal ou coletiva. Na economia mista, decidem o mercado e o Estado: há preços, mas com regulação e intervenção estatal, e a propriedade é privada, com empresas e serviços públicos. Hoje, todas as economias são mistas. O que muda de um país para outro, e de uma época para outra, é o grau de presença do Estado. E esse é o grande tema da nossa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é o espaço, físico ou virtual, em que compradores e vendedores se encontram, e os preços funcionam como sinais. A lei da demanda diz que, tudo o mais constante, quando o preço sobe, a quantidade demandada cai. A lei da oferta diz que, quando o preço sobe, a quantidade ofertada aumenta. O equilíbrio acontece no preço em que a quantidade demandada é igual à ofertada. Acima dele sobra produto, e o preço tende a cair; abaixo dele falta produto, e o preço tende a subir. Um exemplo da gestão pública: se a prefeitura tabela o estacionamento rotativo abaixo do equilíbrio, a tendência é faltar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quando o governo fixa o preço? Pense numa tarifa de ônibus congelada abaixo do custo por passageiro, sem nenhum subsídio. A empresa tende a reduzir a frota: os ônibus lotam e os intervalos aumentam. É exatamente o excesso de demanda que o modelo prevê. Um preço máximo, ou teto, abaixo do equilíbrio gera falta, filas e perda de qualidade. Um preço mínimo, ou piso, acima do equilíbrio gera sobra. Uma alternativa é o subsídio: o poder público cobre parte do custo e mantém a oferta. Nenhuma dessas escolhas é neutra; cada uma tem custos e beneficiários.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ver esse caso no gráfico. [Apontar para o cruzamento das linhas.] A linha vermelha é a demanda dos passageiros e a verde, a oferta da empresa. Elas se cruzam em 4 reais e 50 centavos, com 100 mil viagens por dia: esse é o equilíbrio. Se a tarifa for congelada em 3 reais, os passageiros querem 130 mil viagens, mas a empresa só oferece 60 mil. Faltam 70 mil viagens por dia, que aparecem como ônibus lotados e filas. As saídas são um subsídio ou uma tarifa que cubra o custo. São dados hipotéticos, para ilustrar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passar à Parte 2, uma distinção importante. A microeconomia estuda as unidades individuais: consumidores, empresas e mercados específicos, e como os preços se formam. A tarifa do ônibus que acabamos de ver é um tema micro. A macroeconomia estuda os agregados: PIB, emprego, inflação, juros, câmbio e contas públicas. Uma recessão que derruba a arrecadação do município é um tema macro. Grande parte do debate sobre o papel do Estado é macroeconômico, e é nesse terreno que Keynes vai atuar,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a Parte 2, que corresponde ao tópico 2 do sumário: Estado, governo e mercado, conceitos e funções. Parecem conceitos óbvios, mas são confundidos com frequência, inclusive no noticiário.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tem três elementos constitutivos. O povo: o conjunto de pessoas vinculadas juridicamente ao Estado, os cidadãos. O território: o espaço físico sobre o qual o Estado exerce o seu poder. E a soberania: o poder supremo dentro do território e a independência em relação a outros Estados. O Estado moderno nasce da centralização do poder político, entre os séculos XV e XVII, quando surgem exércitos, tributos e administração permanentes.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Weber nos dá uma das definições mais conhecidas: o Estado é a comunidade humana que reivindica, com êxito, o monopólio do uso legítimo da força física em um território. A palavra-chave é legítimo. E por que as pessoas obedecem? Weber identifica três tipos de dominação. A tradicional, baseada no costume, como a do monarca. A carismática, baseada nas qualidades extraordinárias de um líder. E a legal-racional, baseada em normas impessoais, que é a base da burocracia moderna. No Brasil, o concurso público e os princípios do artigo 37 da Constituição, legalidade, impessoalidade, moralidade, publicidade e eficiência, expressam a dominação legal-racional.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separar os conceitos. O Estado é a organização político-jurídica permanente e soberana sobre um território e sua população. O governo é o grupo que dirige o Estado num dado momento e define as políticas; é transitório. A administração pública é o aparelho, isto é, os órgãos, as entidades e os servidores, que executa as políticas definidas pelo governo. O mercado é a coordenação descentralizada das atividades econômicas, pela troca voluntária e pelos preços. E a sociedade civil reúne associações, movimentos e o terceiro setor, que não são Estado nem, estritamente, mercado. Um teste simples: quando o governo muda depois de uma eleição, o Estado brasileiro continua o mesmo, com a mesma Constituição, o mesmo território e as mesmas instituições permanentes. Muda apenas o grupo que conduz as políticas.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governo pode ser analisado por três ângulos. Pela forma: monarquia ou república; na república, o chefe de Estado é eleito e governa por mandato. Pelo sistema: presidencialismo ou parlamentarismo; no presidencialismo, o presidente é, ao mesmo tempo, chefe de Estado e de governo. E pela separação dos poderes: Executivo, Legislativo e Judiciário, porque, como dizia Montesquieu, o poder deve limitar o poder. O Brasil é uma república federativa presidencialista, com União, estados, Distrito Federal e municípios. No município, o Executivo é o prefeito e o Legislativo, a Câmara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ponto importante: o mercado não funciona no vazio. Ele precisa de propriedade definida e contratos cumpridos, de moeda estável, de concorrência, com muitos compradores e vendedores, e de informação sobre preços e qualidade. E quem garante tudo isso? O próprio Estado: a Justiça faz cumprir os contratos, o Banco Central cuida da moeda e os órgãos de defesa da concorrência combatem os abusos. Por isso, Estado e mercado não são simplesmente opostos: um depende do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bens podem ser classificados por dois critérios. A rivalidade: quando o consumo de uma pessoa reduz o que sobra para as outras. E a exclusão: quando é possível impedir alguém de usar. Bens rivais e excludentes são os bens privados: alimento, roupa, carro. Excludentes, mas não rivais, são os bens de clube, como a TV por assinatura ou a rodovia com pedágio. Rivais, mas não excludentes, são os recursos comuns, como os peixes de um rio. E não rivais e não excludentes são os bens públicos, como a defesa e a iluminação pública. Ninguém pode ser impedido de usar a rua iluminada; por isso o município oferece a iluminação e a financia com a COSIP, a contribuição prevista no artigo 149-A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nos leva à pergunta central: por que o Estado atua na economia? A teoria econômica responde com as falhas de mercado. Os bens públicos: como ninguém pode ser excluído, surge o carona, o free rider, que usa sem pagar, e o mercado tende a não oferecê-los. As externalidades, negativas como a poluição, ou positivas como a vacinação e a educação. O poder de mercado, como os monopólios naturais de saneamento e energia. A assimetria de informação, em áreas como saúde, crédito e medicamentos. A instabilidade: desemprego, recessão e inflação. E a desigualdade, quando a distribuição da renda é considerada injusta. Repare que mesmo os defensores do mercado reconhecem essas falhas.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trazer isso para Mato Grosso. As queimadas são uma externalidade negativa: a fumaça afeta a saúde de quem mora longe do foco, e a resposta pública é fiscalização, multas e brigadas. A energia elétrica é um monopólio natural: não faz sentido ter várias redes de distribuição, então a ANEEL regula tarifas e qualidade. Os medicamentos envolvem assimetria de informação: o paciente não consegue avaliar o remédio, por isso existem o registro e a vigilância sanitária da ANVISA. E a vacinação é uma externalidade positiva: protege também quem não se vacinou, por isso o SUS oferece as vacinas de graça.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também falha. Este slide coloca lado a lado as falhas de mercado e as falhas de governo: a captura do Estado por interesses privados, a ineficiência, a corrupção, a rigidez burocrática e os custos de informação, já que o governo nem sempre sabe o que a população precisa. O Estado não é uma solução automática. E aqui está uma chave para toda a disciplina: o debate entre as matrizes teóricas é, em grande medida, um debate sobre qual falha é mais grave, a do mercado ou a do governo.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Richard Musgrave organizou as funções econômicas do Estado em três, como mostra a tabela. A função alocativa tem o objetivo de ofertar bens e serviços que o mercado não provê de forma adequada, como segurança, justiça, saneamento e infraestrutura. A função distributiva busca ajustar a distribuição de renda e riqueza, com tributação progressiva, o Bolsa Família, o BPC e a previdência. E a função estabilizadora procura manter o emprego, a estabilidade de preços e o crescimento, por meio das políticas fiscal e monetária. Repare que uma mesma política pode cumprir mais de uma função: o SUS, por exemplo, é alocativo e também distributivo.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município? A função alocativa é a mais presente: UBS, escolas, pavimentação, coleta de lixo e iluminação. A distributiva aparece no IPTU progressivo, na tarifa social de água, no CRAS e na assistência social. A estabilizadora é limitada, porque a política monetária e boa parte da política fiscal são da União; mas o município pode, por exemplo, antecipar obras em anos de crise para gerar empregos. Fica a pergunta para o fórum: que função cumpre a política pública que você escolheu?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mostra como um município hipotético distribui a sua despesa por função. [Apontar para as fatias.] Educação, com 27%, e saúde, com 22%, somam quase metade do gasto. Há uma razão para isso: a Constituição exige aplicar ao menos 25% da receita de impostos, incluindo as transferências, em educação, e 15% em saúde. A maior parte do orçamento cumpre a função alocativa; a assistência social, com 5%, é o exemplo típico da função distributiva. Os dados reais do seu município estão no SICONFI, do Tesouro Nacional. Vale a pena conferir.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da Unidade 1. A disciplina abre no SIGAA em 9 de outubro, com o vídeo de apresentação e esta videoaula. Até 18 de outubro, participe do fórum de apresentação e do fórum temático 1, que pergunta: que falha de mercado uma política pública do seu município procura corrigir? Todas as entregas vão até as 23h55. Na próxima unidade, vamos estudar a dinâmica pendular entre Estado e mercado e a matriz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fechar, um quiz com cinco perguntas. Funciona assim: eu leio a pergunta, você pausa o vídeo, escolhe a sua resposta e, no slide seguinte, confere a correção.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Qual destes NÃO é um elemento constitutivo do Estado? Letra a: Povo. Letra b: Território. Letra c: Soberania. Letra d: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Mercado. Os elementos clássicos do Estado são povo, território e soberania (poder político). O mercado é outra esfera de coordenação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Concursos públicos, leis e impessoalidade na administração expressam, segundo Weber, a dominação: Letra a: Tradicional. Letra b: Carismática. Letra c: Legal-racional. Letra d: Patrimonial.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Legal-racional. A dominação legal-racional baseia-se na obediência a normas impessoais: é a base da burocracia moderna e do art. 37 da Constituição.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iluminação das ruas de uma cidade é um exemplo de bem: Letra a: Privado. Letra b: De clube. Letra c: Comum. Letra d: Público.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Público. É não rival (todos usam ao mesmo tempo) e não excludente (ninguém é impedido de usar). Por isso o mercado não a oferece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A fumaça das queimadas que prejudica a saúde de moradores de outras cidades é: Letra a: Uma externalidade negativa. Letra b: Um bem público. Letra c: Assimetria de informação. Letra d: Um monopólio natural.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Uma externalidade negativa. É um custo imposto a terceiros que não aparece no preço de nenhum produto: uma externalidade negativa, que justifica fiscalização e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IPTU progressivo e tarifa social de água cumprem qual função econômica do Estado? Letra a: Alocativa. Letra b: Distributiva. Letra c: Estabilizadora. Letra d: Fixação de preços.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Distributiva. São instrumentos da função distributiva: cobram mais de quem tem mais e reduzem o custo para as famílias de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1, vamos recapitular. [Apontar para o quadro da esquerda.] No tópico 1, vimos que a economia estuda como a sociedade faz escolhas com recursos escassos, e que toda escolha tem um custo de oportunidade. Toda sociedade precisa responder o que, como e para quem produzir. Conhecemos os fatores de produção e os agentes econômicos, vimos que os preços coordenam o mercado, que todas as economias atuais são mistas, e a diferença entre micro e macroeconomia. [Apontar para o quadro da direita.] No tópico 2, separamos Estado e governo: o Estado, com povo, território e soberania, é permanente; o governo é transitório. Com Weber, entendemos o Estado como o monopólio do uso legítimo da força. Vimos que o mercado depende de instituições garantidas pelo Estado, que as falhas de mercado justificam a ação estatal, mas que o Estado também falha, e conhecemos as três funções de Musgrave: alocativa, distributiva e estabilizadora. Na próxima unidade, estudaremos a dinâmica pendular e a matriz liberal. Revise os conceitos, participe dos fóruns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2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· Introdução à economia; Estado, governo e mercado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1 · Leitura: COELHO (2014), conceitos básicos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1 e 2 do sumário · Fóruns até 18/10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economia: conceitos básicos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Escassez, problemas fundamentais, agentes, sistemas e mercado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economia?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escolher com recursos limitados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61872"/>
            <a:ext cx="7498080" cy="1207008"/>
          </a:xfrm>
          <a:prstGeom prst="roundRect">
            <a:avLst>
              <a:gd name="adj" fmla="val 606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 social que estuda como a sociedade emprega recursos escassos para produzir bens e serviços e distribuí-los entre as pessoas.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são limitados e as necessidades, ilimitadas. Por isso é preciso escolher.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97480"/>
            <a:ext cx="3749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770632"/>
            <a:ext cx="2971800" cy="13167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oportunidade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da melhor alternativa sacrificada. Construir uma ponte pode significar não construir uma escola.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no orçamento público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600200"/>
          </a:xfrm>
          <a:prstGeom prst="roundRect">
            <a:avLst>
              <a:gd name="adj" fmla="val 457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380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milhões para uma única obra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prefeitura pode ampliar a UBS central, pavimentar 3 km de ruas ou reformar duas escolas. Escolher a UBS significa abrir mão das ruas e das escolas: esse é o custo de oportunidade da decisão.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do gestor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alternativa gera mais benefício para a população, com os mesmos recursos?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92608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demandas, indicadores, audiências públicas e o PPA orientam a escolha.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de possibilidades do orçamento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mesmo orçamento: reformar escolas ou pavimentar ruas?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pavimentados × escolas reformadas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ponto da curva usa todo o orçamento.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Reformar a 1ª escola custa 1 km de rua; a 4ª custa 6 km.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oportunidade cresce: essa é a lógica da escassez.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abaixo da curva indicam desperdício.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Inspirado no exemplo da prefeitura com R$ 5 milhões.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problemas econômicos fundamentais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sociedade precisa respondê-los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bens e em que quantidade: hospitais ou estradas?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que tecnologia e com que combinação de fatores?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produzir?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distribuir o produto e a renda?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004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responder a essas perguntas define o sistema econômico.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produção e agentes econômicos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43000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Remuneração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 (recursos naturais)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Solo, água, minérios, florestas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Aluguel (renda da terra)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Esforço humano, físico e intelectual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Salário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Máquinas, equipamentos, instalações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empresarial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dos demais fatores e assunção de riscos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2296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5021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Ofertam fatores e consomem.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66319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80035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934" y="3502152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4899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Contratam fatores e produzem.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64058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77774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3502152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2638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Tributa, provê, regula e redistribui.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617970" y="3246120"/>
            <a:ext cx="184023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755130" y="3401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5714" y="3502152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03770" y="3319272"/>
            <a:ext cx="1062990" cy="8595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externo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bens, serviços e capitais.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econômicos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e como a economia é coordenada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77724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20116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dos meios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de mercado (capitalismo)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Consumidores e empresas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oferta e demanda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privada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centralmente planificada (socialismo)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Órgão central de planejamento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e metas de produção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Predominantemente estatal ou coletiva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 mista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e Estado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Preços, com regulação e intervenção estatal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Privada, com empresas e serviços públicos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70332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economias atuais são mistas. O que muda é o grau de presença do Estado.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Mercado: oferta, demanda e preço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4206240" cy="3017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demanda: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mais constante, preço ↑ → quantidade demandada ↓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da oferta: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↑ → quantidade ofertada ↑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demandada = quantidade ofertada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equilíbrio: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acima gera sobra; preço abaixo gera falta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gestão pública: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estacionamento rotativo tabelado abaixo do equilíbrio faz faltar vaga</a:t>
            </a:r>
            <a:endParaRPr lang="en-US" sz="1450" dirty="0"/>
          </a:p>
        </p:txBody>
      </p:sp>
      <p:pic>
        <p:nvPicPr>
          <p:cNvPr id="4" name="Image 0" descr="/tmp/claude-0/-home-user-zero-claude/d7e33190-c541-582c-a7cc-1156817732ce/scratchpad/deck/assets/oferta_de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188720"/>
            <a:ext cx="3383280" cy="2537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governo fixa o preço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417320"/>
          </a:xfrm>
          <a:prstGeom prst="roundRect">
            <a:avLst>
              <a:gd name="adj" fmla="val 5161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97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congelada abaixo do custo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tarifa fica abaixo do custo por passageiro e não há subsídio, a empresa reduz a frota: os ônibus ficam lotados e os intervalos aumentam. É o excesso de demanda previsto pelo modelo.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MÁXIMO (TETO)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falta do bem ou serviço, filas e perda de qualidade.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MÍNIMO (PISO)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do equilíbrio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sobra: produtos sem comprador ou serviço ocioso.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743200"/>
            <a:ext cx="245668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Subsídio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público cobre parte do custo e mantém a oferta.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Oferta, demanda e preço máximo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ônibus e número de viagens por dia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Viagens por dia (mil), conforme a tarifa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 R$ 4,50, com 100 mil viagens.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 em R$ 3,00, a demanda é de 130 mil e a oferta, de 60 mil.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70 mil viagens: ônibus lotados e filas.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subsídio ou tarifa que cubra o custo.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 e macroeconomia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formas de olhar a economia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INDIVIDUAIS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consumidores, empresas e mercados específicos e a formação dos preços. Ex.: a tarifa do ônibus, o preço do combustível no município.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636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DA 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 PIB, emprego, inflação, juros, câmbio e contas públicas. Ex.: uma recessão que derruba a arrecadação do município.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9184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parte do debate sobre o papel do Estado é macroeconômico: é o terreno de Keynes, que veremos na Unidade 4.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1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mercado: conceitos e funções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fundamentais, falhas de mercado e funções do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constitutivos do Estado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conjunto de pessoas vinculadas juridicamente ao Estado (os cidadãos).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MapMarke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físico sobre o qual o Estado exerce seu poder.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r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53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supremo interno e independência em relação a outros Estados.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moderno nasce da centralização do poder político (séculos XV a XVII), com exército, tributos e administração permanentes.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Estado e dominação legítima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 pessoas obedecem?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68680"/>
          </a:xfrm>
          <a:prstGeom prst="roundRect">
            <a:avLst>
              <a:gd name="adj" fmla="val 8421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é a comunidade humana que reivindica, com êxito, o monopólio do uso legítimo da força física em um território.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Costume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baseada na tradição (o senhor, o monarca).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343656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às qualidades extraordinárias de uma pessoa.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1512" y="2240280"/>
            <a:ext cx="2456688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Obediência a normas impessoais: base da burocracia moderna.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concursos públicos e os princípios do art. 37 da Constituição (legalidade, impessoalidade, moralidade, publicidade e eficiência) expressam a dominação legal-racional.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fundamentais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governo, administração pública, mercado e sociedade civil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Organização político-jurídica permanente que detém a soberania sobre um território e sua população. Para Weber, é a comunidade humana que reivindica com êxito o monopólio do uso legítimo da força física em um território.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que, em dado momento, dirige o Estado e define suas políticas. Governos são transitórios; o Estado é permanente.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Administração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aparelho (órgãos, entidades e servidores) que executa as políticas definidas pelo governo.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coordenação descentralizada das atividades econômicas, baseado na troca voluntária e nos preços.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Sociedade civil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Relações sociais que não pertencem nem ao Estado nem, estritamente, ao mercado: associações, movimentos, terceiro setor.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005072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 Estado com governo: quando o governo muda, o Estado continua o mesmo.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Governo: formas, sistemas e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Monarquia × república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república, o chefe de Estado é eleito e governa por mandato.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GOVERNO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Presidencialismo × parlamentarismo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presidencialismo, o presidente é chefe de Estado e de governo.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34440"/>
            <a:ext cx="24566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DOS PODERES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Executivo, Legislativo, Judiciário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o poder deve limitar o poder.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8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3264408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República federativa presidencialista: União, estados, Distrito Federal e municípios, cada um com seus poderes (no município, prefeito e Câmara Municipal).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como instituição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funciona no vazio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contratos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definidos e contratos cumpridos.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Moeda estável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conta e meio de troca confiáveis.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077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Concorrência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compradores e vendedores.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5176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07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Info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077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2491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e qualidade conhecidos.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85800" y="3749040"/>
            <a:ext cx="7772400" cy="676656"/>
          </a:xfrm>
          <a:prstGeom prst="roundRect">
            <a:avLst>
              <a:gd name="adj" fmla="val 108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garante contratos, moeda e concorrência? O Estado: Justiça, Banco Central e órgãos de defesa da concorrência.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dos bens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no consumo e possibilidade de exclusão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234440"/>
          <a:ext cx="7406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rival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privados: alimento, roupa, carro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de clube: TV por assinatura, rodovia com pedágio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excludente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Recursos comuns: peixes de um rio, pastagem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Bens públicos: defesa, iluminação pública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" y="2834640"/>
            <a:ext cx="7406640" cy="1481328"/>
          </a:xfrm>
          <a:prstGeom prst="roundRect">
            <a:avLst>
              <a:gd name="adj" fmla="val 4938"/>
            </a:avLst>
          </a:prstGeom>
          <a:solidFill>
            <a:srgbClr val="FBF4DC"/>
          </a:solidFill>
          <a:ln/>
        </p:spPr>
      </p:sp>
      <p:sp>
        <p:nvSpPr>
          <p:cNvPr id="6" name="Shape 3"/>
          <p:cNvSpPr/>
          <p:nvPr/>
        </p:nvSpPr>
        <p:spPr>
          <a:xfrm>
            <a:off x="1033272" y="29992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7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099816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944368"/>
            <a:ext cx="6537960" cy="12618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Iluminação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pode ser impedido de usar a rua iluminada. Por isso o município a oferece e a financia com a contribuição de iluminação pública (COSIP), prevista no art. 149-A da Constituição.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Estado atua? As falhas de mercado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rivais e não excludentes; surge o carona (free rider). Ex.: defesa, iluminação.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(negativa); vacinação e educação (positivas).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188720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naturais: saneamento, energia.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Saúde, crédito, medicamentos.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Desemprego, recessão e inflação.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450592"/>
            <a:ext cx="2456688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renda considerada injusta.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os defensores do mercado reconhecem essas falhas. Mas também existem falhas de governo (próximos slides).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no dia a dia de Mato Grosso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NEGATIVA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Queimadas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afeta a saúde de moradores distantes do foco. Resposta: fiscalização, multas e brigadas.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 NATURAL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elétrica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rede de distribuição. Resposta: tarifas e qualidade reguladas pela ANEEL.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Pil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0906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paciente não avalia o remédio. Resposta: registro e vigilância sanitária (ANVISA).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834640"/>
            <a:ext cx="374904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9900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Syri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309067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907792"/>
            <a:ext cx="2971800" cy="13350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 POSITIVA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também quem não se vacinou. Resposta: vacinas gratuitas no SUS.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× falhas de governo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o mercado nem o Estado são perfeitos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públicos e o problema do carona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Externalidades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mercado e monopólios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Instabilidade e desigualdade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3794760" cy="2240280"/>
          </a:xfrm>
          <a:prstGeom prst="roundRect">
            <a:avLst>
              <a:gd name="adj" fmla="val 244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GOVERNO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 privados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burocrática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de informação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65760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entre as matrizes teóricas é, em grande medida, um debate sobre qual falha é mais grave.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funções econômicas do Estado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Richard Musgrave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Ofertar bens e serviços que o mercado não provê de forma adequada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Segurança, justiça, saneamento, infraestrutura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Ajustar a distribuição de renda e riqueza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Tributação progressiva, Bolsa Família, BPC, previdência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Manter emprego, estabilidade de preços e crescimento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fiscal e monetária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política pode cumprir mais de uma função: o SUS, por exemplo, é alocativo e distributivo.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 no orçamento do município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 municipais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Alocativa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UBS, escolas, pavimentação, coleta de lixo, iluminação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a função mais presente no 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IPTU progressivo, tarifa social de água, CRAS e assistência social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 desigualdades locais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Estabilizadora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Antecipar obras em anos de crise para gerar empregos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Limitada: política monetária e grande parte da fiscal são da União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o fórum: que função cumpre a política pública que você escolheu?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o orçamento municipal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de um município por função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por função (% do total)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 e saúde somam quase metade do gasto.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Constituição exige aplicar ao menos 25% da receita de impostos em educação e 15% em saúde.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é função alocativa; a assistência social é distributiva.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Dados reais: SICONFI (Tesouro Nacional), despesa por função.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 · Tópico 2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da disciplina no SIGAA; vídeo de apresentação e Videoaula 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18/10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1: que falha de mercado uma política pública do seu município procura corrigir?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destes NÃO é um elemento constitutivo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elementos clássicos do Estado são povo, território e soberania (poder político). O mercado é outra esfera de coordenação social.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Concursos públicos, leis e impessoalidade na administração expressam, segundo Weber, a dominação: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Carismática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Legal-racional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dominação legal-racional baseia-se na obediência a normas impessoais: é a base da burocracia moderna e do art. 37 da Constituição.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iluminação das ruas de uma cidade é um exemplo de bem: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não rival (todos usam ao mesmo tempo) e não excludente (ninguém é impedido de usar). Por isso o mercado não a oferece sozinho.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fumaça das queimadas que prejudica a saúde de moradores de outras cidades é: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externalidade negativa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bem público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de informação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monopólio natural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custo imposto a terceiros que não aparece no preço de nenhum produto: uma externalidade negativa, que justifica fiscalização e multas.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1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IPTU progressivo e tarifa social de água cumprem qual função econômica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Estabilizadora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Fixação de preços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instrumentos da função distributiva: cobram mais de quem tem mais e reduzem o custo para as famílias de baixa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estuda escolhas com recursos escassos; toda escolha tem custo de oportunidade.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problemas: o que, como e para quem produzir.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(terra, trabalho, capital, capacidade empresarial) e agentes (famílias, empresas, governo, setor externo).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preços coordenam o mercado; todas as economias são mistas.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estuda unidades individuais; macro, os agregados.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(povo, território, soberania) é permanente; governo é transitório.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Weber: monopólio do uso legítimo da força; dominação legal-racional.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depende de instituições garantidas pelo Estado.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justificam a ação do Estado, que também pode falhar.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Musgrave: funções alocativa, distributiva e estabilizadora.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dinâmica pendular entre Estado e mercado e a matriz liberal.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1: Introdução à economia; Estado, governo e mercado</dc:title>
  <dc:subject>PptxGenJS Presentation</dc:subject>
  <dc:creator>Prof. Dr. Cleiton Franco</dc:creator>
  <cp:lastModifiedBy>Prof. Dr. Cleiton Franco</cp:lastModifiedBy>
  <cp:revision>1</cp:revision>
  <dcterms:created xsi:type="dcterms:W3CDTF">2026-09-26T21:34:00Z</dcterms:created>
  <dcterms:modified xsi:type="dcterms:W3CDTF">2026-09-26T21:34:00Z</dcterms:modified>
</cp:coreProperties>
</file>