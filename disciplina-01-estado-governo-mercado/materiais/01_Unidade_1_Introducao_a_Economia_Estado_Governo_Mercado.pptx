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Estado, Governo e Mercado. Eu sou o Prof. Dr. Cleiton Franco. Nesta videoaula, vamos construir a base de toda a disciplina: alguns conceitos fundamentais de economia e a diferença entre Estado, governo e mercado. Tenha papel e caneta por perto, porque esses conceitos vão aparecer nos fóruns e nas avaliações.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um lembrete da organização. Esta unidade vai de 9 a 18 de outubro. A leitura principal é o livro de Ricardo Corrêa Coelho, Estado, governo e mercado, na parte dos conceitos básicos, junto com as Unidades 1 e 2 da página de conteúdos. O fórum de apresentação e o fórum temático 1 ficam abertos até 18 de outubro, às 23h55. A videoaula tem duas partes: primeiro, fundamentos de economia; depois, os conceitos de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1: fundamentos de economia. Por que um curso de gestão pública começa pela economia? Porque toda decisão pública é, no fundo, uma escolha sobre como usar recursos limitados.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Economia é a ciência social que estuda como a sociedade emprega recursos escassos para produzir bens e serviços e distribuí-los entre as pessoas. Duas ideias sustentam essa definição. A primeira é a escassez: os recursos são limitados e as necessidades são praticamente ilimitadas, por isso é preciso escolher. A segunda é o custo de oportunidade: o valor da melhor alternativa de que abrimos mão. Se o município constrói uma ponte, talvez deixe de construir uma escola. Guarde esse conceito, porque ele atravessa todo 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da gestão pública. A prefeitura tem 5 milhões de reais para uma única obra e três opções: ampliar a UBS central, pavimentar 3 quilômetros de ruas ou reformar duas escolas. Se escolher a UBS, o custo de oportunidade são as ruas e as escolas que deixarão de ser feitas. A pergunta do gestor é: qual alternativa gera mais benefício para a população com os mesmos recursos? Para responder, ele conta com o diagnóstico das demandas, com indicadores, com audiências públicas e com o Plano Plurianual, o PPA.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a mesma ideia de forma visual. [Apontar para a curva.] É a fronteira de possibilidades do orçamento: cada ponto usa todo o dinheiro disponível. Sem reformar nenhuma escola, dá para pavimentar 12 quilômetros. Reformar a primeira escola custa apenas 1 quilômetro de rua; a quarta escola já custa 6 quilômetros. Ou seja, o custo de oportunidade cresce à medida que avançamos numa direção. E um ponto abaixo da curva significa desperdício: daria para fazer mais com o mesmo orçamento. Os números são hipotéticos, só para ilustrar o raciocínio.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sociedade precisa responder a três perguntas. O que produzir: hospitais ou estradas, e em que quantidade? Como produzir: com que tecnologia e com que combinação de trabalho, máquinas e recursos naturais? E para quem produzir: como o produto e a renda serão distribuídos? A forma como cada sociedade responde a essas perguntas define o seu sistema econômico, e é aí que entram o Estado e o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produzir, a economia usa fatores de produção, e cada um tem a sua remuneração: a terra recebe aluguel; o trabalho, salário; o capital, juros; e a capacidade empresarial, lucro. Esses fatores circulam entre quatro agentes econômicos. As famílias ofertam fatores e consomem. As empresas contratam fatores e produzem. O governo tributa, oferece serviços, regula e redistribui renda. E o setor externo troca bens e capitais com o país. Repare que o governo também é um agente econômico: ele compra, contrata, paga e arrecada.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responde às três perguntas? Depende do sistema econômico. Na economia de mercado, as decisões são descentralizadas e coordenadas pelos preços, com propriedade privada. Na economia planificada, um órgão central define as metas de produção, e a propriedade é estatal ou coletiva. Na economia mista, o mercado convive com regulação, empresas públicas e políticas sociais. Hoje, todas as economias são mistas. O que muda de um país para outro, e de uma época para outra, é o grau de presença do Estado. E esse é o grande tema da nossa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mercado coordena as decisões? Pelos preços. A lei da demanda diz que, quando o preço sobe, a quantidade demandada cai. A lei da oferta diz que, quando o preço sobe, a quantidade ofertada aumenta. O equilíbrio acontece no preço em que a quantidade que as pessoas querem comprar é igual à que as empresas querem vender. Fora do equilíbrio, um preço acima gera sobra, e um preço abaixo gera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quando o governo fixa o preço? Pense numa tarifa de ônibus congelada abaixo do custo por passageiro, sem nenhum subsídio. A empresa tende a reduzir a frota: os ônibus lotam e os intervalos aumentam. É exatamente o excesso de demanda que o modelo prevê. Um preço máximo, ou teto, abaixo do equilíbrio gera falta, filas e perda de qualidade. Um preço mínimo, ou piso, acima do equilíbrio gera sobra. Uma alternativa é o subsídio: o poder público cobre parte do custo e mantém a oferta. Nenhuma dessas escolhas é neutra; cada uma tem custos e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esse caso no gráfico. [Apontar para o cruzamento das linhas.] A linha vermelha é a demanda dos passageiros e a verde, a oferta da empresa. Elas se cruzam em 4 reais e 50 centavos, com 100 mil viagens por dia: esse é o equilíbrio. Se a tarifa for congelada em 3 reais, os passageiros querem 130 mil viagens, mas a empresa só oferece 60 mil. Faltam 70 mil viagens por dia, que aparecem como ônibus lotados e filas. As saídas são um subsídio ou uma tarifa que cubra o custo. São dados hipotéticos, para ilustrar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2: os conceitos básicos da disciplina, Estado, governo e mercado. Parecem óbvios, mas são confundidos com frequência, inclusive no noticiário.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tem três elementos constitutivos. O povo: o conjunto de pessoas vinculadas juridicamente ao Estado, os cidadãos. O território: o espaço físico sobre o qual o Estado exerce o seu poder. E a soberania: o poder supremo dentro do território e a independência em relação a outros Estados. O Estado moderno nasce da centralização do poder político, entre os séculos XV e XVII, quando surgem exércitos, tributos e administração permanentes.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Weber nos dá uma das definições mais conhecidas: o Estado é a comunidade humana que reivindica, com êxito, o monopólio do uso legítimo da força física em um território. A palavra-chave é legítimo. E por que as pessoas obedecem? Weber identifica três tipos de dominação. A tradicional, baseada no costume, como a do monarca. A carismática, baseada nas qualidades extraordinárias de um líder. E a legal-racional, baseada em normas impessoais, que é a base da burocracia moderna. No Brasil, o concurso público e os princípios do artigo 37 da Constituição, legalidade, impessoalidade, moralidade, publicidade e eficiência, expressam a dominação legal-racional.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separar os conceitos. O Estado é a organização permanente e soberana sobre um território. O governo é o grupo que dirige o Estado num dado momento, e é transitório. O mercado é a coordenação descentralizada da economia, pela troca voluntária e pelos preços. E há a sociedade civil: associações, movimentos e o terceiro setor, que não são Estado nem mercado em sentido estrito. Um teste simples: quando o governo muda depois de uma eleição, o Estado brasileiro continua o mesmo. Mudam os governantes; permanecem as instituições.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governo pode ser analisado por três ângulos. Pela forma: monarquia ou república; na república, o chefe de Estado é eleito e governa por mandato. Pelo sistema: presidencialismo ou parlamentarismo; no presidencialismo, o presidente é, ao mesmo tempo, chefe de Estado e de governo. E pela separação dos poderes: Executivo, Legislativo e Judiciário, porque, como dizia Montesquieu, o poder deve limitar o poder. O Brasil é uma república federativa presidencialista, com União, estados, Distrito Federal e municípios. No município, o Executivo é o prefeito e o Legislativo, a Câmara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ponto importante: o mercado não funciona no vazio. Ele precisa de propriedade definida e contratos cumpridos, de moeda estável, de concorrência, com muitos compradores e vendedores, e de informação sobre preços e qualidade. E quem garante tudo isso? O próprio Estado: a Justiça faz cumprir os contratos, o Banco Central cuida da moeda e os órgãos de defesa da concorrência combatem os abusos. Por isso, Estado e mercado não são simplesmente opostos: um depende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bens podem ser classificados por dois critérios. A rivalidade: quando o consumo de uma pessoa reduz o que sobra para as outras. E a exclusão: quando é possível impedir alguém de usar. Bens rivais e excludentes são os bens privados: alimento, roupa, carro. Excludentes, mas não rivais, são os bens de clube, como a TV por assinatura ou a rodovia com pedágio. Rivais, mas não excludentes, são os recursos comuns, como os peixes de um rio. E não rivais e não excludentes são os bens públicos, como a defesa e a iluminação pública. Ninguém pode ser impedido de usar a rua iluminada; por isso o município oferece a iluminação e a financia com a COSIP, a contribuição prevista no artigo 149-A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nos leva à pergunta central: por que o Estado atua na economia? A teoria econômica responde com as falhas de mercado. Os bens públicos, que o mercado não oferece sozinho. As externalidades, negativas como a poluição, ou positivas como a vacinação e a educação. O poder de mercado, como os monopólios naturais de saneamento e energia. A assimetria de informação, em áreas como saúde, crédito e medicamentos. A instabilidade: desemprego, recessão e inflação. E a desigualdade, quando a distribuição da renda é considerada injusta. Mas atenção: também existem falhas de governo, como a captura por interesses privados, a ineficiência, a corrupção e a rigidez burocrática. O Estado não é uma solução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trazer isso para Mato Grosso. As queimadas são uma externalidade negativa: a fumaça afeta a saúde de quem mora longe do foco, e a resposta pública é fiscalização, multas e brigadas. A energia elétrica é um monopólio natural: não faz sentido ter várias redes de distribuição, então a ANEEL regula tarifas e qualidade. Os medicamentos envolvem assimetria de informação: o paciente não consegue avaliar o remédio, por isso existem o registro e a vigilância sanitária da ANVISA. E a vacinação é uma externalidade positiva: protege também quem não se vacinou, por isso o SUS oferece as vacinas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Musgrave organizou as funções econômicas do Estado em três. A função alocativa: ofertar bens que o mercado não provê de forma adequada, como segurança, saneamento e infraestrutura. A função distributiva: ajustar a distribuição da renda, com tributação progressiva e programas como o Bolsa Família e o BPC. E a função estabilizadora: buscar emprego, preços estáveis e crescimento, por meio das políticas fiscal e monetária.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município? A função alocativa é a mais presente: UBS, escolas, pavimentação, coleta de lixo e iluminação. A distributiva aparece no IPTU progressivo, na tarifa social de água, no CRAS e na assistência social. A estabilizadora é limitada, porque a política monetária e boa parte da política fiscal são da União; mas o município pode, por exemplo, antecipar obras em anos de crise para gerar empregos. Fica a pergunta para o fórum: que função cumpre a política pública que você escolheu?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como um município hipotético distribui a sua despesa por função. [Apontar para as fatias.] Educação, com 27%, e saúde, com 22%, somam quase metade do gasto. Há uma razão para isso: a Constituição exige aplicar ao menos 25% da receita de impostos, incluindo as transferências, em educação, e 15% em saúde. A maior parte do orçamento cumpre a função alocativa; a assistência social, com 5%, é o exemplo típico da função distributiva. Os dados reais do seu município estão no SICONFI, do Tesouro Nacional. Vale a pena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1. A disciplina abre no SIGAA em 9 de outubro, com o vídeo de apresentação e esta videoaula. Até 18 de outubro, participe do fórum de apresentação e do fórum temático 1, que pergunta: que falha de mercado uma política pública do seu município procura corrigir? Todas as entregas vão até as 23h55. Na próxima unidade, vamos estudar a dinâmica pendular entre Estado e mercado e a matriz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um quiz com cinco perguntas. Funciona assim: eu leio a pergunta, você pausa o vídeo, escolhe a sua resposta e, no slide seguinte, confere a correção.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Qual destes NÃO é um elemento constitutivo do Estado? Letra a: Povo. Letra b: Território. Letra c: Soberania. Letra d: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Mercado. Os elementos clássicos do Estado são povo, território e soberania (poder político). O mercado é outra esfera de coordenação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Concursos públicos, leis e impessoalidade na administração expressam, segundo Weber, a dominação: Letra a: Tradicional. Letra b: Carismática. Letra c: Legal-racional. Letra d: Patrimonial.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Legal-racional. A dominação legal-racional baseia-se na obediência a normas impessoais: é a base da burocracia moderna e do art. 37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iluminação das ruas de uma cidade é um exemplo de bem: Letra a: Privado. Letra b: De clube. Letra c: Comum. Letra d: Público.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Público. É não rival (todos usam ao mesmo tempo) e não excludente (ninguém é impedido de usar). Por isso o mercado não a oferece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A fumaça das queimadas que prejudica a saúde de moradores de outras cidades é: Letra a: Uma externalidade negativa. Letra b: Um bem público. Letra c: Assimetria de informação. Letra d: Um monopólio natural.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Uma externalidade negativa. É um custo imposto a terceiros que não aparece no preço de nenhum produto: uma externalidade negativa, que justifica fiscalização e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IPTU progressivo e tarifa social de água cumprem qual função econômica do Estado? Letra a: Alocativa. Letra b: Distributiva. Letra c: Estabilizadora. Letra d: Fixação de preços.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Distributiva. São instrumentos da função distributiva: cobram mais de quem tem mais e reduzem o custo para as famílias de baixa renda. Com isso, encerramos a Unidade 1. Revise os conceitos, participe dos fóruns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2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1 e 2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economia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escolhas, agentes e mercados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37033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617720" y="118872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4447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1261872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617720" y="2020824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0" y="2176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276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0352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17720" y="2852928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54880" y="30083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310896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03520" y="2926080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617720" y="3685032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54880" y="3840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3941064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03520" y="3758184"/>
            <a:ext cx="306324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 e capitais com o país.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descentralizadas, coordenadas pelos preços. Propriedade privada.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órgão central define metas de produção. Propriedade estatal ou coletiva.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com regulação, empresas públicas e políticas sociais.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demandada ↓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60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conceitos básicos da disciplina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que não devem ser confundidos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permanente e soberana sobre um território.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que dirige o Estado em dado momento. É transitório.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descentralizada pela troca voluntária e pelos preços.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civil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Associações, movimentos e terceiro setor, fora do Estado e do mercado estrito.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84048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muda após uma eleição, o Estado brasileiro continua o mesmo.</a:t>
            </a:r>
            <a:endParaRPr lang="en-US" sz="14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excludentes: defesa, iluminação pública.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existem falhas de governo: captura, ineficiência, corrupção e rigidez burocrática.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R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Ofertar bens que o mercado não provê: segurança, saneamento, infraestrutura.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distribuição da renda: tributação progressiva, Bolsa Família, BPC.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Emprego, preços estáveis e crescimento, por meio das políticas fiscal e monetária.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2026-09-26T20:41:19Z</dcterms:created>
  <dcterms:modified xsi:type="dcterms:W3CDTF">2026-09-26T20:41:19Z</dcterms:modified>
</cp:coreProperties>
</file>