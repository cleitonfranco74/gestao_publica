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 pavimentados</c:v>
                </c:pt>
              </c:strCache>
            </c:strRef>
          </c:tx>
          <c:spPr>
            <a:solidFill>
              <a:srgbClr val="2A8C85"/>
            </a:solidFill>
            <a:ln w="31750" cap="flat">
              <a:solidFill>
                <a:srgbClr val="2A8C85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8C85"/>
              </a:solidFill>
              <a:ln w="9525" cap="flat">
                <a:solidFill>
                  <a:srgbClr val="2A8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 escolas</c:v>
                  </c:pt>
                  <c:pt idx="1">
                    <c:v>1 escola</c:v>
                  </c:pt>
                  <c:pt idx="2">
                    <c:v>2 escolas</c:v>
                  </c:pt>
                  <c:pt idx="3">
                    <c:v>3 escolas</c:v>
                  </c:pt>
                  <c:pt idx="4">
                    <c:v>4 escolas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Benefício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Tudo em estradas (60 km)</c:v>
                  </c:pt>
                  <c:pt idx="1">
                    <c:v>Tudo em creche (200 vagas)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5.4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 (passageiros)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R$ 3,00</c:v>
                  </c:pt>
                  <c:pt idx="1">
                    <c:v>R$ 3,75</c:v>
                  </c:pt>
                  <c:pt idx="2">
                    <c:v>R$ 4,50</c:v>
                  </c:pt>
                  <c:pt idx="3">
                    <c:v>R$ 5,25</c:v>
                  </c:pt>
                  <c:pt idx="4">
                    <c:v>R$ 6,00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</c:v>
                </c:pt>
                <c:pt idx="1">
                  <c:v>115</c:v>
                </c:pt>
                <c:pt idx="2">
                  <c:v>100</c:v>
                </c:pt>
                <c:pt idx="3">
                  <c:v>85</c:v>
                </c:pt>
                <c:pt idx="4">
                  <c:v>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Oferta (empresa)</c:v>
                </c:pt>
              </c:strCache>
            </c:strRef>
          </c:tx>
          <c:spPr>
            <a:solidFill>
              <a:srgbClr val="2A8C85"/>
            </a:solidFill>
            <a:ln w="31750" cap="flat">
              <a:solidFill>
                <a:srgbClr val="2A8C85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8C85"/>
              </a:solidFill>
              <a:ln w="9525" cap="flat">
                <a:solidFill>
                  <a:srgbClr val="2A8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R$ 3,00</c:v>
                  </c:pt>
                  <c:pt idx="1">
                    <c:v>R$ 3,75</c:v>
                  </c:pt>
                  <c:pt idx="2">
                    <c:v>R$ 4,50</c:v>
                  </c:pt>
                  <c:pt idx="3">
                    <c:v>R$ 5,25</c:v>
                  </c:pt>
                  <c:pt idx="4">
                    <c:v>R$ 6,00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120</c:v>
                </c:pt>
                <c:pt idx="4">
                  <c:v>140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4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Hoje (R$ 4,50/m³)</c:v>
                  </c:pt>
                  <c:pt idx="1">
                    <c:v>Reajuste com ε = 0,25</c:v>
                  </c:pt>
                  <c:pt idx="2">
                    <c:v>Reajuste com ε = 1,5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324</c:v>
                </c:pt>
                <c:pt idx="1">
                  <c:v>359</c:v>
                </c:pt>
                <c:pt idx="2">
                  <c:v>289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bubble3D val="0"/>
            <c:spPr>
              <a:solidFill>
                <a:srgbClr val="2A8C85"/>
              </a:solidFill>
              <a:effectLst/>
            </c:spPr>
          </c:dPt>
          <c:dPt>
            <c:idx val="2"/>
            <c:bubble3D val="0"/>
            <c:spPr>
              <a:solidFill>
                <a:srgbClr val="E0A72E"/>
              </a:solidFill>
              <a:effectLst/>
            </c:spPr>
          </c:dPt>
          <c:dPt>
            <c:idx val="3"/>
            <c:bubble3D val="0"/>
            <c:spPr>
              <a:solidFill>
                <a:srgbClr val="C0504D"/>
              </a:solidFill>
              <a:effectLst/>
            </c:spPr>
          </c:dPt>
          <c:dPt>
            <c:idx val="4"/>
            <c:bubble3D val="0"/>
            <c:spPr>
              <a:solidFill>
                <a:srgbClr val="7A8B99"/>
              </a:solidFill>
              <a:effectLst/>
            </c:spPr>
          </c:dPt>
          <c:dPt>
            <c:idx val="5"/>
            <c:bubble3D val="0"/>
            <c:spPr>
              <a:solidFill>
                <a:srgbClr val="6B4C9A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Educação</c:v>
                </c:pt>
                <c:pt idx="1">
                  <c:v>Saúde</c:v>
                </c:pt>
                <c:pt idx="2">
                  <c:v>Urbanismo</c:v>
                </c:pt>
                <c:pt idx="3">
                  <c:v>Administração</c:v>
                </c:pt>
                <c:pt idx="4">
                  <c:v>Assistência social</c:v>
                </c:pt>
                <c:pt idx="5">
                  <c:v>Outras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27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  <c:pt idx="4">
                  <c:v>5</c:v>
                </c:pt>
                <c:pt idx="5">
                  <c:v>17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Olá, turma! Sejam bem-vindos e bem-vindas à Unidade 1 da disciplina Estado, Governo e Mercado. Eu sou o Prof. Dr. Cleiton Franco. Nesta videoaula, vamos construir a base de toda a disciplina: alguns conceitos fundamentais de economia e a diferença entre Estado, governo e mercado. Tenha papel e caneta por perto, porque esses conceitos vão aparecer nos fóruns e nas avaliações.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começar, um lembrete da organização. Esta unidade vai de 9 a 18 de outubro. A leitura principal é o livro de Ricardo Corrêa Coelho, Estado, governo e mercado, na parte dos conceitos básicos, junto com os tópicos 1 e 2 do sumário da página de conteúdos. O fórum de apresentação e o fórum temático 1 ficam abertos até 18 de outubro, às 23h55. A videoaula tem duas partes: primeiro, fundamentos de economia; depois, os conceitos de Estado, governo 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Começamos pela Parte 1, que corresponde ao tópico 1 do sumário da página de conteúdos: introdução à economia e seus conceitos básicos. Por que um curso de gestão pública começa pela economia? Porque toda decisão pública é, no fundo, uma escolha sobre como usar recursos limitados.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Economia é a ciência social que estuda como a sociedade emprega recursos escassos para produzir bens e serviços e distribuí-los entre as pessoas. Duas ideias sustentam essa definição. A primeira é a escassez: os recursos são limitados e as necessidades são praticamente ilimitadas, por isso é preciso escolher. A segunda é o custo de oportunidade: o valor da melhor alternativa de que abrimos mão. Se o município constrói uma ponte, talvez deixe de construir uma escola. Guarde esse conceito, porque ele atravessa todo 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 um exemplo da gestão pública. A prefeitura tem 5 milhões de reais para uma única obra e três opções: ampliar a UBS central, pavimentar 3 quilômetros de ruas ou reformar duas escolas. Se escolher a UBS, o custo de oportunidade são as ruas e as escolas que deixarão de ser feitas. A pergunta do gestor é: qual alternativa gera mais benefício para a população com os mesmos recursos? Para responder, ele conta com o diagnóstico das demandas, com indicadores, com audiências públicas e com o Plano Plurianual, o PPA.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mostra a mesma ideia de forma visual. [Apontar para a curva.] É a fronteira de possibilidades do orçamento: cada ponto usa todo o dinheiro disponível. Sem reformar nenhuma escola, dá para pavimentar 12 quilômetros. Reformar a primeira escola custa apenas 1 quilômetro de rua; a quarta escola já custa 6 quilômetros. Ou seja, o custo de oportunidade cresce à medida que avançamos numa direção. E um ponto abaixo da curva significa desperdício: daria para fazer mais com o mesmo orçamento. Os números são hipotéticos, só para ilustrar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 um exemplo do nosso dia a dia: o custo de estudar. O contador soma o que sai do bolso por mês: mensalidade, livros, transporte e alimentação extra, 1.400 reais. São os custos explícitos. O economista acrescenta o custo implícito: o salário de que a pessoa abre mão para estudar, digamos 3 mil reais. O custo de oportunidade total é de 4.400 reais por mês. É como um iceberg: a parte visível é pequena, e a maior parte fica abaixo da linha d’água. A escolha só compensa se o benefício futuro superar esse custo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o custo de oportunidade na gestão pública. A prefeitura tem 3 milhões de reais livres no orçamento: pode cascalhar 60 quilômetros de estradas vicinais ou abrir cerca de 200 vagas de creche em tempo integral. [Apontar para as colunas.] Com os parâmetros do exemplo, as estradas geram 4,5 milhões de reais de benefício em cinco anos, e a creche, 5,4 milhões. Aplicar tudo nas estradas dá um resultado positivo, mas deixa de gerar 900 mil reais de benefício: esse é o custo de oportunidade da escolha. É um prejuízo invisível no balanço e real na vida do município. Na prática, os retornos diminuem à medida que se investe, e há vínculos legais e equilíbrio entre regiões, por isso o mais comum é dividir a verba. Os números são parâmetros didáticos; explore o estudo de caso interativo na página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sociedade precisa responder a três perguntas. O que produzir: hospitais ou estradas, e em que quantidade? Como produzir: com que tecnologia e com que combinação de trabalho, máquinas e recursos naturais? E para quem produzir: como o produto e a renda serão distribuídos? A forma como cada sociedade responde a essas perguntas define o seu sistema econômico, e é aí que entram o Estado e 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produzir, a economia usa fatores de produção, e cada um tem a sua remuneração. A terra, que inclui os recursos naturais, como solo, água, minérios e florestas, recebe aluguel. O trabalho, o esforço físico e intelectual das pessoas, recebe salário. O capital, isto é, máquinas, equipamentos e instalações, recebe juros. E a capacidade empresarial, que organiza os demais fatores e assume os riscos, recebe lucro. Esses fatores circulam entre quatro agentes econômicos. As famílias ofertam fatores e consomem. As empresas contratam fatores e produzem. O governo tributa, oferece serviços, regula e redistribui renda. E o setor externo troca bens, serviços e capitais com o país. Repare que o governo também é um agente econômico: ele compra, contrata, paga e arrecada.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responde às três perguntas? Depende do sistema econômico, e a tabela compara três deles por quem decide, pelo mecanismo de coordenação e pela propriedade dos meios de produção. Na economia de mercado, o capitalismo, decidem os consumidores e as empresas, a coordenação é feita pelos preços, pela oferta e pela demanda, e a propriedade é predominantemente privada. Na economia centralmente planificada, o socialismo, decide um órgão central de planejamento, com plano e metas de produção, e a propriedade é predominantemente estatal ou coletiva. Na economia mista, decidem o mercado e o Estado: há preços, mas com regulação e intervenção estatal, e a propriedade é privada, com empresas e serviços públicos. Hoje, todas as economias são mistas. O que muda de um país para outro, e de uma época para outra, é o grau de presença do Estado. E esse é o grande tema da nossa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é o espaço, físico ou virtual, em que compradores e vendedores se encontram, e os preços funcionam como sinais. A lei da demanda diz que, tudo o mais constante, quando o preço sobe, a quantidade demandada cai. A lei da oferta diz que, quando o preço sobe, a quantidade ofertada aumenta. O equilíbrio acontece no preço em que a quantidade demandada é igual à ofertada. Acima dele sobra produto, e o preço tende a cair; abaixo dele falta produto, e o preço tende a subir. Um exemplo da gestão pública: se a prefeitura tabela o estacionamento rotativo abaixo do equilíbrio, a tendência é faltar vaga.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quando o governo fixa o preço? Pense numa tarifa de ônibus congelada abaixo do custo por passageiro, sem nenhum subsídio. A empresa tende a reduzir a frota: os ônibus lotam e os intervalos aumentam. É exatamente o excesso de demanda que o modelo prevê. Um preço máximo, ou teto, abaixo do equilíbrio gera falta, filas e perda de qualidade. Um preço mínimo, ou piso, acima do equilíbrio gera sobra. Uma alternativa é o subsídio: o poder público cobre parte do custo e mantém a oferta. Nenhuma dessas escolhas é neutra; cada uma tem custos e beneficiários.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ver esse caso no gráfico. [Apontar para o cruzamento das linhas.] A linha vermelha é a demanda dos passageiros e a verde, a oferta da empresa. Elas se cruzam em 4 reais e 50 centavos, com 100 mil viagens por dia: esse é o equilíbrio. Se a tarifa for congelada em 3 reais, os passageiros querem 130 mil viagens, mas a empresa só oferece 60 mil. Faltam 70 mil viagens por dia, que aparecem como ônibus lotados e filas. As saídas são um subsídio ou uma tarifa que cubra o custo. São dados hipotéticos, para ilustrar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raciocínio vale para o estacionamento rotativo. [Apontar para o painel da esquerda.] Se a prefeitura fixar a tarifa em 1 real por hora, abaixo do equilíbrio de 2 reais, os motoristas procuram 1.100 vagas, mas só 550 são oferecidas: faltam 550 vagas, e o resultado são carros circulando à procura de vaga e estacionamento irregular. [Apontar para o painel da direita.] Se fixar um piso de 3 reais, acima do equilíbrio, há 1.050 vagas oferecidas e só 500 procuradas: sobram 550 vagas, a arrecadação fica abaixo do previsto e o comércio perde clientes. Na página da disciplina, há um gráfico interativo em que você pode mover a tarifa e ver o efeito.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 da demanda diz que a quantidade cai quando o preço sobe. A elasticidade-preço da demanda mede quanto ela cai: é a variação percentual da quantidade dividida pela variação percentual do preço. Se o resultado for menor que 1, a demanda é inelástica: a quantidade varia menos que o preço, como acontece com água, energia e medicamentos, e subir o preço aumenta a receita. Se for igual a 1, a receita não muda. Se for maior que 1, a demanda é elástica: há substitutos, a quantidade varia mais que o preço, e subir o preço reduz a receita. Para o gestor, tarifas e tributos sobre bens inelásticos arrecadam mais, mas pesam mais para quem não consegue consumir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aplicar ao reajuste da tarifa de água de um município com 6 mil ligações, que consomem em média 12 metros cúbicos por mês a 4 reais e 50 centavos. A receita atual é de 324 mil reais por mês. [Apontar para a segunda coluna.] Com um reajuste de 15% e demanda inelástica, com elasticidade de 0,25, o consumo cai só 3,8%, e a receita sobe para 359 mil reais. [Apontar para a terceira coluna.] Se a demanda fosse elástica, com elasticidade de 1,5, o consumo cairia 22,5%, e a receita recuaria para 289 mil reais. Como a água é essencial, a demanda é inelástica: o caixa do serviço melhora, mas quem não pode reduzir o consumo paga o reajuste inteiro. Esse é o argumento econômico da tarifa social. Explore o estudo de caso interativo na página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passar à Parte 2, uma distinção importante. A microeconomia estuda as unidades individuais: consumidores, empresas e mercados específicos, e como os preços se formam. A tarifa do ônibus que acabamos de ver é um tema micro. A macroeconomia estuda os agregados: PIB, emprego, inflação, juros, câmbio e contas públicas. Uma recessão que derruba a arrecadação do município é um tema macro. Grande parte do debate sobre o papel do Estado é macroeconômico, e é nesse terreno que Keynes vai atuar, como veremos na Unidade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Agora, a Parte 2, que corresponde ao tópico 2 do sumário: Estado, governo e mercado, conceitos e funções. Parecem conceitos óbvios, mas são confundidos com frequência, inclusive no noticiário.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Estado tem três elementos constitutivos. O povo: o conjunto de pessoas vinculadas juridicamente ao Estado, os cidadãos. O território: o espaço físico sobre o qual o Estado exerce o seu poder. E a soberania: o poder supremo dentro do território e a independência em relação a outros Estados. O Estado moderno nasce da centralização do poder político, entre os séculos XV e XVII, quando surgem exércitos, tributos e administração permanentes.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Weber nos dá uma das definições mais conhecidas: o Estado é a comunidade humana que reivindica, com êxito, o monopólio do uso legítimo da força física em um território. A palavra-chave é legítimo. E por que as pessoas obedecem? Weber identifica três tipos de dominação. A tradicional, baseada no costume, como a do monarca. A carismática, baseada nas qualidades extraordinárias de um líder. E a legal-racional, baseada em normas impessoais, que é a base da burocracia moderna. No Brasil, o concurso público e os princípios do artigo 37 da Constituição, legalidade, impessoalidade, moralidade, publicidade e eficiência, expressam a dominação legal-racional.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separar os conceitos. O Estado é a organização político-jurídica permanente e soberana sobre um território e sua população. O governo é o grupo que dirige o Estado num dado momento e define as políticas; é transitório. A administração pública é o aparelho, isto é, os órgãos, as entidades e os servidores, que executa as políticas definidas pelo governo. O mercado é a coordenação descentralizada das atividades econômicas, pela troca voluntária e pelos preços. E a sociedade civil reúne associações, movimentos e o terceiro setor, que não são Estado nem, estritamente, mercado. Um teste simples: quando o governo muda depois de uma eleição, o Estado brasileiro continua o mesmo, com a mesma Constituição, o mesmo território e as mesmas instituições permanentes. Muda apenas o grupo que conduz as políticas.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governo pode ser analisado por três ângulos. Pela forma: monarquia ou república; na república, o chefe de Estado é eleito e governa por mandato. Pelo sistema: presidencialismo ou parlamentarismo; no presidencialismo, o presidente é, ao mesmo tempo, chefe de Estado e de governo. E pela separação dos poderes: Executivo, Legislativo e Judiciário, porque, como dizia Montesquieu, o poder deve limitar o poder. O Brasil é uma república federativa presidencialista, com União, estados, Distrito Federal e municípios. No município, o Executivo é o prefeito e o Legislativo, a Câmara Municipal.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ponto importante: o mercado não funciona no vazio. Ele precisa de propriedade definida e contratos cumpridos, de moeda estável, de concorrência, com muitos compradores e vendedores, e de informação sobre preços e qualidade. E quem garante tudo isso? O próprio Estado: a Justiça faz cumprir os contratos, o Banco Central cuida da moeda e os órgãos de defesa da concorrência combatem os abusos. Por isso, Estado e mercado não são simplesmente opostos: um depende do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bens podem ser classificados por dois critérios. A rivalidade: quando o consumo de uma pessoa reduz o que sobra para as outras. E a exclusão: quando é possível impedir alguém de usar. Bens rivais e excludentes são os bens privados: alimento, roupa, carro. Excludentes, mas não rivais, são os bens de clube, como a TV por assinatura ou a rodovia com pedágio. Rivais, mas não excludentes, são os recursos comuns, como os peixes de um rio. E não rivais e não excludentes são os bens públicos, como a defesa e a iluminação pública. Ninguém pode ser impedido de usar a rua iluminada; por isso o município oferece a iluminação e a financia com a COSIP, a contribuição prevista no artigo 149-A da Constituição.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nos leva à pergunta central: por que o Estado atua na economia? A teoria econômica responde com as falhas de mercado. Os bens públicos: como ninguém pode ser excluído, surge o carona, o free rider, que usa sem pagar, e o mercado tende a não oferecê-los. As externalidades, negativas como a poluição, ou positivas como a vacinação e a educação. O poder de mercado, como os monopólios naturais de saneamento e energia. A assimetria de informação, em áreas como saúde, crédito e medicamentos. A instabilidade: desemprego, recessão e inflação. E a desigualdade, quando a distribuição da renda é considerada injusta. Repare que mesmo os defensores do mercado reconhecem essas falhas.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ver uma falha de mercado em um gráfico, com o exemplo da vacinação. [Apontar para a linha do benefício privado.] Cada pessoa decide se vacinar comparando o próprio benefício com o preço da dose. Se a vacina fosse vendida livremente, a cobertura ficaria em 50%, onde o benefício privado encontra o custo. [Apontar para a linha tracejada.] Mas a vacinação tem uma externalidade positiva: quem se vacina também protege os outros. Somando esse benefício, a curva do benefício social fica mais alta, e o ótimo para a sociedade é vacinar 95% da população. [Apontar para a área vermelha.] A área entre as curvas é a perda social: benefícios que deixam de existir porque o mercado não enxerga a externalidade. Por isso o Estado atua: um subsídio igual ao benefício externo, de 90 reais por dose no exemplo, leva a cobertura ao ótimo. Na prática, o SUS vai além e oferece a vacina de graça, com campanhas e a exigência da carteira de vacinação. Os números são hipotéticos, e há um gráfico interativo na página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trazer isso para Mato Grosso. As queimadas são uma externalidade negativa: a fumaça afeta a saúde de quem mora longe do foco, e a resposta pública é fiscalização, multas e brigadas. A energia elétrica é um monopólio natural: não faz sentido ter várias redes de distribuição, então a ANEEL regula tarifas e qualidade. Os medicamentos envolvem assimetria de informação: o paciente não consegue avaliar o remédio, por isso existem o registro e a vigilância sanitária da ANVISA. E a vacinação é uma externalidade positiva: protege também quem não se vacinou, por isso o SUS oferece as vacinas de graça.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 o Estado também falha. Este slide coloca lado a lado as falhas de mercado e as falhas de governo: a captura do Estado por interesses privados, a ineficiência, a corrupção, a rigidez burocrática e os custos de informação, já que o governo nem sempre sabe o que a população precisa. O Estado não é uma solução automática. E aqui está uma chave para toda a disciplina: o debate entre as matrizes teóricas é, em grande medida, um debate sobre qual falha é mais grave, a do mercado ou a do governo.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Richard Musgrave organizou as funções econômicas do Estado em três, como mostra a tabela. A função alocativa tem o objetivo de ofertar bens e serviços que o mercado não provê de forma adequada, como segurança, justiça, saneamento e infraestrutura. A função distributiva busca ajustar a distribuição de renda e riqueza, com tributação progressiva, o Bolsa Família, o BPC e a previdência. E a função estabilizadora procura manter o emprego, a estabilidade de preços e o crescimento, por meio das políticas fiscal e monetária. Repare que uma mesma política pode cumprir mais de uma função: o SUS, por exemplo, é alocativo e também distributivo.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no município? A função alocativa é a mais presente: UBS, escolas, pavimentação, coleta de lixo e iluminação. A distributiva aparece no IPTU progressivo, na tarifa social de água, no CRAS e na assistência social. A estabilizadora é limitada, porque a política monetária e boa parte da política fiscal são da União; mas o município pode, por exemplo, antecipar obras em anos de crise para gerar empregos. Fica a pergunta para o fórum: que função cumpre a política pública que você escolheu?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gráfico mostra como um município hipotético distribui a sua despesa por função. [Apontar para as fatias.] Educação, com 27%, e saúde, com 22%, somam quase metade do gasto. Há uma razão para isso: a Constituição exige aplicar ao menos 25% da receita de impostos, incluindo as transferências, em educação, e 15% em saúde. A maior parte do orçamento cumpre a função alocativa; a assistência social, com 5%, é o exemplo típico da função distributiva. Os dados reais do seu município estão no SICONFI, do Tesouro Nacional. Vale a pena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às atividades da Unidade 1. A disciplina abre no SIGAA em 9 de outubro, com o vídeo de apresentação e esta videoaula. Até 18 de outubro, participe do fórum de apresentação e do fórum temático 1, que pergunta: que falha de mercado uma política pública do seu município procura corrigir? Todas as entregas vão até as 23h55. Na próxima unidade, vamos estudar a dinâmica pendular entre Estado e mercado e a matriz liberal.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um quiz com cinco perguntas. Funciona assim: eu leio a pergunta, você pausa o vídeo, escolhe a sua resposta e, no slide seguinte, confere a correção. Vamos lá?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1. Qual destes NÃO é um elemento constitutivo do Estado? Letra a: Povo. Letra b: Território. Letra c: Soberania. Letra d: Mercado. Pause o vídeo e escolha a sua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é a letra d: Mercado. Os elementos clássicos do Estado são povo, território e soberania (poder político). O mercado é outra esfera de coordenação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2. Concursos públicos, leis e impessoalidade na administração expressam, segundo Weber, a dominação: Letra a: Tradicional. Letra b: Carismática. Letra c: Legal-racional. Letra d: Patrimonial. Pause o vídeo e escolha a sua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é a letra c: Legal-racional. A dominação legal-racional baseia-se na obediência a normas impessoais: é a base da burocracia moderna e do art. 37 da Constituição.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3. A iluminação das ruas de uma cidade é um exemplo de bem: Letra a: Privado. Letra b: De clube. Letra c: Comum. Letra d: Público. Pause o vídeo e escolha a sua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é a letra d: Público. É não rival (todos usam ao mesmo tempo) e não excludente (ninguém é impedido de usar). Por isso o mercado não a oferece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4. A fumaça das queimadas que prejudica a saúde de moradores de outras cidades é: Letra a: Uma externalidade negativa. Letra b: Um bem público. Letra c: Assimetria de informação. Letra d: Um monopólio natural. Pause o vídeo e escolha a sua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é a letra a: Uma externalidade negativa. É um custo imposto a terceiros que não aparece no preço de nenhum produto: uma externalidade negativa, que justifica fiscalização e multas.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5. IPTU progressivo e tarifa social de água cumprem qual função econômica do Estado? Letra a: Alocativa. Letra b: Distributiva. Letra c: Estabilizadora. Letra d: Fixação de preços. Pause o vídeo e escolha a sua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correta é a letra b: Distributiva. São instrumentos da função distributiva: cobram mais de quem tem mais e reduzem o custo para as famílias de baixa renda.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a Unidade 1, vamos recapitular. [Apontar para o quadro da esquerda.] No tópico 1, vimos que a economia estuda como a sociedade faz escolhas com recursos escassos, e que toda escolha tem um custo de oportunidade, como no iceberg do custo e na escolha entre estrada vicinal e creche. Toda sociedade precisa responder o que, como e para quem produzir. Conhecemos os fatores de produção e os agentes econômicos, vimos que os preços coordenam o mercado, com os exemplos da tarifa de ônibus e do estacionamento rotativo, que todas as economias atuais são mistas, o que é a elasticidade-preço da demanda, com o exemplo da tarifa de água, e a diferença entre micro e macroeconomia. [Apontar para o quadro da direita.] No tópico 2, separamos Estado e governo: o Estado, com povo, território e soberania, é permanente; o governo é transitório. Com Weber, entendemos o Estado como o monopólio do uso legítimo da força. Vimos que o mercado depende de instituições garantidas pelo Estado, que as falhas de mercado justificam a ação estatal, mas que o Estado também falha, e conhecemos as três funções de Musgrave: alocativa, distributiva e estabilizadora. Na próxima unidade, estudaremos a dinâmica pendular e a matriz liberal. Revise os conceitos, participe dos fóruns e até a próxima videoaula!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3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29260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Introdução à economia; Estado, governo e mercado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474720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2026/2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· Introdução à economia; Estado, governo e mercado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 · 1º bloco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 a 18/10/2026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1 · Leitura: COELHO (2014), conceitos básicos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tópicos 1 e 2 do sumário · Fóruns até 18/10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TÓPICO 1 DO SUMÁRIO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economia: conceitos básicos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Escassez, problemas fundamentais, agentes, sistemas e mercado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economia?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escolher com recursos limitados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61872"/>
            <a:ext cx="7498080" cy="1207008"/>
          </a:xfrm>
          <a:prstGeom prst="roundRect">
            <a:avLst>
              <a:gd name="adj" fmla="val 6061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9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social que estuda como a sociedade emprega recursos escassos para produzir bens e serviços e distribuí-los entre as pessoas.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52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7" name="Image 0" descr="/tmp/claude-0/-home-user-zero-claude/d7e33190-c541-582c-a7cc-1156817732ce/scratchpad/deck/assets/icon_Fa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535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770632"/>
            <a:ext cx="2971800" cy="1316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recursos são limitados e as necessidades, ilimitadas. Por isso é preciso escolher.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2697480"/>
            <a:ext cx="3749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2852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1" name="Image 1" descr="/tmp/claude-0/-home-user-zero-claude/d7e33190-c541-582c-a7cc-1156817732ce/scratchpad/deck/assets/icon_FaExchang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9535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770632"/>
            <a:ext cx="2971800" cy="13167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oportunidade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da melhor alternativa sacrificada. Construir uma ponte pode significar não construir uma escola.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no orçamento público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600200"/>
          </a:xfrm>
          <a:prstGeom prst="roundRect">
            <a:avLst>
              <a:gd name="adj" fmla="val 4571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138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 milhões para uma única obra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pode ampliar a UBS central, pavimentar 3 km de ruas ou reformar duas escolas. Escolher a UBS significa abrir mão das ruas e das escolas: esse é o custo de oportunidade da decisão.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do gestor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alternativa gera mais benefício para a população, com os mesmos recursos?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92608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demandas, indicadores, audiências públicas e o PPA orientam a escolha.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possibilidades do orçamento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mesmo orçamento: reformar escolas ou pavimentar ruas?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pavimentados × escolas reformadas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da curva usa todo o orçamento.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Reformar a 1ª escola custa 1 km de rua; a 4ª custa 6 km.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oportunidade cresce: essa é a lógica da escassez.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abaixo da curva indicam desperdício.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 Inspirado no exemplo da prefeitura com R$ 5 milhões.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iceberg do custo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contador vê e o que o economista também vê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do contador (por mês)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Livros e material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Alimentação extra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contábil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88720"/>
          <a:ext cx="3749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do economista (por mês)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Custos explícitos (ao lado)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Salário que deixa de receber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oportunidade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" y="3429000"/>
            <a:ext cx="7772400" cy="868680"/>
          </a:xfrm>
          <a:prstGeom prst="roundRect">
            <a:avLst>
              <a:gd name="adj" fmla="val 842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explícitos são desembolsos; custos implícitos são receitas de que se abre mão (salário, aluguel da terra, juros do capital). A escolha só compensa se o benefício superar o custo de oportunidade total.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Estrada vicinal ou creche?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 milhões livres no orçamento de um município do interior de MT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estimado em 5 anos (R$ milhões)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Estradas: R$ 1,50 de benefício por real; creche: R$ 1,80.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estradas gera R$ 4,5 milhões: parece bom.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creche geraria R$ 5,4 milhões: o custo de oportunidade é R$ 0,9 milhão.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retornos decrescentes e vínculos legais levam a dividir a verba.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didáticos (não são avaliação de impacto). Ver o estudo de caso interativo na página da disciplina.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problemas econômicos fundamentais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sociedade precisa respondê-los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produzir?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bens e em que quantidade: hospitais ou estradas?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132588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produzir?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 tecnologia e com que combinação de fatores?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132588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produzir?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distribuir o produto e a renda?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responder a essas perguntas define o sistema econômico.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de produção e agentes econômicos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43000"/>
          <a:ext cx="7772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de produção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Remuneração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 (recursos naturais)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Solo, água, minérios, florestas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Aluguel (renda da terra)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Esforço humano, físico e intelectual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Máquinas, equipamentos, instalações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 empresarial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Organização dos demais fatores e assunção de riscos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85800" y="3246120"/>
            <a:ext cx="184023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502152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3319272"/>
            <a:ext cx="106299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Ofertam fatores e consomem.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663190" y="3246120"/>
            <a:ext cx="184023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800350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Indu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34" y="350215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48990" y="3319272"/>
            <a:ext cx="106299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Contratam fatores e produzem.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640580" y="3246120"/>
            <a:ext cx="184023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777740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Land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3502152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26380" y="3319272"/>
            <a:ext cx="106299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Tributa, provê, regula e redistribui.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7970" y="3246120"/>
            <a:ext cx="184023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755130" y="3401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GlobeAmerica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714" y="350215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03770" y="3319272"/>
            <a:ext cx="1062990" cy="8595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externo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bens, serviços e capitais.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econômicos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e como a economia é coordenada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77724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20116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decide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de coordenação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Propriedade dos meios de produção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Economia de mercado (capitalismo)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Consumidores e empresas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Preços, oferta e demanda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Predominantemente privada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Economia centralmente planificada (socialismo)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Órgão central de planejamento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e metas de produção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Predominantemente estatal ou coletiva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Economia mista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e 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Preços, com regulação e intervenção estatal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Privada, com empresas e serviços públicos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370332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economias atuais são mistas. O que muda é o grau de presença do Estado.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oferta, demanda e preço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42062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da demanda: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mais constante, preço ↑ → quantidade demandada ↓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da oferta: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↑ → quantidade ofertada ↑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demandada = quantidade ofertada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equilíbrio: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acima gera sobra; preço abaixo gera falta</a:t>
            </a:r>
            <a:endParaRPr lang="en-US" sz="145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gestão pública: </a:t>
            </a:r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 rotativo tabelado abaixo do equilíbrio faz faltar vaga</a:t>
            </a:r>
            <a:endParaRPr lang="en-US" sz="1450" dirty="0"/>
          </a:p>
        </p:txBody>
      </p:sp>
      <p:pic>
        <p:nvPicPr>
          <p:cNvPr id="4" name="Image 0" descr="/tmp/claude-0/-home-user-zero-claude/d7e33190-c541-582c-a7cc-1156817732ce/scratchpad/deck/assets/oferta_deman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88720"/>
            <a:ext cx="3383280" cy="2537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governo fixa o preço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417320"/>
          </a:xfrm>
          <a:prstGeom prst="roundRect">
            <a:avLst>
              <a:gd name="adj" fmla="val 5161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1197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de ônibus congelada abaixo do custo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tarifa fica abaixo do custo por passageiro e não há subsídio, a empresa reduz a frota: os ônibus ficam lotados e os intervalos aumentam. É o excesso de demanda previsto pelo modelo.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4320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MÁXIMO (TETO)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equilíbrio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falta do bem ou serviço, filas e perda de qualidade.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343656" y="274320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MÍNIMO (PISO)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equilíbrio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sobra: produtos sem comprador ou serviço ocioso.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01512" y="2743200"/>
            <a:ext cx="245668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Subsídio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poder público cobre parte do custo e mantém a oferta.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Oferta, demanda e preço máximo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de ônibus e número de viagens por dia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 por dia (mil), conforme a tarifa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Equilíbrio: R$ 4,50, com 100 mil viagens.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Congelada em R$ 3,00, a demanda é de 130 mil e a oferta, de 60 mil.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70 mil viagens: ônibus lotados e filas.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Saídas: subsídio ou tarifa que cubra o custo.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 rotativo: teto e piso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fixa a tarifa por hora; o equilíbrio (E) seria R$ 2,00 com 800 vagas</a:t>
            </a:r>
            <a:endParaRPr lang="en-US" sz="1400" dirty="0"/>
          </a:p>
        </p:txBody>
      </p:sp>
      <p:pic>
        <p:nvPicPr>
          <p:cNvPr id="4" name="Image 0" descr="/tmp/claude-0/-home-user-zero-claude/d7e33190-c541-582c-a7cc-1156817732ce/scratchpad/deck/assets/od_estacion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7863840" cy="2487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74904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DECEA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 circulando à procura de vaga, estacionamento irregular.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374904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BF4DC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A8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ociosas, arrecadação menor e menos clientes no comércio.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Elasticidade-preço da demanda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quantidade reage ao preço?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variação % da quantidade ÷ variação % do preço (em módulo)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45668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Inelástica (ε &lt; 1)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quantidade varia menos que o preço. Água, energia, medicamentos. Subir o preço aumenta a receita.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43656" y="1920240"/>
            <a:ext cx="245668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Unitária (ε = 1)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variações se compensam: a receita não muda.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01512" y="1920240"/>
            <a:ext cx="245668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Elástica (ε &gt; 1)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quantidade varia mais que o preço. Bens com substitutos. Subir o preço reduz a receita.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gestor: tarifas e tributos sobre bens inelásticos arrecadam mais, mas pesam mais para quem não consegue consumir menos.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de água: reajuste de 15%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autônomo de água com 6 mil ligações · consumo médio de 12 m³ por mês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mensal do serviço (R$ mil)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inelástica (ε = 0,25): o consumo cai 3,8% e a receita sobe 10,7%.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fosse elástica (ε = 1,5), o consumo cairia 22,5% e a receita, 10,9%.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é inelástica: quem não pode reduzir o consumo paga o reajuste inteiro, daí a tarifa social.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ilustrativos na ordem de grandeza de serviços municipais de água (SNIS). Ver o estudo de caso interativo.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Microeconomia e macroeconomia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formas de olhar a economia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3749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35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5361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53312"/>
            <a:ext cx="2971800" cy="1636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INDIVIDUAIS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Microeconomia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 consumidores, empresas e mercados específicos e a formação dos preços. Ex.: a tarifa do ônibus, o preço do combustível no município.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749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35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5361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53312"/>
            <a:ext cx="2971800" cy="1636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DA ECONOMIA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 PIB, emprego, inflação, juros, câmbio e contas públicas. Ex.: uma recessão que derruba a arrecadação do município.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29184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do debate sobre o papel do Estado é macroeconômico: é o terreno de Keynes, que veremos na Unidade 4.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1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TÓPICO 2 DO SUMÁRIO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mercado: conceitos e funções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fundamentais, falhas de mercado e funções do Estado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constitutivos do Estado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904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07592"/>
            <a:ext cx="1679448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pessoas vinculadas juridicamente ao Estado (os cidadãos).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23444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MapMarke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90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307592"/>
            <a:ext cx="1679448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físico sobre o qual o Estado exerce seu poder.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234440"/>
            <a:ext cx="245668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Cr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904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307592"/>
            <a:ext cx="1679448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supremo interno e independência em relação a outros Estados.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10896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moderno nasce da centralização do poder político (séculos XV a XVII), com exército, tributos e administração permanentes.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Weber: Estado e dominação legítima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pessoas obedecem?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é a comunidade humana que reivindica, com êxito, o monopólio do uso legítimo da força física em um território.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Obediência baseada na tradição (o senhor, o monarca).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43656" y="224028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CARISMÁTICA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Obediência às qualidades extraordinárias de uma pessoa.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01512" y="224028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LEGAL-RACIONAL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Obediência a normas impessoais: base da burocracia moderna.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033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concursos públicos e os princípios do art. 37 da Constituição (legalidade, impessoalidade, moralidade, publicidade e eficiência) expressam a dominação legal-racional.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governo, administração pública, mercado e sociedade civil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Organização político-jurídica permanente que detém a soberania sobre um território e sua população. Para Weber, é a comunidade humana que reivindica com êxito o monopólio do uso legítimo da força física em um território.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grupo que, em dado momento, dirige o Estado e define suas políticas. Governos são transitórios; o Estado é permanente.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Administração 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aparelho (órgãos, entidades e servidores) que executa as políticas definidas pelo governo.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de coordenação descentralizada das atividades econômicas, baseado na troca voluntária e nos preços.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Sociedade civil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Relações sociais que não pertencem nem ao Estado nem, estritamente, ao mercado: associações, movimentos, terceiro setor.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005072"/>
            <a:ext cx="7772400" cy="475488"/>
          </a:xfrm>
          <a:prstGeom prst="roundRect">
            <a:avLst>
              <a:gd name="adj" fmla="val 1538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confunda Estado com governo: quando o governo muda, o Estado continua o mesmo.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Governo: formas, sistemas e poderes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GOVERNO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Monarquia × república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república, o chefe de Estado é eleito e governa por mandato.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GOVERNO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Presidencialismo × parlamentarismo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presidencialismo, o presidente é chefe de Estado e de governo.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DOS PODERES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Executivo, Legislativo, Judiciário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Montesquieu: o poder deve limitar o poder.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3154680"/>
            <a:ext cx="7772400" cy="1188720"/>
          </a:xfrm>
          <a:prstGeom prst="roundRect">
            <a:avLst>
              <a:gd name="adj" fmla="val 6154"/>
            </a:avLst>
          </a:prstGeom>
          <a:solidFill>
            <a:srgbClr val="FBF4DC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8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4198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3264408"/>
            <a:ext cx="690372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federativa presidencialista: União, estados, Distrito Federal e municípios, cada um com seus poderes (no município, prefeito e Câmara Municipal).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como instituição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não funciona no vazio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35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FileCon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5361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5331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e contratos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definidos e contratos cumpridos.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435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5361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5331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 estável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conta e meio de troca confiáveis.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265176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2807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077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72491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compradores e vendedores.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709160" y="265176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2807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Info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077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272491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e qualidade conhecidos.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" y="3749040"/>
            <a:ext cx="7772400" cy="676656"/>
          </a:xfrm>
          <a:prstGeom prst="roundRect">
            <a:avLst>
              <a:gd name="adj" fmla="val 108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garante contratos, moeda e concorrência? O Estado: Justiça, Banco Central e órgãos de defesa da concorrência.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 bens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Rivalidade no consumo e possibilidade de exclusão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23444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privados: alimento, roupa, carro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de clube: TV por assinatura, rodovia com pedágio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excludente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comuns: peixes de um rio, pastagem pública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públicos: defesa, iluminação pública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" y="2834640"/>
            <a:ext cx="7406640" cy="1481328"/>
          </a:xfrm>
          <a:prstGeom prst="roundRect">
            <a:avLst>
              <a:gd name="adj" fmla="val 4938"/>
            </a:avLst>
          </a:prstGeom>
          <a:solidFill>
            <a:srgbClr val="FBF4DC"/>
          </a:solidFill>
          <a:ln/>
        </p:spPr>
      </p:sp>
      <p:sp>
        <p:nvSpPr>
          <p:cNvPr id="6" name="Shape 3"/>
          <p:cNvSpPr/>
          <p:nvPr/>
        </p:nvSpPr>
        <p:spPr>
          <a:xfrm>
            <a:off x="1033272" y="2999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7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309981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944368"/>
            <a:ext cx="653796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Iluminação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pode ser impedido de usar a rua iluminada. Por isso o município a oferece e a financia com a contribuição de iluminação pública (COSIP), prevista no art. 149-A da Constituição.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Estado atua? As falhas de mercado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públicos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rivais e não excludentes; surge o carona (free rider). Ex.: defesa, iluminação.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Poluição (negativa); vacinação e educação (positivas).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188720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mercado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Monopólios naturais: saneamento, energia.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de informação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Saúde, crédito, medicamentos.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43656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Desemprego, recessão e inflação.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01512" y="2450592"/>
            <a:ext cx="245668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renda considerada injusta.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os defensores do mercado reconhecem essas falhas. Mas também existem falhas de governo (próximos slides).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 positiva: a vacinação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mercado, sozinho, vacina menos do que a sociedade precisa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pic>
        <p:nvPicPr>
          <p:cNvPr id="5" name="Image 0" descr="/tmp/claude-0/-home-user-zero-claude/d7e33190-c541-582c-a7cc-1156817732ce/scratchpad/deck/assets/vx_vacin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43584"/>
            <a:ext cx="4882896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0" y="1188720"/>
            <a:ext cx="2834640" cy="3200400"/>
          </a:xfrm>
          <a:prstGeom prst="roundRect">
            <a:avLst>
              <a:gd name="adj" fmla="val 1935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compara o próprio benefício com o preço: o mercado chega a 50% de cobertura.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a proteção dada aos outros, o ótimo social é 95%.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área vermelha é a perda social.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Subsídio de R$ 90 por dose, vacina gratuita no SUS e campanhas corrigem a falha.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256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 Gráfico interativo na página da disciplina (seção 2.2).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mercado no dia a dia de Mato Grosso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335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 NEGATIVA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Queimadas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fumaça afeta a saúde de moradores distantes do foco. Resposta: fiscalização, multas e brigadas.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335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 NATURAL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elétrica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rede de distribuição. Resposta: tarifas e qualidade reguladas pela ANEEL.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5800" y="2834640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Pil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0906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907792"/>
            <a:ext cx="2971800" cy="1335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DE INFORMAÇÃO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não avalia o remédio. Resposta: registro e vigilância sanitária (ANVISA).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09160" y="2834640"/>
            <a:ext cx="374904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990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Syri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09067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907792"/>
            <a:ext cx="2971800" cy="13350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 POSITIVA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também quem não se vacinou. Resposta: vacinas gratuitas no SUS.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mercado × falhas de governo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o mercado nem o Estado são perfeitos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37947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MERCADO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públicos e o problema do carona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mercado e monopólios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de informação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e desigualdade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34440"/>
            <a:ext cx="3794760" cy="2240280"/>
          </a:xfrm>
          <a:prstGeom prst="roundRect">
            <a:avLst>
              <a:gd name="adj" fmla="val 244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GOVERNO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por interesses privados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Ineficiência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Corrupção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burocrática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informação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debate entre as matrizes teóricas é, em grande medida, um debate sobre qual falha é mais grave.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funções econômicas do Estado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Richard Musgrave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Alocativa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Ofertar bens e serviços que o mercado não provê de forma adequada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Segurança, justiça, saneamento, infraestrutura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a distribuição de renda e riqueza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Tributação progressiva, Bolsa Família, BPC, previdência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Estabilizadora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Manter emprego, estabilidade de preços e crescimento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Políticas fiscal e monetária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361188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política pode cumprir mais de uma função: o SUS, por exemplo, é alocativo e distributivo.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Musgrave no orçamento do município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 municipais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Alocativa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UBS, escolas, pavimentação, coleta de lixo, iluminação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 a função mais presente no município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IPTU progressivo, tarifa social de água, CRAS e assistência social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 desigualdades locais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Estabilizadora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Antecipar obras em anos de crise para gerar empregos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Limitada: política monetária e grande parte da fiscal são da União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611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para o fórum: que função cumpre a política pública que você escolheu?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vai o orçamento municipal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de um município por função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por função (% do total)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saúde somam quase metade do gasto.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Constituição exige aplicar ao menos 25% da receita de impostos em educação e 15% em saúde.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é função alocativa; a assistência social é distributiva.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 Dados reais: SICONFI (Tesouro Nacional), despesa por função.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 · Tópico 2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09/10 (sex)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Abertura da disciplina no SIGAA; vídeo de apresentação e Videoaula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18/10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de apresentação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18/10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temático 1: que falha de mercado uma política pública do seu município procura corrigir?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a dinâmica pendular entre Estado e mercado e a matriz liberal.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2A8C85"/>
          </a:solidFill>
          <a:ln/>
        </p:spPr>
      </p:sp>
      <p:pic>
        <p:nvPicPr>
          <p:cNvPr id="3" name="Image 0" descr="/tmp/claude-0/-home-user-zero-claude/d7e33190-c541-582c-a7cc-1156817732ce/scratchpad/deck/assets/icon_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perguntas para revisar a unidade. Pause o vídeo, escolha sua resposta e confira no slide seguinte.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1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destes NÃO é um elemento constitutivo do Estado?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1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destes NÃO é um elemento constitutivo do Estado?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clássicos do Estado são povo, território e soberania (poder político). O mercado é outra esfera de coordenação social.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2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Concursos públicos, leis e impessoalidade na administração expressam, segundo Weber, a dominação: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Carismática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Legal-racional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2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Concursos públicos, leis e impessoalidade na administração expressam, segundo Weber, a dominação: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Carismática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Legal-racional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dominação legal-racional baseia-se na obediência a normas impessoais: é a base da burocracia moderna e do art. 37 da Constituição.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3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iluminação das ruas de uma cidade é um exemplo de bem: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3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iluminação das ruas de uma cidade é um exemplo de bem: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não rival (todos usam ao mesmo tempo) e não excludente (ninguém é impedido de usar). Por isso o mercado não a oferece sozinho.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4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fumaça das queimadas que prejudica a saúde de moradores de outras cidades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externalidade negativa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bem público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de informação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monopólio natural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4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fumaça das queimadas que prejudica a saúde de moradores de outras cidades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externalidade negativa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bem público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Assimetria de informação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monopólio natural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custo imposto a terceiros que não aparece no preço de nenhum produto: uma externalidade negativa, que justifica fiscalização e multas.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5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IPTU progressivo e tarifa social de água cumprem qual função econômica do Estado?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Alocativa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de preços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1 · PERGUNTA 5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IPTU progressivo e tarifa social de água cumprem qual função econômica do Estado?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Alocativa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Estabilizadora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de preços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instrumentos da função distributiva: cobram mais de quem tem mais e reduzem o custo para as famílias de baixa renda.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Unidade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discutimos nesta unidade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37947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TÓPICO 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economia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estuda escolhas com recursos escassos; toda escolha tem custo de oportunidade.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problemas: o que, como e para quem produzir.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(terra, trabalho, capital, capacidade empresarial) e agentes (famílias, empresas, governo, setor externo).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preços coordenam o mercado; todas as economias são mistas.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Elasticidade: quanto a quantidade reage ao preço; micro × macro.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70432"/>
            <a:ext cx="3794760" cy="2743200"/>
          </a:xfrm>
          <a:prstGeom prst="roundRect">
            <a:avLst>
              <a:gd name="adj" fmla="val 2000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TÓPICO 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(povo, território, soberania) é permanente; governo é transitório.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Weber: monopólio do uso legítimo da força; dominação legal-racional.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depende de instituições garantidas pelo Estado.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mercado justificam a ação do Estado, que também pode falhar.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Musgrave: funções alocativa, distributiva e estabilizadora.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95928"/>
            <a:ext cx="7772400" cy="484632"/>
          </a:xfrm>
          <a:prstGeom prst="roundRect">
            <a:avLst>
              <a:gd name="adj" fmla="val 15094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a dinâmica pendular entre Estado e mercado e a matriz liberal.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 e Mercado – Unidade 1: Introdução à economia; Estado, governo e mercado</dc:title>
  <dc:subject>PptxGenJS Presentation</dc:subject>
  <dc:creator>Prof. Dr. Cleiton Franco</dc:creator>
  <cp:lastModifiedBy>Prof. Dr. Cleiton Franco</cp:lastModifiedBy>
  <cp:revision>1</cp:revision>
  <dcterms:created xsi:type="dcterms:W3CDTF">2026-09-27T21:08:35Z</dcterms:created>
  <dcterms:modified xsi:type="dcterms:W3CDTF">2026-09-27T21:08:35Z</dcterms:modified>
</cp:coreProperties>
</file>