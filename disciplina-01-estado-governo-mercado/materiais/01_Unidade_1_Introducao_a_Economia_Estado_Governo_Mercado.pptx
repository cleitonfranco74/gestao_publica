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Tudo em estradas (60 km)</c:v>
                  </c:pt>
                  <c:pt idx="1">
                    <c:v>Tudo em creche (200 vagas)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</c:v>
                </c:pt>
                <c:pt idx="1">
                  <c:v>5.4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Hoje (R$ 4,50/m³)</c:v>
                  </c:pt>
                  <c:pt idx="1">
                    <c:v>Reajuste com ε = 0,25</c:v>
                  </c:pt>
                  <c:pt idx="2">
                    <c:v>Reajuste com ε = 1,5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324</c:v>
                </c:pt>
                <c:pt idx="1">
                  <c:v>359</c:v>
                </c:pt>
                <c:pt idx="2">
                  <c:v>289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os tópicos 1 e 2 do sumário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 da página de conteúdos: introdução à economia e seus conceitos básicos.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do nosso dia a dia: o custo de estudar. O contador soma o que sai do bolso por mês: mensalidade, livros, transporte e alimentação extra, 1.400 reais. São os custos explícitos. O economista acrescenta o custo implícito: o salário de que a pessoa abre mão para estudar, digamos 3 mil reais. O custo de oportunidade total é de 4.400 reais por mês. É como um iceberg: a parte visível é pequena, e a maior parte fica abaixo da linha d’água. A escolha só compensa se o benefício futuro superar esse custo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o custo de oportunidade na gestão pública. A prefeitura tem 3 milhões de reais livres no orçamento: pode cascalhar 60 quilômetros de estradas vicinais ou abrir cerca de 200 vagas de creche em tempo integral. [Apontar para as colunas.] Com os parâmetros do exemplo, as estradas geram 4,5 milhões de reais de benefício em cinco anos, e a creche, 5,4 milhões. Aplicar tudo nas estradas dá um resultado positivo, mas deixa de gerar 900 mil reais de benefício: esse é o custo de oportunidade da escolha. É um prejuízo invisível no balanço e real na vida do município. Na prática, os retornos diminuem à medida que se investe, e há vínculos legais e equilíbrio entre regiões, por isso o mais comum é dividir a verba. Os números são parâmetros didáticos; explore o estudo de caso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remuneração. A terra, que inclui os recursos naturais, como solo, água, minérios e florestas, recebe aluguel. O trabalho, o esforço físico e intelectual das pessoas, recebe salário. O capital, isto é, máquinas, equipamentos e instalações, recebe juros. E a capacidade empresarial, que organiza os demais fatores e assume os riscos, recebe lucro. Esses fatores circulam entre quatro agentes econômicos. As famílias ofertam fatores e consomem. As empresas contratam fatores e produzem. O governo tributa, oferece serviços, regula e redistribui renda. E o setor externo troca bens, serviços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econômico, e a tabela compara três deles por quem decide, pelo mecanismo de coordenação e pela propriedade dos meios de produção. Na economia de mercado, o capitalismo, decidem os consumidores e as empresas, a coordenação é feita pelos preços, pela oferta e pela demanda, e a propriedade é predominantemente privada. Na economia centralmente planificada, o socialismo, decide um órgão central de planejamento, com plano e metas de produção, e a propriedade é predominantemente estatal ou coletiva. Na economia mista, decidem o mercado e o Estado: há preços, mas com regulação e intervenção estatal, e a propriedade é privada, com empresas e serviços públicos.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é o espaço, físico ou virtual, em que compradores e vendedores se encontram, e os preços funcionam como sinais. A lei da demanda diz que, tudo o mais constante, quando o preço sobe, a quantidade demandada cai. A lei da oferta diz que, quando o preço sobe, a quantidade ofertada aumenta. O equilíbrio acontece no preço em que a quantidade demandada é igual à ofertada. Acima dele sobra produto, e o preço tende a cair; abaixo dele falta produto, e o preço tende a subir. Um exemplo da gestão pública: se a prefeitura tabela o estacionamento rotativo abaixo do equilíbrio, a tendência é faltar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raciocínio vale para o estacionamento rotativo. [Apontar para o painel da esquerda.] Se a prefeitura fixar a tarifa em 1 real por hora, abaixo do equilíbrio de 2 reais, os motoristas procuram 1.100 vagas, mas só 550 são oferecidas: faltam 550 vagas, e o resultado são carros circulando à procura de vaga e estacionamento irregular. [Apontar para o painel da direita.] Se fixar um piso de 3 reais, acima do equilíbrio, há 1.050 vagas oferecidas e só 500 procuradas: sobram 550 vagas, a arrecadação fica abaixo do previsto e o comércio perde clientes. Na página da disciplina, há um gráfico interativo em que você pode mover a tarifa e ver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da demanda diz que a quantidade cai quando o preço sobe. A elasticidade-preço da demanda mede quanto ela cai: é a variação percentual da quantidade dividida pela variação percentual do preço. Se o resultado for menor que 1, a demanda é inelástica: a quantidade varia menos que o preço, como acontece com água, energia e medicamentos, e subir o preço aumenta a receita. Se for igual a 1, a receita não muda. Se for maior que 1, a demanda é elástica: há substitutos, a quantidade varia mais que o preço, e subir o preço reduz a receita. Para o gestor, tarifas e tributos sobre bens inelásticos arrecadam mais, mas pesam mais para quem não consegue consumir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ao reajuste da tarifa de água de um município com 6 mil ligações, que consomem em média 12 metros cúbicos por mês a 4 reais e 50 centavos. A receita atual é de 324 mil reais por mês. [Apontar para a segunda coluna.] Com um reajuste de 15% e demanda inelástica, com elasticidade de 0,25, o consumo cai só 3,8%, e a receita sobe para 359 mil reais. [Apontar para a terceira coluna.] Se a demanda fosse elástica, com elasticidade de 1,5, o consumo cairia 22,5%, e a receita recuaria para 289 mil reais. Como a água é essencial, a demanda é inelástica: o caixa do serviço melhora, mas quem não pode reduzir o consumo paga o reajuste inteiro. Esse é o argumento econômico da tarifa social. Explore o estudo de caso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passar à Parte 2, uma distinção importante. A microeconomia estuda as unidades individuais: consumidores, empresas e mercados específicos, e como os preços se formam. A tarifa do ônibus que acabamos de ver é um tema micro. A macroeconomia estuda os agregados: PIB, emprego, inflação, juros, câmbio e contas públicas. Uma recessão que derruba a arrecadação do município é um tema macro. Grande parte do debate sobre o papel do Estado é macroeconômico, e é nesse terreno que Keynes vai atuar,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Estado, governo e mercado, conceitos e funções. Parecem conceitos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político-jurídica permanente e soberana sobre um território e sua população. O governo é o grupo que dirige o Estado num dado momento e define as políticas; é transitório. A administração pública é o aparelho, isto é, os órgãos, as entidades e os servidores, que executa as políticas definidas pelo governo. O mercado é a coordenação descentralizada das atividades econômicas, pela troca voluntária e pelos preços. E a sociedade civil reúne associações, movimentos e o terceiro setor, que não são Estado nem, estritamente, mercado. Um teste simples: quando o governo muda depois de uma eleição, o Estado brasileiro continua o mesmo, com a mesma Constituição, o mesmo território e as mesmas instituições permanentes. Muda apenas o grupo que conduz 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públicos: como ninguém pode ser excluído, surge o carona, o free rider, que usa sem pagar, e o mercado tende a não oferecê-los.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Repare que mesmo os defensores do mercado reconhecem essas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também falha. Este slide coloca lado a lado as falhas de mercado e as falhas de governo: a captura do Estado por interesses privados, a ineficiência, a corrupção, a rigidez burocrática e os custos de informação, já que o governo nem sempre sabe o que a população precisa. O Estado não é uma solução automática. E aqui está uma chave para toda a disciplina: o debate entre as matrizes teóricas é, em grande medida, um debate sobre qual falha é mais grave, a do mercado ou a do governo.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três, como mostra a tabela. A função alocativa tem o objetivo de ofertar bens e serviços que o mercado não provê de forma adequada, como segurança, justiça, saneamento e infraestrutura. A função distributiva busca ajustar a distribuição de renda e riqueza, com tributação progressiva, o Bolsa Família, o BPC e a previdência. E a função estabilizadora procura manter o emprego, a estabilidade de preços e o crescimento, por meio das políticas fiscal e monetária. Repare que uma mesma política pode cumprir mais de uma função: o SUS, por exemplo, é alocativo e também distributivo.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Funciona assim: eu leio a pergunta, você pausa o vídeo, escolhe a sua resposta e, no slide seguinte, confere a correção.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destes NÃO é um elemento constitutivo do Estado? Letra a: Povo. Letra b: Território. Letra c: Soberania. Letra d: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Mercado. Os elementos clássicos do Estado são povo, território e soberania (poder político). O mercado é outra esfera de coordenação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Concursos públicos, leis e impessoalidade na administração expressam, segundo Weber, a dominação: Letra a: Tradicional. Letra b: Carismática. Letra c: Legal-racional. Letra d: Patrimonial.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Legal-racional. A dominação legal-racional baseia-se na obediência a normas impessoais: é a base da burocracia moderna e do art. 37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iluminação das ruas de uma cidade é um exemplo de bem: Letra a: Privado. Letra b: De clube. Letra c: Comum. Letra d: Público.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Público. É não rival (todos usam ao mesmo tempo) e não excludente (ninguém é impedido de usar). Por isso o mercado não a oferece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 fumaça das queimadas que prejudica a saúde de moradores de outras cidades é: Letra a: Uma externalidade negativa. Letra b: Um bem público. Letra c: Assimetria de informação. Letra d: Um monopólio natural.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Uma externalidade negativa. É um custo imposto a terceiros que não aparece no preço de nenhum produto: uma externalidade negativa, que justifica fiscalização e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IPTU progressivo e tarifa social de água cumprem qual função econômica do Estado? Letra a: Alocativa. Letra b: Distributiva. Letra c: Estabilizadora. Letra d: Fixação de preços.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Distributiva. São instrumentos da função distributiva: cobram mais de quem tem mais e reduzem o custo para as famílias de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1, vamos recapitular. [Apontar para o quadro da esquerda.] No tópico 1, vimos que a economia estuda como a sociedade faz escolhas com recursos escassos, e que toda escolha tem um custo de oportunidade, como no iceberg do custo e na escolha entre estrada vicinal e creche. Toda sociedade precisa responder o que, como e para quem produzir. Conhecemos os fatores de produção e os agentes econômicos, vimos que os preços coordenam o mercado, com os exemplos da tarifa de ônibus e do estacionamento rotativo, que todas as economias atuais são mistas, o que é a elasticidade-preço da demanda, com o exemplo da tarifa de água, e a diferença entre micro e macroeconomia. [Apontar para o quadro da direita.] No tópico 2, separamos Estado e governo: o Estado, com povo, território e soberania, é permanente; o governo é transitório. Com Weber, entendemos o Estado como o monopólio do uso legítimo da força. Vimos que o mercado depende de instituições garantidas pelo Estado, que as falhas de mercado justificam a ação estatal, mas que o Estado também falha, e conhecemos as três funções de Musgrave: alocativa, distributiva e estabilizadora. Na próxima unidade, estudaremos a dinâmica pendular e a matriz liberal.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3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economia: conceitos básicos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problemas fundamentais, agentes, sistemas e mercado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iceberg do custo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contador vê e o que o economista também vê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do contador (por mês)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Livros e material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Alimentação extra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contábil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do economista (por mês)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explícitos (ao lado)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Salário que deixa de receber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oportunidade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3429000"/>
            <a:ext cx="7772400" cy="868680"/>
          </a:xfrm>
          <a:prstGeom prst="roundRect">
            <a:avLst>
              <a:gd name="adj" fmla="val 842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explícitos são desembolsos; custos implícitos são receitas de que se abre mão (salário, aluguel da terra, juros do capital). A escolha só compensa se o benefício superar o custo de oportunidade total.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 vicinal ou creche?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 milhões livres no orçamento de um município do interior de MT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estimado em 5 anos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Estradas: R$ 1,50 de benefício por real; creche: R$ 1,80.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em estradas gera R$ 4,5 milhões: parece bom.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creche geraria R$ 5,4 milhões: o custo de oportunidade é R$ 0,9 milhão.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prática, retornos decrescentes e vínculos legais levam a dividir a verba.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didáticos (não são avaliação de impacto). Ver o estudo de caso interativo na página da disciplina.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 (recursos naturais)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Solo, água, minérios, florestas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(renda da terra)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Esforço humano, físico e intelectual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Máquinas, equipamentos, instalações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dos demais fatores e assunção de riscos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5021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66319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80035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934" y="350215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4899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64058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7774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3502152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2638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61797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5513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5714" y="350215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0377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bens, serviços e capitais.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77724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201168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dos meios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de mercado (capitalismo)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Consumidores e empresas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oferta e demanda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privada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centralmente planificada (socialismo)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 central de planejamento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e metas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estatal ou coletiva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mista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e Estado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com regulação e intervenção estatal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Privada, com empresas e serviços públicos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70332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mais constante, preço ↑ → quantidade demandada ↓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gestão pública: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 tabelado abaixo do equilíbrio faz faltar vaga</a:t>
            </a:r>
            <a:endParaRPr lang="en-US" sz="145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rotativo: teto e piso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fixa a tarifa por hora; o equilíbrio (E) seria R$ 2,00 com 800 vagas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od_estacion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2487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3749040"/>
            <a:ext cx="3794760" cy="658368"/>
          </a:xfrm>
          <a:prstGeom prst="roundRect">
            <a:avLst>
              <a:gd name="adj" fmla="val 8333"/>
            </a:avLst>
          </a:prstGeom>
          <a:solidFill>
            <a:srgbClr val="FDECEA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Teto: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carros circulando à procura de vaga, estacionamento irregular.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3749040"/>
            <a:ext cx="3794760" cy="658368"/>
          </a:xfrm>
          <a:prstGeom prst="roundRect">
            <a:avLst>
              <a:gd name="adj" fmla="val 8333"/>
            </a:avLst>
          </a:prstGeom>
          <a:solidFill>
            <a:srgbClr val="FBF4DC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8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Piso: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vagas ociosas, arrecadação menor e menos clientes no comércio.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Elasticidade-preço da demanda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 quantidade reage ao preço?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variação % da quantidade ÷ variação % do preço (em módulo)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Inelástica (ε &lt;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quantidade varia menos que o preço. Água, energia, medicamentos. Subir o preço aumenta a receita.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Unitária (ε =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variações se compensam: a receita não muda.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Elástica (ε &gt;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quantidade varia mais que o preço. Bens com substitutos. Subir o preço reduz a receita.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gestor: tarifas e tributos sobre bens inelásticos arrecadam mais, mas pesam mais para quem não consegue consumir menos.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água: reajuste de 15%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autônomo de água com 6 mil ligações · consumo médio de 12 m³ por mês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mensal do serviço (R$ mil)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inelástica (ε = 0,25): o consumo cai 3,8% e a receita sobe 10,7%.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fosse elástica (ε = 1,5), o consumo cairia 22,5% e a receita, 10,9%.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é inelástica: quem não pode reduzir o consumo paga o reajuste inteiro, daí a tarifa social.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ilustrativos na ordem de grandeza de serviços municipais de água (SNIS). Ver o estudo de caso interativo.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 e macroeconomia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formas de olhar a economia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INDIVIDUAIS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consumidores, empresas e mercados específicos e a formação dos preços. Ex.: a tarifa do ônibus, o preço do combustível no município.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DA 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PIB, emprego, inflação, juros, câmbio e contas públicas. Ex.: uma recessão que derruba a arrecadação do município.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9184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parte do debate sobre o papel do Estado é macroeconômico: é o terreno de Keynes, que veremos na Unidade 4.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mercado: conceitos e funções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fundamentais, falhas de mercado e funções do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governo, administração pública, mercado e sociedade civil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político-jurídica permanente que detém a soberania sobre um território e sua população. Para Weber, é a comunidade humana que reivindica com êxito o monopólio do uso legítimo da força física em um território.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que, em dado momento, dirige o Estado e define suas políticas. Governos são transitórios; o Estado é permanente.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aparelho (órgãos, entidades e servidores) que executa as políticas definidas pelo governo.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 descentralizada das atividades econômicas, baseado na troca voluntária e nos preços.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Sociedade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Relações sociais que não pertencem nem ao Estado nem, estritamente, ao mercado: associações, movimentos, terceiro setor.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005072"/>
            <a:ext cx="7772400" cy="475488"/>
          </a:xfrm>
          <a:prstGeom prst="roundRect">
            <a:avLst>
              <a:gd name="adj" fmla="val 1538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 Estado com governo: quando o governo muda, o Estado continua o mesmo.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excludentes; surge o carona (free rider). Ex.: defesa, iluminação.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os defensores do mercado reconhecem essas falhas. Mas também existem falhas de governo (próximos slides).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× falhas de governo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mercado nem o Estado são perfeitos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 e o problema do carona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 e monopólios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 e desigualdade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GOVERNO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 privados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burocrática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de informação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entre as matrizes teóricas é, em grande medida, um debate sobre qual falha é mais grave.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Ofertar bens e serviços que o mercado não provê de forma adequada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Segurança, justiça, saneamento, infraestrutura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Ajustar a distribuição de renda e riqueza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Tributação progressiva, Bolsa Família, BPC, previdência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emprego, estabilidade de preços e crescimento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fiscal e monetária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política pode cumprir mais de uma função: o SUS, por exemplo, é alocativo e distributivo.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estuda escolhas com recursos escassos; toda escolha tem custo de oportunidade.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problemas: o que, como e para quem produzir.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(terra, trabalho, capital, capacidade empresarial) e agentes (famílias, empresas, governo, setor externo).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preços coordenam o mercado; todas as economias são mistas.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Elasticidade: quanto a quantidade reage ao preço; micro × macro.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(povo, território, soberania) é permanente; governo é transitório.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monopólio do uso legítimo da força; dominação legal-racional.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depende de instituições garantidas pelo Estado.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justificam a ação do Estado, que também pode falhar.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Musgrave: funções alocativa, distributiva e estabilizadora.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2026-09-27T21:03:24Z</dcterms:created>
  <dcterms:modified xsi:type="dcterms:W3CDTF">2026-09-27T21:03:24Z</dcterms:modified>
</cp:coreProperties>
</file>