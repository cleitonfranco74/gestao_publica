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2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charts/chart3.xml" ContentType="application/vnd.openxmlformats-officedocument.drawingml.chart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</p:sldIdLst>
  <p:notesMasterIdLst>
    <p:notesMasterId r:id="rId4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notesMaster" Target="notesMasters/notes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Km pavimentados</c:v>
                </c:pt>
              </c:strCache>
            </c:strRef>
          </c:tx>
          <c:spPr>
            <a:solidFill>
              <a:srgbClr val="2A8C85"/>
            </a:solidFill>
            <a:ln w="31750" cap="flat">
              <a:solidFill>
                <a:srgbClr val="2A8C85"/>
              </a:solidFill>
              <a:prstDash val="solid"/>
              <a:round/>
            </a:ln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050" u="none">
                    <a:solidFill>
                      <a:srgbClr val="1F2A37"/>
                    </a:solidFill>
                    <a:latin typeface="Calibri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2A8C85"/>
              </a:solidFill>
              <a:ln w="9525" cap="flat">
                <a:solidFill>
                  <a:srgbClr val="2A8C8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0 escolas</c:v>
                  </c:pt>
                  <c:pt idx="1">
                    <c:v>1 escola</c:v>
                  </c:pt>
                  <c:pt idx="2">
                    <c:v>2 escolas</c:v>
                  </c:pt>
                  <c:pt idx="3">
                    <c:v>3 escolas</c:v>
                  </c:pt>
                  <c:pt idx="4">
                    <c:v>4 escolas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12</c:v>
                </c:pt>
                <c:pt idx="1">
                  <c:v>11</c:v>
                </c:pt>
                <c:pt idx="2">
                  <c:v>9</c:v>
                </c:pt>
                <c:pt idx="3">
                  <c:v>6</c:v>
                </c:pt>
                <c:pt idx="4">
                  <c:v>0</c:v>
                </c:pt>
              </c:numCache>
            </c:numRef>
          </c:val>
          <c:smooth val="0"/>
        </c:ser>
        <c:dLbls>
          <c:numFmt formatCode="0" sourceLinked="0"/>
          <c:txPr>
            <a:bodyPr/>
            <a:lstStyle/>
            <a:p>
              <a:pPr>
                <a:defRPr b="0" i="0" strike="noStrike" sz="1050" u="none">
                  <a:solidFill>
                    <a:srgbClr val="1F2A37"/>
                  </a:solidFill>
                  <a:latin typeface="Calibri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F2A3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4"/>
          <c:min val="0"/>
        </c:scaling>
        <c:delete val="0"/>
        <c:axPos val="l"/>
        <c:majorGridlines>
          <c:spPr>
            <a:ln w="6350" cap="flat">
              <a:solidFill>
                <a:srgbClr val="E3E3E3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77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Demanda (passageiros)</c:v>
                </c:pt>
              </c:strCache>
            </c:strRef>
          </c:tx>
          <c:spPr>
            <a:solidFill>
              <a:srgbClr val="C0504D"/>
            </a:solidFill>
            <a:ln w="31750" cap="flat">
              <a:solidFill>
                <a:srgbClr val="C0504D"/>
              </a:solidFill>
              <a:prstDash val="solid"/>
              <a:round/>
            </a:ln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050" u="none">
                    <a:solidFill>
                      <a:srgbClr val="1F2A37"/>
                    </a:solidFill>
                    <a:latin typeface="Calibri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C0504D"/>
              </a:solidFill>
              <a:ln w="9525" cap="flat">
                <a:solidFill>
                  <a:srgbClr val="C0504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R$ 3,00</c:v>
                  </c:pt>
                  <c:pt idx="1">
                    <c:v>R$ 3,75</c:v>
                  </c:pt>
                  <c:pt idx="2">
                    <c:v>R$ 4,50</c:v>
                  </c:pt>
                  <c:pt idx="3">
                    <c:v>R$ 5,25</c:v>
                  </c:pt>
                  <c:pt idx="4">
                    <c:v>R$ 6,00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130</c:v>
                </c:pt>
                <c:pt idx="1">
                  <c:v>115</c:v>
                </c:pt>
                <c:pt idx="2">
                  <c:v>100</c:v>
                </c:pt>
                <c:pt idx="3">
                  <c:v>85</c:v>
                </c:pt>
                <c:pt idx="4">
                  <c:v>70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Oferta (empresa)</c:v>
                </c:pt>
              </c:strCache>
            </c:strRef>
          </c:tx>
          <c:spPr>
            <a:solidFill>
              <a:srgbClr val="2A8C85"/>
            </a:solidFill>
            <a:ln w="31750" cap="flat">
              <a:solidFill>
                <a:srgbClr val="2A8C85"/>
              </a:solidFill>
              <a:prstDash val="solid"/>
              <a:round/>
            </a:ln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050" u="none">
                    <a:solidFill>
                      <a:srgbClr val="1F2A37"/>
                    </a:solidFill>
                    <a:latin typeface="Calibri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2A8C85"/>
              </a:solidFill>
              <a:ln w="9525" cap="flat">
                <a:solidFill>
                  <a:srgbClr val="2A8C8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R$ 3,00</c:v>
                  </c:pt>
                  <c:pt idx="1">
                    <c:v>R$ 3,75</c:v>
                  </c:pt>
                  <c:pt idx="2">
                    <c:v>R$ 4,50</c:v>
                  </c:pt>
                  <c:pt idx="3">
                    <c:v>R$ 5,25</c:v>
                  </c:pt>
                  <c:pt idx="4">
                    <c:v>R$ 6,00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60</c:v>
                </c:pt>
                <c:pt idx="1">
                  <c:v>80</c:v>
                </c:pt>
                <c:pt idx="2">
                  <c:v>100</c:v>
                </c:pt>
                <c:pt idx="3">
                  <c:v>120</c:v>
                </c:pt>
                <c:pt idx="4">
                  <c:v>140</c:v>
                </c:pt>
              </c:numCache>
            </c:numRef>
          </c:val>
          <c:smooth val="0"/>
        </c:ser>
        <c:dLbls>
          <c:numFmt formatCode="0" sourceLinked="0"/>
          <c:txPr>
            <a:bodyPr/>
            <a:lstStyle/>
            <a:p>
              <a:pPr>
                <a:defRPr b="0" i="0" strike="noStrike" sz="1050" u="none">
                  <a:solidFill>
                    <a:srgbClr val="1F2A37"/>
                  </a:solidFill>
                  <a:latin typeface="Calibri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F2A3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50"/>
          <c:min val="40"/>
        </c:scaling>
        <c:delete val="0"/>
        <c:axPos val="l"/>
        <c:majorGridlines>
          <c:spPr>
            <a:ln w="6350" cap="flat">
              <a:solidFill>
                <a:srgbClr val="E3E3E3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77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1F2A3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Despesa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3294B"/>
              </a:solidFill>
              <a:effectLst/>
            </c:spPr>
          </c:dPt>
          <c:dPt>
            <c:idx val="1"/>
            <c:bubble3D val="0"/>
            <c:spPr>
              <a:solidFill>
                <a:srgbClr val="2A8C85"/>
              </a:solidFill>
              <a:effectLst/>
            </c:spPr>
          </c:dPt>
          <c:dPt>
            <c:idx val="2"/>
            <c:bubble3D val="0"/>
            <c:spPr>
              <a:solidFill>
                <a:srgbClr val="E0A72E"/>
              </a:solidFill>
              <a:effectLst/>
            </c:spPr>
          </c:dPt>
          <c:dPt>
            <c:idx val="3"/>
            <c:bubble3D val="0"/>
            <c:spPr>
              <a:solidFill>
                <a:srgbClr val="C0504D"/>
              </a:solidFill>
              <a:effectLst/>
            </c:spPr>
          </c:dPt>
          <c:dPt>
            <c:idx val="4"/>
            <c:bubble3D val="0"/>
            <c:spPr>
              <a:solidFill>
                <a:srgbClr val="7A8B99"/>
              </a:solidFill>
              <a:effectLst/>
            </c:spPr>
          </c:dPt>
          <c:dPt>
            <c:idx val="5"/>
            <c:bubble3D val="0"/>
            <c:spPr>
              <a:solidFill>
                <a:srgbClr val="6B4C9A"/>
              </a:solidFill>
              <a:effectLst/>
            </c:spPr>
          </c:dPt>
          <c:dLbls>
            <c:dLbl>
              <c:idx val="0"/>
              <c:numFmt formatCode="0" sourceLinked="0"/>
              <c:spPr/>
              <c:txPr>
                <a:bodyPr/>
                <a:lstStyle/>
                <a:p>
                  <a:pPr>
                    <a:defRPr sz="1050" b="1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" sourceLinked="0"/>
              <c:spPr/>
              <c:txPr>
                <a:bodyPr/>
                <a:lstStyle/>
                <a:p>
                  <a:pPr>
                    <a:defRPr sz="1050" b="1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" sourceLinked="0"/>
              <c:spPr/>
              <c:txPr>
                <a:bodyPr/>
                <a:lstStyle/>
                <a:p>
                  <a:pPr>
                    <a:defRPr sz="1050" b="1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" sourceLinked="0"/>
              <c:spPr/>
              <c:txPr>
                <a:bodyPr/>
                <a:lstStyle/>
                <a:p>
                  <a:pPr>
                    <a:defRPr sz="1050" b="1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4"/>
              <c:numFmt formatCode="0" sourceLinked="0"/>
              <c:spPr/>
              <c:txPr>
                <a:bodyPr/>
                <a:lstStyle/>
                <a:p>
                  <a:pPr>
                    <a:defRPr sz="1050" b="1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5"/>
              <c:numFmt formatCode="0" sourceLinked="0"/>
              <c:spPr/>
              <c:txPr>
                <a:bodyPr/>
                <a:lstStyle/>
                <a:p>
                  <a:pPr>
                    <a:defRPr sz="1050" b="1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" sourceLinked="0"/>
            <c:txPr>
              <a:bodyPr/>
              <a:lstStyle/>
              <a:p>
                <a:pPr>
                  <a:defRPr sz="1800" b="1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Sheet1!$A$2:$A$7</c:f>
              <c:strCache>
                <c:ptCount val="6"/>
                <c:pt idx="0">
                  <c:v>Educação</c:v>
                </c:pt>
                <c:pt idx="1">
                  <c:v>Saúde</c:v>
                </c:pt>
                <c:pt idx="2">
                  <c:v>Urbanismo</c:v>
                </c:pt>
                <c:pt idx="3">
                  <c:v>Administração</c:v>
                </c:pt>
                <c:pt idx="4">
                  <c:v>Assistência social</c:v>
                </c:pt>
                <c:pt idx="5">
                  <c:v>Outras</c:v>
                </c:pt>
              </c:strCache>
            </c:strRef>
          </c:cat>
          <c:val>
            <c:numRef>
              <c:f>Sheet1!$B$2:$B$7</c:f>
              <c:numCache>
                <c:ptCount val="6"/>
                <c:pt idx="0">
                  <c:v>27</c:v>
                </c:pt>
                <c:pt idx="1">
                  <c:v>22</c:v>
                </c:pt>
                <c:pt idx="2">
                  <c:v>15</c:v>
                </c:pt>
                <c:pt idx="3">
                  <c:v>14</c:v>
                </c:pt>
                <c:pt idx="4">
                  <c:v>5</c:v>
                </c:pt>
                <c:pt idx="5">
                  <c:v>17</c:v>
                </c:pt>
              </c:numCache>
            </c:numRef>
          </c:val>
        </c:ser>
        <c:firstSliceAng val="0"/>
        <c:holeSize val="52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1100">
              <a:solidFill>
                <a:srgbClr val="1F2A3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Olá, turma! Sejam bem-vindos e bem-vindas à Unidade 1 da disciplina Estado, Governo e Mercado. Eu sou o Prof. Dr. Cleiton Franco. Nesta videoaula, vamos construir a base de toda a disciplina: alguns conceitos fundamentais de economia e a diferença entre Estado, governo e mercado. Tenha papel e caneta por perto, porque esses conceitos vão aparecer nos fóruns e nas avaliações.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Antes de começar, um lembrete da organização. Esta unidade vai de 9 a 18 de outubro. A leitura principal é o livro de Ricardo Corrêa Coelho, Estado, governo e mercado, na parte dos conceitos básicos, junto com os tópicos 1 e 2 do sumário da página de conteúdos. O fórum de apresentação e o fórum temático 1 ficam abertos até 18 de outubro, às 23h55. A videoaula tem duas partes: primeiro, fundamentos de economia; depois, os conceitos de Estado, governo e mercado.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Começamos pela Parte 1, que corresponde ao tópico 1 do sumário da página de conteúdos: introdução à economia e seus conceitos básicos. Por que um curso de gestão pública começa pela economia? Porque toda decisão pública é, no fundo, uma escolha sobre como usar recursos limitados.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Economia é a ciência social que estuda como a sociedade emprega recursos escassos para produzir bens e serviços e distribuí-los entre as pessoas. Duas ideias sustentam essa definição. A primeira é a escassez: os recursos são limitados e as necessidades são praticamente ilimitadas, por isso é preciso escolher. A segunda é o custo de oportunidade: o valor da melhor alternativa de que abrimos mão. Se o município constrói uma ponte, talvez deixe de construir uma escola. Guarde esse conceito, porque ele atravessa todo o curso.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Vamos a um exemplo da gestão pública. A prefeitura tem 5 milhões de reais para uma única obra e três opções: ampliar a UBS central, pavimentar 3 quilômetros de ruas ou reformar duas escolas. Se escolher a UBS, o custo de oportunidade são as ruas e as escolas que deixarão de ser feitas. A pergunta do gestor é: qual alternativa gera mais benefício para a população com os mesmos recursos? Para responder, ele conta com o diagnóstico das demandas, com indicadores, com audiências públicas e com o Plano Plurianual, o PPA.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gráfico mostra a mesma ideia de forma visual. [Apontar para a curva.] É a fronteira de possibilidades do orçamento: cada ponto usa todo o dinheiro disponível. Sem reformar nenhuma escola, dá para pavimentar 12 quilômetros. Reformar a primeira escola custa apenas 1 quilômetro de rua; a quarta escola já custa 6 quilômetros. Ou seja, o custo de oportunidade cresce à medida que avançamos numa direção. E um ponto abaixo da curva significa desperdício: daria para fazer mais com o mesmo orçamento. Os números são hipotéticos, só para ilustrar o raciocínio.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Toda sociedade precisa responder a três perguntas. O que produzir: hospitais ou estradas, e em que quantidade? Como produzir: com que tecnologia e com que combinação de trabalho, máquinas e recursos naturais? E para quem produzir: como o produto e a renda serão distribuídos? A forma como cada sociedade responde a essas perguntas define o seu sistema econômico, e é aí que entram o Estado e o mercado.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Para produzir, a economia usa fatores de produção, e cada um tem a sua remuneração. A terra, que inclui os recursos naturais, como solo, água, minérios e florestas, recebe aluguel. O trabalho, o esforço físico e intelectual das pessoas, recebe salário. O capital, isto é, máquinas, equipamentos e instalações, recebe juros. E a capacidade empresarial, que organiza os demais fatores e assume os riscos, recebe lucro. Esses fatores circulam entre quatro agentes econômicos. As famílias ofertam fatores e consomem. As empresas contratam fatores e produzem. O governo tributa, oferece serviços, regula e redistribui renda. E o setor externo troca bens, serviços e capitais com o país. Repare que o governo também é um agente econômico: ele compra, contrata, paga e arrecada.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Quem responde às três perguntas? Depende do sistema econômico, e a tabela compara três deles por quem decide, pelo mecanismo de coordenação e pela propriedade dos meios de produção. Na economia de mercado, o capitalismo, decidem os consumidores e as empresas, a coordenação é feita pelos preços, pela oferta e pela demanda, e a propriedade é predominantemente privada. Na economia centralmente planificada, o socialismo, decide um órgão central de planejamento, com plano e metas de produção, e a propriedade é predominantemente estatal ou coletiva. Na economia mista, decidem o mercado e o Estado: há preços, mas com regulação e intervenção estatal, e a propriedade é privada, com empresas e serviços públicos. Hoje, todas as economias são mistas. O que muda de um país para outro, e de uma época para outra, é o grau de presença do Estado. E esse é o grande tema da nossa disciplina.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mercado é o espaço, físico ou virtual, em que compradores e vendedores se encontram, e os preços funcionam como sinais. A lei da demanda diz que, tudo o mais constante, quando o preço sobe, a quantidade demandada cai. A lei da oferta diz que, quando o preço sobe, a quantidade ofertada aumenta. O equilíbrio acontece no preço em que a quantidade demandada é igual à ofertada. Acima dele sobra produto, e o preço tende a cair; abaixo dele falta produto, e o preço tende a subir. Um exemplo da gestão pública: se a prefeitura tabela o estacionamento rotativo abaixo do equilíbrio, a tendência é faltar vaga.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 quando o governo fixa o preço? Pense numa tarifa de ônibus congelada abaixo do custo por passageiro, sem nenhum subsídio. A empresa tende a reduzir a frota: os ônibus lotam e os intervalos aumentam. É exatamente o excesso de demanda que o modelo prevê. Um preço máximo, ou teto, abaixo do equilíbrio gera falta, filas e perda de qualidade. Um preço mínimo, ou piso, acima do equilíbrio gera sobra. Uma alternativa é o subsídio: o poder público cobre parte do custo e mantém a oferta. Nenhuma dessas escolhas é neutra; cada uma tem custos e beneficiários.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Vamos ver esse caso no gráfico. [Apontar para o cruzamento das linhas.] A linha vermelha é a demanda dos passageiros e a verde, a oferta da empresa. Elas se cruzam em 4 reais e 50 centavos, com 100 mil viagens por dia: esse é o equilíbrio. Se a tarifa for congelada em 3 reais, os passageiros querem 130 mil viagens, mas a empresa só oferece 60 mil. Faltam 70 mil viagens por dia, que aparecem como ônibus lotados e filas. As saídas são um subsídio ou uma tarifa que cubra o custo. São dados hipotéticos, para ilustrar o modelo.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Antes de passar à Parte 2, uma distinção importante. A microeconomia estuda as unidades individuais: consumidores, empresas e mercados específicos, e como os preços se formam. A tarifa do ônibus que acabamos de ver é um tema micro. A macroeconomia estuda os agregados: PIB, emprego, inflação, juros, câmbio e contas públicas. Uma recessão que derruba a arrecadação do município é um tema macro. Grande parte do debate sobre o papel do Estado é macroeconômico, e é nesse terreno que Keynes vai atuar, como veremos na Unidade 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Agora, a Parte 2, que corresponde ao tópico 2 do sumário: Estado, governo e mercado, conceitos e funções. Parecem conceitos óbvios, mas são confundidos com frequência, inclusive no noticiário.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Estado tem três elementos constitutivos. O povo: o conjunto de pessoas vinculadas juridicamente ao Estado, os cidadãos. O território: o espaço físico sobre o qual o Estado exerce o seu poder. E a soberania: o poder supremo dentro do território e a independência em relação a outros Estados. O Estado moderno nasce da centralização do poder político, entre os séculos XV e XVII, quando surgem exércitos, tributos e administração permanentes.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Max Weber nos dá uma das definições mais conhecidas: o Estado é a comunidade humana que reivindica, com êxito, o monopólio do uso legítimo da força física em um território. A palavra-chave é legítimo. E por que as pessoas obedecem? Weber identifica três tipos de dominação. A tradicional, baseada no costume, como a do monarca. A carismática, baseada nas qualidades extraordinárias de um líder. E a legal-racional, baseada em normas impessoais, que é a base da burocracia moderna. No Brasil, o concurso público e os princípios do artigo 37 da Constituição, legalidade, impessoalidade, moralidade, publicidade e eficiência, expressam a dominação legal-racional.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Vamos separar os conceitos. O Estado é a organização político-jurídica permanente e soberana sobre um território e sua população. O governo é o grupo que dirige o Estado num dado momento e define as políticas; é transitório. A administração pública é o aparelho, isto é, os órgãos, as entidades e os servidores, que executa as políticas definidas pelo governo. O mercado é a coordenação descentralizada das atividades econômicas, pela troca voluntária e pelos preços. E a sociedade civil reúne associações, movimentos e o terceiro setor, que não são Estado nem, estritamente, mercado. Um teste simples: quando o governo muda depois de uma eleição, o Estado brasileiro continua o mesmo, com a mesma Constituição, o mesmo território e as mesmas instituições permanentes. Muda apenas o grupo que conduz as políticas.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governo pode ser analisado por três ângulos. Pela forma: monarquia ou república; na república, o chefe de Estado é eleito e governa por mandato. Pelo sistema: presidencialismo ou parlamentarismo; no presidencialismo, o presidente é, ao mesmo tempo, chefe de Estado e de governo. E pela separação dos poderes: Executivo, Legislativo e Judiciário, porque, como dizia Montesquieu, o poder deve limitar o poder. O Brasil é uma república federativa presidencialista, com União, estados, Distrito Federal e municípios. No município, o Executivo é o prefeito e o Legislativo, a Câmara Municipal.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 ponto importante: o mercado não funciona no vazio. Ele precisa de propriedade definida e contratos cumpridos, de moeda estável, de concorrência, com muitos compradores e vendedores, e de informação sobre preços e qualidade. E quem garante tudo isso? O próprio Estado: a Justiça faz cumprir os contratos, o Banco Central cuida da moeda e os órgãos de defesa da concorrência combatem os abusos. Por isso, Estado e mercado não são simplesmente opostos: um depende do outro.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bens podem ser classificados por dois critérios. A rivalidade: quando o consumo de uma pessoa reduz o que sobra para as outras. E a exclusão: quando é possível impedir alguém de usar. Bens rivais e excludentes são os bens privados: alimento, roupa, carro. Excludentes, mas não rivais, são os bens de clube, como a TV por assinatura ou a rodovia com pedágio. Rivais, mas não excludentes, são os recursos comuns, como os peixes de um rio. E não rivais e não excludentes são os bens públicos, como a defesa e a iluminação pública. Ninguém pode ser impedido de usar a rua iluminada; por isso o município oferece a iluminação e a financia com a COSIP, a contribuição prevista no artigo 149-A da Constituição.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Isso nos leva à pergunta central: por que o Estado atua na economia? A teoria econômica responde com as falhas de mercado. Os bens públicos: como ninguém pode ser excluído, surge o carona, o free rider, que usa sem pagar, e o mercado tende a não oferecê-los. As externalidades, negativas como a poluição, ou positivas como a vacinação e a educação. O poder de mercado, como os monopólios naturais de saneamento e energia. A assimetria de informação, em áreas como saúde, crédito e medicamentos. A instabilidade: desemprego, recessão e inflação. E a desigualdade, quando a distribuição da renda é considerada injusta. Repare que mesmo os defensores do mercado reconhecem essas falhas.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Vamos trazer isso para Mato Grosso. As queimadas são uma externalidade negativa: a fumaça afeta a saúde de quem mora longe do foco, e a resposta pública é fiscalização, multas e brigadas. A energia elétrica é um monopólio natural: não faz sentido ter várias redes de distribuição, então a ANEEL regula tarifas e qualidade. Os medicamentos envolvem assimetria de informação: o paciente não consegue avaliar o remédio, por isso existem o registro e a vigilância sanitária da ANVISA. E a vacinação é uma externalidade positiva: protege também quem não se vacinou, por isso o SUS oferece as vacinas de graça.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Mas o Estado também falha. Este slide coloca lado a lado as falhas de mercado e as falhas de governo: a captura do Estado por interesses privados, a ineficiência, a corrupção, a rigidez burocrática e os custos de informação, já que o governo nem sempre sabe o que a população precisa. O Estado não é uma solução automática. E aqui está uma chave para toda a disciplina: o debate entre as matrizes teóricas é, em grande medida, um debate sobre qual falha é mais grave, a do mercado ou a do governo.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Richard Musgrave organizou as funções econômicas do Estado em três, como mostra a tabela. A função alocativa tem o objetivo de ofertar bens e serviços que o mercado não provê de forma adequada, como segurança, justiça, saneamento e infraestrutura. A função distributiva busca ajustar a distribuição de renda e riqueza, com tributação progressiva, o Bolsa Família, o BPC e a previdência. E a função estabilizadora procura manter o emprego, a estabilidade de preços e o crescimento, por meio das políticas fiscal e monetária. Repare que uma mesma política pode cumprir mais de uma função: o SUS, por exemplo, é alocativo e também distributivo.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 no município? A função alocativa é a mais presente: UBS, escolas, pavimentação, coleta de lixo e iluminação. A distributiva aparece no IPTU progressivo, na tarifa social de água, no CRAS e na assistência social. A estabilizadora é limitada, porque a política monetária e boa parte da política fiscal são da União; mas o município pode, por exemplo, antecipar obras em anos de crise para gerar empregos. Fica a pergunta para o fórum: que função cumpre a política pública que você escolheu?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gráfico mostra como um município hipotético distribui a sua despesa por função. [Apontar para as fatias.] Educação, com 27%, e saúde, com 22%, somam quase metade do gasto. Há uma razão para isso: a Constituição exige aplicar ao menos 25% da receita de impostos, incluindo as transferências, em educação, e 15% em saúde. A maior parte do orçamento cumpre a função alocativa; a assistência social, com 5%, é o exemplo típico da função distributiva. Os dados reais do seu município estão no SICONFI, do Tesouro Nacional. Vale a pena conferir.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Vamos às atividades da Unidade 1. A disciplina abre no SIGAA em 9 de outubro, com o vídeo de apresentação e esta videoaula. Até 18 de outubro, participe do fórum de apresentação e do fórum temático 1, que pergunta: que falha de mercado uma política pública do seu município procura corrigir? Todas as entregas vão até as 23h55. Na próxima unidade, vamos estudar a dinâmica pendular entre Estado e mercado e a matriz liberal.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Para fechar, um quiz com cinco perguntas. Funciona assim: eu leio a pergunta, você pausa o vídeo, escolhe a sua resposta e, no slide seguinte, confere a correção. Vamos lá?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Pergunta 1. Qual destes NÃO é um elemento constitutivo do Estado? Letra a: Povo. Letra b: Território. Letra c: Soberania. Letra d: Mercado. Pause o vídeo e escolha a sua resposta.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resposta correta é a letra d: Mercado. Os elementos clássicos do Estado são povo, território e soberania (poder político). O mercado é outra esfera de coordenação social.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Pergunta 2. Concursos públicos, leis e impessoalidade na administração expressam, segundo Weber, a dominação: Letra a: Tradicional. Letra b: Carismática. Letra c: Legal-racional. Letra d: Patrimonial. Pause o vídeo e escolha a sua resposta.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resposta correta é a letra c: Legal-racional. A dominação legal-racional baseia-se na obediência a normas impessoais: é a base da burocracia moderna e do art. 37 da Constituição.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Pergunta 3. A iluminação das ruas de uma cidade é um exemplo de bem: Letra a: Privado. Letra b: De clube. Letra c: Comum. Letra d: Público. Pause o vídeo e escolha a sua resposta.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resposta correta é a letra d: Público. É não rival (todos usam ao mesmo tempo) e não excludente (ninguém é impedido de usar). Por isso o mercado não a oferece sozinho.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Pergunta 4. A fumaça das queimadas que prejudica a saúde de moradores de outras cidades é: Letra a: Uma externalidade negativa. Letra b: Um bem público. Letra c: Assimetria de informação. Letra d: Um monopólio natural. Pause o vídeo e escolha a sua resposta.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resposta correta é a letra a: Uma externalidade negativa. É um custo imposto a terceiros que não aparece no preço de nenhum produto: uma externalidade negativa, que justifica fiscalização e multas.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Pergunta 5. IPTU progressivo e tarifa social de água cumprem qual função econômica do Estado? Letra a: Alocativa. Letra b: Distributiva. Letra c: Estabilizadora. Letra d: Fixação de preços. Pause o vídeo e escolha a sua resposta.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resposta correta é a letra b: Distributiva. São instrumentos da função distributiva: cobram mais de quem tem mais e reduzem o custo para as famílias de baixa renda. Com isso, encerramos a Unidade 1. Revise os conceitos, participe dos fóruns e até a próxima videoaula!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Slide-6-image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.xml"/><Relationship Id="rId1" Type="http://schemas.openxmlformats.org/officeDocument/2006/relationships/image" Target="../media/Slide-12-image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image" Target="../media/image-1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image" Target="../media/image-2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3.xml"/><Relationship Id="rId1" Type="http://schemas.openxmlformats.org/officeDocument/2006/relationships/image" Target="../media/Slide-26-image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image" Target="../media/image-2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zero-claude/d7e33190-c541-582c-a7cc-1156817732ce/scratchpad/deck/assets/brasa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402336"/>
            <a:ext cx="1243584" cy="1325880"/>
          </a:xfrm>
          <a:prstGeom prst="rect">
            <a:avLst/>
          </a:prstGeom>
        </p:spPr>
      </p:pic>
      <p:pic>
        <p:nvPicPr>
          <p:cNvPr id="3" name="Image 1" descr="/tmp/claude-0/-home-user-zero-claude/d7e33190-c541-582c-a7cc-1156817732ce/scratchpad/deck/assets/unema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12848" y="548640"/>
            <a:ext cx="2743200" cy="1060704"/>
          </a:xfrm>
          <a:prstGeom prst="rect">
            <a:avLst/>
          </a:prstGeom>
        </p:spPr>
      </p:pic>
      <p:pic>
        <p:nvPicPr>
          <p:cNvPr id="4" name="Image 2" descr="/tmp/claude-0/-home-user-zero-claude/d7e33190-c541-582c-a7cc-1156817732ce/scratchpad/deck/assets/dead_apre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49240" y="576072"/>
            <a:ext cx="3063240" cy="101041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1188720" y="1810512"/>
            <a:ext cx="7223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Especialização em Gestão Pública</a:t>
            </a:r>
            <a:endParaRPr lang="en-US" sz="2000" dirty="0"/>
          </a:p>
        </p:txBody>
      </p:sp>
      <p:sp>
        <p:nvSpPr>
          <p:cNvPr id="6" name="Text 1"/>
          <p:cNvSpPr txBox="1"/>
          <p:nvPr/>
        </p:nvSpPr>
        <p:spPr>
          <a:xfrm>
            <a:off x="1188720" y="2157984"/>
            <a:ext cx="72237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</a:t>
            </a:r>
            <a:endParaRPr lang="en-US" sz="4800" dirty="0"/>
          </a:p>
        </p:txBody>
      </p:sp>
      <p:sp>
        <p:nvSpPr>
          <p:cNvPr id="7" name="Text 2"/>
          <p:cNvSpPr txBox="1"/>
          <p:nvPr/>
        </p:nvSpPr>
        <p:spPr>
          <a:xfrm>
            <a:off x="1188720" y="2926080"/>
            <a:ext cx="7223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Unidade 1 · Introdução à economia; Estado, governo e mercado</a:t>
            </a:r>
            <a:endParaRPr lang="en-US" sz="1900" dirty="0"/>
          </a:p>
        </p:txBody>
      </p:sp>
      <p:sp>
        <p:nvSpPr>
          <p:cNvPr id="8" name="Text 3"/>
          <p:cNvSpPr txBox="1"/>
          <p:nvPr/>
        </p:nvSpPr>
        <p:spPr>
          <a:xfrm>
            <a:off x="1243584" y="3474720"/>
            <a:ext cx="4937760" cy="420624"/>
          </a:xfrm>
          <a:prstGeom prst="roundRect">
            <a:avLst>
              <a:gd name="adj" fmla="val 21739"/>
            </a:avLst>
          </a:prstGeom>
          <a:solidFill>
            <a:srgbClr val="E9C85C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DEAD · UAB · Turma 2026/2 · Prof. Dr. Cleiton Franco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2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371600" y="969264"/>
            <a:ext cx="6400800" cy="402336"/>
          </a:xfrm>
          <a:prstGeom prst="roundRect">
            <a:avLst>
              <a:gd name="adj" fmla="val 22727"/>
            </a:avLst>
          </a:prstGeom>
          <a:solidFill>
            <a:srgbClr val="2A8C85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Unidade 1 · Introdução à economia; Estado, governo e mercado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3858768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4672" y="1728216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3294B"/>
          </a:solidFill>
          <a:ln/>
        </p:spPr>
      </p:sp>
      <p:pic>
        <p:nvPicPr>
          <p:cNvPr id="6" name="Image 0" descr="/tmp/claude-0/-home-user-zero-claude/d7e33190-c541-582c-a7cc-1156817732ce/scratchpad/deck/assets/icon_FaGraduationCa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837944"/>
            <a:ext cx="292608" cy="29260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44752" y="1627632"/>
            <a:ext cx="29718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Curso: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Especialização em Gestão Pública (Lato Sensu)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4645152" y="1554480"/>
            <a:ext cx="3858768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809744" y="1728216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3294B"/>
          </a:solidFill>
          <a:ln/>
        </p:spPr>
      </p:sp>
      <p:pic>
        <p:nvPicPr>
          <p:cNvPr id="10" name="Image 1" descr="/tmp/claude-0/-home-user-zero-claude/d7e33190-c541-582c-a7cc-1156817732ce/scratchpad/deck/assets/icon_FaUserTi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19472" y="1837944"/>
            <a:ext cx="292608" cy="29260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49824" y="1627632"/>
            <a:ext cx="29718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Professor Regente: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Dr. Cleiton Franco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640080" y="2542032"/>
            <a:ext cx="3858768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804672" y="2715768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3294B"/>
          </a:solidFill>
          <a:ln/>
        </p:spPr>
      </p:sp>
      <p:pic>
        <p:nvPicPr>
          <p:cNvPr id="14" name="Image 2" descr="/tmp/claude-0/-home-user-zero-claude/d7e33190-c541-582c-a7cc-1156817732ce/scratchpad/deck/assets/icon_FaCalendarAl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2825496"/>
            <a:ext cx="292608" cy="292608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444752" y="2615184"/>
            <a:ext cx="29718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Turma &amp; Semestre: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2026/2 · 1º bloco</a:t>
            </a:r>
            <a:endParaRPr lang="en-US" sz="1500" dirty="0"/>
          </a:p>
        </p:txBody>
      </p:sp>
      <p:sp>
        <p:nvSpPr>
          <p:cNvPr id="16" name="Shape 11"/>
          <p:cNvSpPr/>
          <p:nvPr/>
        </p:nvSpPr>
        <p:spPr>
          <a:xfrm>
            <a:off x="4645152" y="2542032"/>
            <a:ext cx="3858768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4809744" y="2715768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3294B"/>
          </a:solidFill>
          <a:ln/>
        </p:spPr>
      </p:sp>
      <p:pic>
        <p:nvPicPr>
          <p:cNvPr id="18" name="Image 3" descr="/tmp/claude-0/-home-user-zero-claude/d7e33190-c541-582c-a7cc-1156817732ce/scratchpad/deck/assets/icon_FaCloc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19472" y="2825496"/>
            <a:ext cx="292608" cy="292608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5449824" y="2615184"/>
            <a:ext cx="29718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Período da unidade: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09/10 a 18/10/2026</a:t>
            </a:r>
            <a:endParaRPr lang="en-US" sz="1500" dirty="0"/>
          </a:p>
        </p:txBody>
      </p:sp>
      <p:sp>
        <p:nvSpPr>
          <p:cNvPr id="20" name="Text 14"/>
          <p:cNvSpPr txBox="1"/>
          <p:nvPr/>
        </p:nvSpPr>
        <p:spPr>
          <a:xfrm>
            <a:off x="640080" y="3547872"/>
            <a:ext cx="7863840" cy="676656"/>
          </a:xfrm>
          <a:prstGeom prst="roundRect">
            <a:avLst>
              <a:gd name="adj" fmla="val 8108"/>
            </a:avLst>
          </a:prstGeom>
          <a:solidFill>
            <a:srgbClr val="EAF3F1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Videoaula 1 · Leitura: COELHO (2014), conceitos básicos</a:t>
            </a:r>
            <a:endParaRPr lang="en-US" sz="15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Página de conteúdos: tópicos 1 e 2 do sumário · Fóruns até 18/10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41732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1 · TÓPICO 1 DO SUMÁRIO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87452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Introdução à economia: conceitos básicos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2971800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Escassez, problemas fundamentais, agentes, sistemas e mercado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 · Tópico 1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é economia?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problema de escolher com recursos limitados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261872"/>
            <a:ext cx="7498080" cy="1207008"/>
          </a:xfrm>
          <a:prstGeom prst="roundRect">
            <a:avLst>
              <a:gd name="adj" fmla="val 6061"/>
            </a:avLst>
          </a:prstGeom>
          <a:solidFill>
            <a:srgbClr val="FBF4DC"/>
          </a:solidFill>
          <a:ln/>
        </p:spPr>
        <p:txBody>
          <a:bodyPr wrap="square" lIns="152400" tIns="152400" rIns="152400" bIns="152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00" b="1" i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 </a:t>
            </a:r>
            <a:pPr algn="l" indent="0" marL="0">
              <a:lnSpc>
                <a:spcPct val="100000"/>
              </a:lnSpc>
              <a:buNone/>
            </a:pPr>
            <a:r>
              <a:rPr lang="en-US" sz="1900" i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Ciência social que estuda como a sociedade emprega recursos escassos para produzir bens e serviços e distribuí-los entre as pessoas.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685800" y="2697480"/>
            <a:ext cx="3749040" cy="146304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28529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7" name="Image 0" descr="/tmp/claude-0/-home-user-zero-claude/d7e33190-c541-582c-a7cc-1156817732ce/scratchpad/deck/assets/icon_FaBalanceScal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" y="2953512"/>
            <a:ext cx="256032" cy="256032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371600" y="2770632"/>
            <a:ext cx="2971800" cy="131673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Escassez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recursos são limitados e as necessidades, ilimitadas. Por isso é preciso escolher.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709160" y="2697480"/>
            <a:ext cx="3749040" cy="146304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846320" y="28529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1" name="Image 1" descr="/tmp/claude-0/-home-user-zero-claude/d7e33190-c541-582c-a7cc-1156817732ce/scratchpad/deck/assets/icon_FaExchangeAl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6904" y="2953512"/>
            <a:ext cx="256032" cy="25603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394960" y="2770632"/>
            <a:ext cx="2971800" cy="131673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 de oportunidade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valor da melhor alternativa sacrificada. Construir uma ponte pode significar não construir uma escola.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 · Tópico 1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Escassez no orçamento público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85800" y="1143000"/>
            <a:ext cx="7772400" cy="1600200"/>
          </a:xfrm>
          <a:prstGeom prst="roundRect">
            <a:avLst>
              <a:gd name="adj" fmla="val 4571"/>
            </a:avLst>
          </a:prstGeom>
          <a:solidFill>
            <a:srgbClr val="FBF4DC"/>
          </a:solidFill>
          <a:ln/>
        </p:spPr>
      </p:sp>
      <p:sp>
        <p:nvSpPr>
          <p:cNvPr id="4" name="Shape 2"/>
          <p:cNvSpPr/>
          <p:nvPr/>
        </p:nvSpPr>
        <p:spPr>
          <a:xfrm>
            <a:off x="850392" y="130759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9C85C"/>
          </a:solidFill>
          <a:ln/>
        </p:spPr>
      </p:sp>
      <p:pic>
        <p:nvPicPr>
          <p:cNvPr id="5" name="Image 0" descr="/tmp/claude-0/-home-user-zero-claude/d7e33190-c541-582c-a7cc-1156817732ce/scratchpad/deck/assets/icon_FaLightbulb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" y="1408176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17320" y="1252728"/>
            <a:ext cx="6903720" cy="138074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A88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NA GESTÃO PÚBLICA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R$ 5 milhões para uma única obra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prefeitura pode ampliar a UBS central, pavimentar 3 km de ruas ou reformar duas escolas. Escolher a UBS significa abrir mão das ruas e das escolas: esse é o custo de oportunidade da decisão.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2926080"/>
            <a:ext cx="3749040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Pergunta do gestor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 alternativa gera mais benefício para a população, com os mesmos recursos?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4709160" y="2926080"/>
            <a:ext cx="3749040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Ferramentas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Diagnóstico de demandas, indicadores, audiências públicas e o PPA orientam a escolha.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 · Tópico 1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Fronteira de possibilidades do orçamento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o mesmo orçamento: reformar escolas ou pavimentar ruas?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207008"/>
            <a:ext cx="5349240" cy="2953512"/>
          </a:xfrm>
          <a:prstGeom prst="roundRect">
            <a:avLst>
              <a:gd name="adj" fmla="val 1858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1261872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Km pavimentados × escolas reformadas</a:t>
            </a:r>
            <a:endParaRPr lang="en-US" sz="13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658368" y="1591056"/>
          <a:ext cx="5138928" cy="249631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 4"/>
          <p:cNvSpPr txBox="1"/>
          <p:nvPr/>
        </p:nvSpPr>
        <p:spPr>
          <a:xfrm>
            <a:off x="6035040" y="1207008"/>
            <a:ext cx="2560320" cy="2953512"/>
          </a:xfrm>
          <a:prstGeom prst="roundRect">
            <a:avLst>
              <a:gd name="adj" fmla="val 2143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t"/>
          <a:lstStyle/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LER O GRÁFICO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ponto da curva usa todo o orçamento.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Reformar a 1ª escola custa 1 km de rua; a 4ª custa 6 km.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custo de oportunidade cresce: essa é a lógica da escassez.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Pontos abaixo da curva indicam desperdício.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420624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i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 hipotéticos, para fins didáticos. Inspirado no exemplo da prefeitura com R$ 5 milhões.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 · Tópico 1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3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três problemas econômicos fundamentais</a:t>
            </a:r>
            <a:endParaRPr lang="en-US" sz="23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 sociedade precisa respondê-los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325880"/>
            <a:ext cx="2456688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 1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produzir?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Quais bens e em que quantidade: hospitais ou estradas?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3343656" y="1325880"/>
            <a:ext cx="2456688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 2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produzir?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que tecnologia e com que combinação de fatores?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001512" y="1325880"/>
            <a:ext cx="2456688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 3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quem produzir?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distribuir o produto e a renda?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3200400"/>
            <a:ext cx="7772400" cy="731520"/>
          </a:xfrm>
          <a:prstGeom prst="roundRect">
            <a:avLst>
              <a:gd name="adj" fmla="val 10000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forma de responder a essas perguntas define o sistema econômico.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 · Tópico 1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Fatores de produção e agentes econômicos</a:t>
            </a:r>
            <a:endParaRPr lang="en-US" sz="26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143000"/>
          <a:ext cx="77724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3291840"/>
                <a:gridCol w="21031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Fator de produção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que é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Remuneração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Terra (recursos naturais)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Solo, água, minérios, florestas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Aluguel (renda da terra)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Trabalho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Esforço humano, físico e intelectual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Salário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Capital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Máquinas, equipamentos, instalações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Juros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Capacidade empresarial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Organização dos demais fatores e assunção de riscos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Lucro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685800" y="3246120"/>
            <a:ext cx="1840230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822960" y="340156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6" name="Image 0" descr="/tmp/claude-0/-home-user-zero-claude/d7e33190-c541-582c-a7cc-1156817732ce/scratchpad/deck/assets/icon_FaHom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" y="3502152"/>
            <a:ext cx="256032" cy="25603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371600" y="3319272"/>
            <a:ext cx="1062990" cy="85953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Famílias</a:t>
            </a:r>
            <a:endParaRPr lang="en-US" sz="13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Ofertam fatores e consomem.</a:t>
            </a:r>
            <a:endParaRPr lang="en-US" sz="1300" dirty="0"/>
          </a:p>
        </p:txBody>
      </p:sp>
      <p:sp>
        <p:nvSpPr>
          <p:cNvPr id="8" name="Shape 4"/>
          <p:cNvSpPr/>
          <p:nvPr/>
        </p:nvSpPr>
        <p:spPr>
          <a:xfrm>
            <a:off x="2663190" y="3246120"/>
            <a:ext cx="1840230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2800350" y="340156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0" name="Image 1" descr="/tmp/claude-0/-home-user-zero-claude/d7e33190-c541-582c-a7cc-1156817732ce/scratchpad/deck/assets/icon_FaIndustry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00934" y="3502152"/>
            <a:ext cx="256032" cy="256032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3348990" y="3319272"/>
            <a:ext cx="1062990" cy="85953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Empresas</a:t>
            </a:r>
            <a:endParaRPr lang="en-US" sz="13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Contratam fatores e produzem.</a:t>
            </a:r>
            <a:endParaRPr lang="en-US" sz="1300" dirty="0"/>
          </a:p>
        </p:txBody>
      </p:sp>
      <p:sp>
        <p:nvSpPr>
          <p:cNvPr id="12" name="Shape 7"/>
          <p:cNvSpPr/>
          <p:nvPr/>
        </p:nvSpPr>
        <p:spPr>
          <a:xfrm>
            <a:off x="4640580" y="3246120"/>
            <a:ext cx="1840230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3" name="Shape 8"/>
          <p:cNvSpPr/>
          <p:nvPr/>
        </p:nvSpPr>
        <p:spPr>
          <a:xfrm>
            <a:off x="4777740" y="340156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4" name="Image 2" descr="/tmp/claude-0/-home-user-zero-claude/d7e33190-c541-582c-a7cc-1156817732ce/scratchpad/deck/assets/icon_FaLandmar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78324" y="3502152"/>
            <a:ext cx="256032" cy="256032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5326380" y="3319272"/>
            <a:ext cx="1062990" cy="85953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Governo</a:t>
            </a:r>
            <a:endParaRPr lang="en-US" sz="13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Tributa, provê, regula e redistribui.</a:t>
            </a:r>
            <a:endParaRPr lang="en-US" sz="1300" dirty="0"/>
          </a:p>
        </p:txBody>
      </p:sp>
      <p:sp>
        <p:nvSpPr>
          <p:cNvPr id="16" name="Shape 10"/>
          <p:cNvSpPr/>
          <p:nvPr/>
        </p:nvSpPr>
        <p:spPr>
          <a:xfrm>
            <a:off x="6617970" y="3246120"/>
            <a:ext cx="1840230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7" name="Shape 11"/>
          <p:cNvSpPr/>
          <p:nvPr/>
        </p:nvSpPr>
        <p:spPr>
          <a:xfrm>
            <a:off x="6755130" y="340156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8" name="Image 3" descr="/tmp/claude-0/-home-user-zero-claude/d7e33190-c541-582c-a7cc-1156817732ce/scratchpad/deck/assets/icon_FaGlobeAmericas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5714" y="3502152"/>
            <a:ext cx="256032" cy="256032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7303770" y="3319272"/>
            <a:ext cx="1062990" cy="85953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externo</a:t>
            </a:r>
            <a:endParaRPr lang="en-US" sz="13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Troca bens, serviços e capitais.</a:t>
            </a:r>
            <a:endParaRPr lang="en-US" sz="1300" dirty="0"/>
          </a:p>
        </p:txBody>
      </p:sp>
      <p:sp>
        <p:nvSpPr>
          <p:cNvPr id="20" name="Text 1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 · Tópico 1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Sistemas econômicos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 decide e como a economia é coordenada</a:t>
            </a:r>
            <a:endParaRPr lang="en-US" sz="14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280160"/>
          <a:ext cx="7772400" cy="914400"/>
        </p:xfrm>
        <a:graphic>
          <a:graphicData uri="http://schemas.openxmlformats.org/drawingml/2006/table">
            <a:tbl>
              <a:tblPr/>
              <a:tblGrid>
                <a:gridCol w="2148840"/>
                <a:gridCol w="1691640"/>
                <a:gridCol w="2011680"/>
                <a:gridCol w="19202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Sistema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Quem decide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Mecanismo de coordenação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Propriedade dos meios de produção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Economia de mercado (capitalismo)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Consumidores e empresas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Preços, oferta e demanda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Predominantemente privada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Economia centralmente planificada (socialismo)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Órgão central de planejamento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Plano e metas de produção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Predominantemente estatal ou coletiva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Economia mista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Mercado e Estado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Preços, com regulação e intervenção estatal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Privada, com empresas e serviços públicos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85800" y="3703320"/>
            <a:ext cx="7772400" cy="640080"/>
          </a:xfrm>
          <a:prstGeom prst="roundRect">
            <a:avLst>
              <a:gd name="adj" fmla="val 11429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Todas as economias atuais são mistas. O que muda é o grau de presença do Estado.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 · Tópico 1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Mercado: oferta, demanda e preço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234440"/>
            <a:ext cx="4206240" cy="30175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algn="l"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 da demanda: </a:t>
            </a:r>
            <a:pPr algn="l"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tudo o mais constante, preço ↑ → quantidade demandada ↓</a:t>
            </a:r>
            <a:endParaRPr lang="en-US" sz="1450" dirty="0"/>
          </a:p>
          <a:p>
            <a:pPr algn="l"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 da oferta: </a:t>
            </a:r>
            <a:pPr algn="l"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preço ↑ → quantidade ofertada ↑</a:t>
            </a:r>
            <a:endParaRPr lang="en-US" sz="1450" dirty="0"/>
          </a:p>
          <a:p>
            <a:pPr algn="l"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Equilíbrio: </a:t>
            </a:r>
            <a:pPr algn="l"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quantidade demandada = quantidade ofertada</a:t>
            </a:r>
            <a:endParaRPr lang="en-US" sz="1450" dirty="0"/>
          </a:p>
          <a:p>
            <a:pPr algn="l"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Fora do equilíbrio: </a:t>
            </a:r>
            <a:pPr algn="l"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preço acima gera sobra; preço abaixo gera falta</a:t>
            </a:r>
            <a:endParaRPr lang="en-US" sz="1450" dirty="0"/>
          </a:p>
          <a:p>
            <a:pPr algn="l"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gestão pública: </a:t>
            </a:r>
            <a:pPr algn="l"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estacionamento rotativo tabelado abaixo do equilíbrio faz faltar vaga</a:t>
            </a:r>
            <a:endParaRPr lang="en-US" sz="1450" dirty="0"/>
          </a:p>
        </p:txBody>
      </p:sp>
      <p:pic>
        <p:nvPicPr>
          <p:cNvPr id="4" name="Image 0" descr="/tmp/claude-0/-home-user-zero-claude/d7e33190-c541-582c-a7cc-1156817732ce/scratchpad/deck/assets/oferta_demand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4920" y="1188720"/>
            <a:ext cx="3383280" cy="25374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 · Tópico 1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Quando o governo fixa o preço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85800" y="1143000"/>
            <a:ext cx="7772400" cy="1417320"/>
          </a:xfrm>
          <a:prstGeom prst="roundRect">
            <a:avLst>
              <a:gd name="adj" fmla="val 5161"/>
            </a:avLst>
          </a:prstGeom>
          <a:solidFill>
            <a:srgbClr val="FBF4DC"/>
          </a:solidFill>
          <a:ln/>
        </p:spPr>
      </p:sp>
      <p:sp>
        <p:nvSpPr>
          <p:cNvPr id="4" name="Shape 2"/>
          <p:cNvSpPr/>
          <p:nvPr/>
        </p:nvSpPr>
        <p:spPr>
          <a:xfrm>
            <a:off x="850392" y="130759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9C85C"/>
          </a:solidFill>
          <a:ln/>
        </p:spPr>
      </p:sp>
      <p:pic>
        <p:nvPicPr>
          <p:cNvPr id="5" name="Image 0" descr="/tmp/claude-0/-home-user-zero-claude/d7e33190-c541-582c-a7cc-1156817732ce/scratchpad/deck/assets/icon_FaLightbulb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" y="1408176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17320" y="1252728"/>
            <a:ext cx="6903720" cy="11978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A88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NA GESTÃO PÚBLICA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Tarifa de ônibus congelada abaixo do custo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a tarifa fica abaixo do custo por passageiro e não há subsídio, a empresa reduz a frota: os ônibus ficam lotados e os intervalos aumentam. É o excesso de demanda previsto pelo modelo.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2743200"/>
            <a:ext cx="2456688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PREÇO MÁXIMO (TETO)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Abaixo do equilíbrio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Gera falta do bem ou serviço, filas e perda de qualidade.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3343656" y="2743200"/>
            <a:ext cx="2456688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PREÇO MÍNIMO (PISO)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Acima do equilíbrio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Gera sobra: produtos sem comprador ou serviço ocioso.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6001512" y="2743200"/>
            <a:ext cx="2456688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ALTERNATIVA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Subsídio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poder público cobre parte do custo e mantém a oferta.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 · Tópico 1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Oferta, demanda e preço máximo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Tarifa de ônibus e número de viagens por dia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207008"/>
            <a:ext cx="5349240" cy="2953512"/>
          </a:xfrm>
          <a:prstGeom prst="roundRect">
            <a:avLst>
              <a:gd name="adj" fmla="val 1858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1261872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Viagens por dia (mil), conforme a tarifa</a:t>
            </a:r>
            <a:endParaRPr lang="en-US" sz="13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658368" y="1591056"/>
          <a:ext cx="5138928" cy="249631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 4"/>
          <p:cNvSpPr txBox="1"/>
          <p:nvPr/>
        </p:nvSpPr>
        <p:spPr>
          <a:xfrm>
            <a:off x="6035040" y="1207008"/>
            <a:ext cx="2560320" cy="2953512"/>
          </a:xfrm>
          <a:prstGeom prst="roundRect">
            <a:avLst>
              <a:gd name="adj" fmla="val 2143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t"/>
          <a:lstStyle/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LER O GRÁFICO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Equilíbrio: R$ 4,50, com 100 mil viagens.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Congelada em R$ 3,00, a demanda é de 130 mil e a oferta, de 60 mil.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Faltam 70 mil viagens: ônibus lotados e filas.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Saídas: subsídio ou tarifa que cubra o custo.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420624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i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 hipotéticos, para fins didáticos.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 · Tópico 1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Microeconomia e macroeconomia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Duas formas de olhar a economia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85800" y="1280160"/>
            <a:ext cx="3749040" cy="17830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43560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6" name="Image 0" descr="/tmp/claude-0/-home-user-zero-claude/d7e33190-c541-582c-a7cc-1156817732ce/scratchpad/deck/assets/icon_FaStor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" y="1536192"/>
            <a:ext cx="256032" cy="2560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371600" y="1353312"/>
            <a:ext cx="2971800" cy="163677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UNIDADES INDIVIDUAIS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Microeconomia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Estuda consumidores, empresas e mercados específicos e a formação dos preços. Ex.: a tarifa do ônibus, o preço do combustível no município.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4709160" y="1280160"/>
            <a:ext cx="3749040" cy="17830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846320" y="143560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0" name="Image 1" descr="/tmp/claude-0/-home-user-zero-claude/d7e33190-c541-582c-a7cc-1156817732ce/scratchpad/deck/assets/icon_FaChartLin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6904" y="1536192"/>
            <a:ext cx="256032" cy="25603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394960" y="1353312"/>
            <a:ext cx="2971800" cy="163677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AGREGADOS DA ECONOMIA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Macroeconomia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Estuda PIB, emprego, inflação, juros, câmbio e contas públicas. Ex.: uma recessão que derruba a arrecadação do município.</a:t>
            </a:r>
            <a:endParaRPr lang="en-US" sz="1100" dirty="0"/>
          </a:p>
        </p:txBody>
      </p:sp>
      <p:sp>
        <p:nvSpPr>
          <p:cNvPr id="12" name="Text 8"/>
          <p:cNvSpPr txBox="1"/>
          <p:nvPr/>
        </p:nvSpPr>
        <p:spPr>
          <a:xfrm>
            <a:off x="685800" y="3291840"/>
            <a:ext cx="7772400" cy="822960"/>
          </a:xfrm>
          <a:prstGeom prst="roundRect">
            <a:avLst>
              <a:gd name="adj" fmla="val 8889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5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Grande parte do debate sobre o papel do Estado é macroeconômico: é o terreno de Keynes, que veremos na Unidade 4.</a:t>
            </a:r>
            <a:endParaRPr lang="en-US" sz="1450" dirty="0"/>
          </a:p>
        </p:txBody>
      </p:sp>
      <p:sp>
        <p:nvSpPr>
          <p:cNvPr id="13" name="Text 9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 · Tópico 1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41732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2 · TÓPICO 2 DO SUMÁRIO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87452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mercado: conceitos e funções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2971800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Conceitos fundamentais, falhas de mercado e funções do Estado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 · Tópico 2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elementos constitutivos do Estado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685800" y="1234440"/>
            <a:ext cx="2456688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38988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5" name="Image 0" descr="/tmp/claude-0/-home-user-zero-claude/d7e33190-c541-582c-a7cc-1156817732ce/scratchpad/deck/assets/icon_FaUser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" y="1490472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71600" y="1307592"/>
            <a:ext cx="1679448" cy="145389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Povo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conjunto de pessoas vinculadas juridicamente ao Estado (os cidadãos).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3343656" y="1234440"/>
            <a:ext cx="2456688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480816" y="138988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9" name="Image 1" descr="/tmp/claude-0/-home-user-zero-claude/d7e33190-c541-582c-a7cc-1156817732ce/scratchpad/deck/assets/icon_FaMapMarkedAl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1400" y="1490472"/>
            <a:ext cx="256032" cy="25603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029456" y="1307592"/>
            <a:ext cx="1679448" cy="145389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Território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espaço físico sobre o qual o Estado exerce seu poder.</a:t>
            </a:r>
            <a:endParaRPr lang="en-US" sz="1600" dirty="0"/>
          </a:p>
        </p:txBody>
      </p:sp>
      <p:sp>
        <p:nvSpPr>
          <p:cNvPr id="11" name="Shape 7"/>
          <p:cNvSpPr/>
          <p:nvPr/>
        </p:nvSpPr>
        <p:spPr>
          <a:xfrm>
            <a:off x="6001512" y="1234440"/>
            <a:ext cx="2456688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138672" y="138988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3" name="Image 2" descr="/tmp/claude-0/-home-user-zero-claude/d7e33190-c541-582c-a7cc-1156817732ce/scratchpad/deck/assets/icon_FaCrow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9256" y="1490472"/>
            <a:ext cx="256032" cy="256032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6687312" y="1307592"/>
            <a:ext cx="1679448" cy="145389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Soberania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Poder supremo interno e independência em relação a outros Estados.</a:t>
            </a:r>
            <a:endParaRPr lang="en-US" sz="1600" dirty="0"/>
          </a:p>
        </p:txBody>
      </p:sp>
      <p:sp>
        <p:nvSpPr>
          <p:cNvPr id="15" name="Text 10"/>
          <p:cNvSpPr txBox="1"/>
          <p:nvPr/>
        </p:nvSpPr>
        <p:spPr>
          <a:xfrm>
            <a:off x="685800" y="3108960"/>
            <a:ext cx="7772400" cy="914400"/>
          </a:xfrm>
          <a:prstGeom prst="roundRect">
            <a:avLst>
              <a:gd name="adj" fmla="val 8000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Estado moderno nasce da centralização do poder político (séculos XV a XVII), com exército, tributos e administração permanentes.</a:t>
            </a:r>
            <a:endParaRPr lang="en-US" sz="1500" dirty="0"/>
          </a:p>
        </p:txBody>
      </p:sp>
      <p:sp>
        <p:nvSpPr>
          <p:cNvPr id="16" name="Text 11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 · Tópico 2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Weber: Estado e dominação legítima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as pessoas obedecem?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188720"/>
            <a:ext cx="7498080" cy="868680"/>
          </a:xfrm>
          <a:prstGeom prst="roundRect">
            <a:avLst>
              <a:gd name="adj" fmla="val 8421"/>
            </a:avLst>
          </a:prstGeom>
          <a:solidFill>
            <a:srgbClr val="FBF4DC"/>
          </a:solidFill>
          <a:ln/>
        </p:spPr>
        <p:txBody>
          <a:bodyPr wrap="square" lIns="152400" tIns="152400" rIns="152400" bIns="152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b="1" i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 </a:t>
            </a:r>
            <a:pPr algn="l" indent="0" marL="0">
              <a:lnSpc>
                <a:spcPct val="100000"/>
              </a:lnSpc>
              <a:buNone/>
            </a:pPr>
            <a:r>
              <a:rPr lang="en-US" sz="1600" i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Estado é a comunidade humana que reivindica, com êxito, o monopólio do uso legítimo da força física em um território.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2240280"/>
            <a:ext cx="2456688" cy="128016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TRADICIONAL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Costume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Obediência baseada na tradição (o senhor, o monarca).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3343656" y="2240280"/>
            <a:ext cx="2456688" cy="128016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CARISMÁTICA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Líder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Obediência às qualidades extraordinárias de uma pessoa.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6001512" y="2240280"/>
            <a:ext cx="2456688" cy="128016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LEGAL-RACIONAL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Obediência a normas impessoais: base da burocracia moderna.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3703320"/>
            <a:ext cx="7772400" cy="658368"/>
          </a:xfrm>
          <a:prstGeom prst="roundRect">
            <a:avLst>
              <a:gd name="adj" fmla="val 11111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Brasil, concursos públicos e os princípios do art. 37 da Constituição (legalidade, impessoalidade, moralidade, publicidade e eficiência) expressam a dominação legal-racional.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 · Tópico 2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Conceitos fundamentais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governo, administração pública, mercado e sociedade civil</a:t>
            </a:r>
            <a:endParaRPr lang="en-US" sz="14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188720"/>
          <a:ext cx="777240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6035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Conceito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Definição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Estado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Organização político-jurídica permanente que detém a soberania sobre um território e sua população. Para Weber, é a comunidade humana que reivindica com êxito o monopólio do uso legítimo da força física em um território.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Governo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grupo que, em dado momento, dirige o Estado e define suas políticas. Governos são transitórios; o Estado é permanente.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Administração pública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aparelho (órgãos, entidades e servidores) que executa as políticas definidas pelo governo.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Mercado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Mecanismo de coordenação descentralizada das atividades econômicas, baseado na troca voluntária e nos preços.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Sociedade civil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Relações sociais que não pertencem nem ao Estado nem, estritamente, ao mercado: associações, movimentos, terceiro setor.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85800" y="4005072"/>
            <a:ext cx="7772400" cy="475488"/>
          </a:xfrm>
          <a:prstGeom prst="roundRect">
            <a:avLst>
              <a:gd name="adj" fmla="val 15385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confunda Estado com governo: quando o governo muda, o Estado continua o mesmo.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 · Tópico 2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Governo: formas, sistemas e poderes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234440"/>
            <a:ext cx="2456688" cy="173736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FORMAS DE GOVERNO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Monarquia × república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república, o chefe de Estado é eleito e governa por mandato.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343656" y="1234440"/>
            <a:ext cx="2456688" cy="173736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SISTEMAS DE GOVERNO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Presidencialismo × parlamentarismo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presidencialismo, o presidente é chefe de Estado e de governo.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001512" y="1234440"/>
            <a:ext cx="2456688" cy="173736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SEPARAÇÃO DOS PODERES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Executivo, Legislativo, Judiciário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Montesquieu: o poder deve limitar o poder.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85800" y="3154680"/>
            <a:ext cx="7772400" cy="1188720"/>
          </a:xfrm>
          <a:prstGeom prst="roundRect">
            <a:avLst>
              <a:gd name="adj" fmla="val 6154"/>
            </a:avLst>
          </a:prstGeom>
          <a:solidFill>
            <a:srgbClr val="FBF4DC"/>
          </a:solidFill>
          <a:ln/>
        </p:spPr>
      </p:sp>
      <p:sp>
        <p:nvSpPr>
          <p:cNvPr id="7" name="Shape 5"/>
          <p:cNvSpPr/>
          <p:nvPr/>
        </p:nvSpPr>
        <p:spPr>
          <a:xfrm>
            <a:off x="850392" y="331927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9C85C"/>
          </a:solidFill>
          <a:ln/>
        </p:spPr>
      </p:sp>
      <p:pic>
        <p:nvPicPr>
          <p:cNvPr id="8" name="Image 0" descr="/tmp/claude-0/-home-user-zero-claude/d7e33190-c541-582c-a7cc-1156817732ce/scratchpad/deck/assets/icon_FaLightbulb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" y="3419856"/>
            <a:ext cx="256032" cy="25603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417320" y="3264408"/>
            <a:ext cx="6903720" cy="9692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A88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NA GESTÃO PÚBLICA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Brasil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República federativa presidencialista: União, estados, Distrito Federal e municípios, cada um com seus poderes (no município, prefeito e Câmara Municipal).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 · Tópico 2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mercado como instituição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mercado não funciona no vazio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85800" y="1280160"/>
            <a:ext cx="3749040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43560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6" name="Image 0" descr="/tmp/claude-0/-home-user-zero-claude/d7e33190-c541-582c-a7cc-1156817732ce/scratchpad/deck/assets/icon_FaFileContrac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" y="1536192"/>
            <a:ext cx="256032" cy="2560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371600" y="1353312"/>
            <a:ext cx="2971800" cy="104241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Propriedade e contratos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Direitos definidos e contratos cumpridos.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4709160" y="1280160"/>
            <a:ext cx="3749040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846320" y="143560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0" name="Image 1" descr="/tmp/claude-0/-home-user-zero-claude/d7e33190-c541-582c-a7cc-1156817732ce/scratchpad/deck/assets/icon_FaCoin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6904" y="1536192"/>
            <a:ext cx="256032" cy="25603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394960" y="1353312"/>
            <a:ext cx="2971800" cy="104241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Moeda estável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Unidade de conta e meio de troca confiáveis.</a:t>
            </a:r>
            <a:endParaRPr lang="en-US" sz="1600" dirty="0"/>
          </a:p>
        </p:txBody>
      </p:sp>
      <p:sp>
        <p:nvSpPr>
          <p:cNvPr id="12" name="Shape 8"/>
          <p:cNvSpPr/>
          <p:nvPr/>
        </p:nvSpPr>
        <p:spPr>
          <a:xfrm>
            <a:off x="685800" y="2651760"/>
            <a:ext cx="3749040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822960" y="280720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4" name="Image 2" descr="/tmp/claude-0/-home-user-zero-claude/d7e33190-c541-582c-a7cc-1156817732ce/scratchpad/deck/assets/icon_FaUser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3544" y="2907792"/>
            <a:ext cx="256032" cy="256032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371600" y="2724912"/>
            <a:ext cx="2971800" cy="104241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Concorrência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Muitos compradores e vendedores.</a:t>
            </a:r>
            <a:endParaRPr lang="en-US" sz="1600" dirty="0"/>
          </a:p>
        </p:txBody>
      </p:sp>
      <p:sp>
        <p:nvSpPr>
          <p:cNvPr id="16" name="Shape 11"/>
          <p:cNvSpPr/>
          <p:nvPr/>
        </p:nvSpPr>
        <p:spPr>
          <a:xfrm>
            <a:off x="4709160" y="2651760"/>
            <a:ext cx="3749040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4846320" y="280720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8" name="Image 3" descr="/tmp/claude-0/-home-user-zero-claude/d7e33190-c541-582c-a7cc-1156817732ce/scratchpad/deck/assets/icon_FaInfoCircl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46904" y="2907792"/>
            <a:ext cx="256032" cy="256032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5394960" y="2724912"/>
            <a:ext cx="2971800" cy="104241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Informação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Preços e qualidade conhecidos.</a:t>
            </a:r>
            <a:endParaRPr lang="en-US" sz="1600" dirty="0"/>
          </a:p>
        </p:txBody>
      </p:sp>
      <p:sp>
        <p:nvSpPr>
          <p:cNvPr id="20" name="Text 14"/>
          <p:cNvSpPr txBox="1"/>
          <p:nvPr/>
        </p:nvSpPr>
        <p:spPr>
          <a:xfrm>
            <a:off x="685800" y="3749040"/>
            <a:ext cx="7772400" cy="676656"/>
          </a:xfrm>
          <a:prstGeom prst="roundRect">
            <a:avLst>
              <a:gd name="adj" fmla="val 10811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 garante contratos, moeda e concorrência? O Estado: Justiça, Banco Central e órgãos de defesa da concorrência.</a:t>
            </a:r>
            <a:endParaRPr lang="en-US" sz="1350" dirty="0"/>
          </a:p>
        </p:txBody>
      </p:sp>
      <p:sp>
        <p:nvSpPr>
          <p:cNvPr id="21" name="Text 1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 · Tópico 2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Classificação dos bens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Rivalidade no consumo e possibilidade de exclusão</a:t>
            </a:r>
            <a:endParaRPr lang="en-US" sz="14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68680" y="1234440"/>
          <a:ext cx="740664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Rival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Não rival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Excludente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Bens privados: alimento, roupa, carro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Bens de clube: TV por assinatura, rodovia com pedágio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Não excludente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Recursos comuns: peixes de um rio, pastagem pública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Bens públicos: defesa, iluminação pública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868680" y="2834640"/>
            <a:ext cx="7406640" cy="1481328"/>
          </a:xfrm>
          <a:prstGeom prst="roundRect">
            <a:avLst>
              <a:gd name="adj" fmla="val 4938"/>
            </a:avLst>
          </a:prstGeom>
          <a:solidFill>
            <a:srgbClr val="FBF4DC"/>
          </a:solidFill>
          <a:ln/>
        </p:spPr>
      </p:sp>
      <p:sp>
        <p:nvSpPr>
          <p:cNvPr id="6" name="Shape 3"/>
          <p:cNvSpPr/>
          <p:nvPr/>
        </p:nvSpPr>
        <p:spPr>
          <a:xfrm>
            <a:off x="1033272" y="29992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9C85C"/>
          </a:solidFill>
          <a:ln/>
        </p:spPr>
      </p:sp>
      <p:pic>
        <p:nvPicPr>
          <p:cNvPr id="7" name="Image 0" descr="/tmp/claude-0/-home-user-zero-claude/d7e33190-c541-582c-a7cc-1156817732ce/scratchpad/deck/assets/icon_FaLightbulb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3856" y="3099816"/>
            <a:ext cx="256032" cy="256032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600200" y="2944368"/>
            <a:ext cx="6537960" cy="12618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A88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NA GESTÃO PÚBLICA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Iluminação pública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Ninguém pode ser impedido de usar a rua iluminada. Por isso o município a oferece e a financia com a contribuição de iluminação pública (COSIP), prevista no art. 149-A da Constituição.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 · Tópico 2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3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o Estado atua? As falhas de mercado</a:t>
            </a:r>
            <a:endParaRPr lang="en-US" sz="23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188720"/>
            <a:ext cx="2456688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Bens públicos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rivais e não excludentes; surge o carona (free rider). Ex.: defesa, iluminação.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3343656" y="1188720"/>
            <a:ext cx="2456688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Externalidades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Poluição (negativa); vacinação e educação (positivas).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6001512" y="1188720"/>
            <a:ext cx="2456688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Poder de mercado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Monopólios naturais: saneamento, energia.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450592"/>
            <a:ext cx="2456688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Assimetria de informação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Saúde, crédito, medicamentos.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3343656" y="2450592"/>
            <a:ext cx="2456688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Instabilidade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Desemprego, recessão e inflação.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001512" y="2450592"/>
            <a:ext cx="2456688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Desigualdade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Distribuição de renda considerada injusta.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3657600"/>
            <a:ext cx="7772400" cy="685800"/>
          </a:xfrm>
          <a:prstGeom prst="roundRect">
            <a:avLst>
              <a:gd name="adj" fmla="val 10667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Mesmo os defensores do mercado reconhecem essas falhas. Mas também existem falhas de governo (próximos slides).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 · Tópico 2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3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Falhas de mercado no dia a dia de Mato Grosso</a:t>
            </a:r>
            <a:endParaRPr lang="en-US" sz="2300" dirty="0"/>
          </a:p>
        </p:txBody>
      </p:sp>
      <p:sp>
        <p:nvSpPr>
          <p:cNvPr id="3" name="Shape 1"/>
          <p:cNvSpPr/>
          <p:nvPr/>
        </p:nvSpPr>
        <p:spPr>
          <a:xfrm>
            <a:off x="685800" y="1188720"/>
            <a:ext cx="3749040" cy="1481328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34416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5" name="Image 0" descr="/tmp/claude-0/-home-user-zero-claude/d7e33190-c541-582c-a7cc-1156817732ce/scratchpad/deck/assets/icon_FaFir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" y="1444752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71600" y="1261872"/>
            <a:ext cx="2971800" cy="133502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EXTERNALIDADE NEGATIVA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Queimadas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fumaça afeta a saúde de moradores distantes do foco. Resposta: fiscalização, multas e brigadas.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4709160" y="1188720"/>
            <a:ext cx="3749040" cy="1481328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4846320" y="134416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9" name="Image 1" descr="/tmp/claude-0/-home-user-zero-claude/d7e33190-c541-582c-a7cc-1156817732ce/scratchpad/deck/assets/icon_FaBol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6904" y="1444752"/>
            <a:ext cx="256032" cy="25603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5394960" y="1261872"/>
            <a:ext cx="2971800" cy="133502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MONOPÓLIO NATURAL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Energia elétrica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única rede de distribuição. Resposta: tarifas e qualidade reguladas pela ANEEL.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685800" y="2834640"/>
            <a:ext cx="3749040" cy="1481328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822960" y="299008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3" name="Image 2" descr="/tmp/claude-0/-home-user-zero-claude/d7e33190-c541-582c-a7cc-1156817732ce/scratchpad/deck/assets/icon_FaPill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3544" y="3090672"/>
            <a:ext cx="256032" cy="256032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371600" y="2907792"/>
            <a:ext cx="2971800" cy="133502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ASSIMETRIA DE INFORMAÇÃO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Medicamentos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paciente não avalia o remédio. Resposta: registro e vigilância sanitária (ANVISA).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4709160" y="2834640"/>
            <a:ext cx="3749040" cy="1481328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4846320" y="299008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7" name="Image 3" descr="/tmp/claude-0/-home-user-zero-claude/d7e33190-c541-582c-a7cc-1156817732ce/scratchpad/deck/assets/icon_FaSyring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46904" y="3090672"/>
            <a:ext cx="256032" cy="256032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5394960" y="2907792"/>
            <a:ext cx="2971800" cy="133502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EXTERNALIDADE POSITIVA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Vacinação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Protege também quem não se vacinou. Resposta: vacinas gratuitas no SUS.</a:t>
            </a:r>
            <a:endParaRPr lang="en-US" sz="1100" dirty="0"/>
          </a:p>
        </p:txBody>
      </p:sp>
      <p:sp>
        <p:nvSpPr>
          <p:cNvPr id="19" name="Text 1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 · Tópico 2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Falhas de mercado × falhas de governo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Nem o mercado nem o Estado são perfeitos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234440"/>
            <a:ext cx="3794760" cy="2240280"/>
          </a:xfrm>
          <a:prstGeom prst="roundRect">
            <a:avLst>
              <a:gd name="adj" fmla="val 2449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27000" tIns="127000" rIns="127000" bIns="127000" rtlCol="0" anchor="t"/>
          <a:lstStyle/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FALHAS DE MERCADO</a:t>
            </a:r>
            <a:endParaRPr lang="en-US" sz="12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Bens públicos e o problema do carona</a:t>
            </a:r>
            <a:endParaRPr lang="en-US" sz="12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Externalidades</a:t>
            </a:r>
            <a:endParaRPr lang="en-US" sz="12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Poder de mercado e monopólios</a:t>
            </a:r>
            <a:endParaRPr lang="en-US" sz="12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Assimetria de informação</a:t>
            </a:r>
            <a:endParaRPr lang="en-US" sz="1200" dirty="0"/>
          </a:p>
          <a:p>
            <a:pPr algn="l" marL="177800" indent="-177800">
              <a:lnSpc>
                <a:spcPct val="100000"/>
              </a:lnSpc>
              <a:buSzPct val="100000"/>
              <a:buChar char="•"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Instabilidade e desigualdade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4663440" y="1234440"/>
            <a:ext cx="3794760" cy="2240280"/>
          </a:xfrm>
          <a:prstGeom prst="roundRect">
            <a:avLst>
              <a:gd name="adj" fmla="val 2449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t"/>
          <a:lstStyle/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FALHAS DE GOVERNO</a:t>
            </a:r>
            <a:endParaRPr lang="en-US" sz="12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Captura por interesses privados</a:t>
            </a:r>
            <a:endParaRPr lang="en-US" sz="12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Ineficiência</a:t>
            </a:r>
            <a:endParaRPr lang="en-US" sz="12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Corrupção</a:t>
            </a:r>
            <a:endParaRPr lang="en-US" sz="12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Rigidez burocrática</a:t>
            </a:r>
            <a:endParaRPr lang="en-US" sz="1200" dirty="0"/>
          </a:p>
          <a:p>
            <a:pPr algn="l" marL="177800" indent="-177800">
              <a:lnSpc>
                <a:spcPct val="100000"/>
              </a:lnSpc>
              <a:buSzPct val="100000"/>
              <a:buChar char="•"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Custos de informação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3657600"/>
            <a:ext cx="7772400" cy="685800"/>
          </a:xfrm>
          <a:prstGeom prst="roundRect">
            <a:avLst>
              <a:gd name="adj" fmla="val 10667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debate entre as matrizes teóricas é, em grande medida, um debate sobre qual falha é mais grave.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 · Tópico 2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três funções econômicas do Estado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Classificação de Richard Musgrave</a:t>
            </a:r>
            <a:endParaRPr lang="en-US" sz="14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777240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3291840"/>
                <a:gridCol w="2743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Função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Objetivo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Exemplos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Alocativa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Ofertar bens e serviços que o mercado não provê de forma adequada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Segurança, justiça, saneamento, infraestrutura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Distributiva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Ajustar a distribuição de renda e riqueza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Tributação progressiva, Bolsa Família, BPC, previdência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Estabilizadora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Manter emprego, estabilidade de preços e crescimento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Políticas fiscal e monetária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85800" y="3611880"/>
            <a:ext cx="7772400" cy="640080"/>
          </a:xfrm>
          <a:prstGeom prst="roundRect">
            <a:avLst>
              <a:gd name="adj" fmla="val 11429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mesma política pode cumprir mais de uma função: o SUS, por exemplo, é alocativo e distributivo.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 · Tópico 2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Musgrave no orçamento do município</a:t>
            </a:r>
            <a:endParaRPr lang="en-US" sz="26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188720"/>
          <a:ext cx="777240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3291840"/>
                <a:gridCol w="2743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Função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Exemplos municipais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Observação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Alocativa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UBS, escolas, pavimentação, coleta de lixo, iluminação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É a função mais presente no município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Distributiva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IPTU progressivo, tarifa social de água, CRAS e assistência social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Reduz desigualdades locais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Estabilizadora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Antecipar obras em anos de crise para gerar empregos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Limitada: política monetária e grande parte da fiscal são da União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685800" y="3611880"/>
            <a:ext cx="7772400" cy="658368"/>
          </a:xfrm>
          <a:prstGeom prst="roundRect">
            <a:avLst>
              <a:gd name="adj" fmla="val 11111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Pergunta para o fórum: que função cumpre a política pública que você escolheu?</a:t>
            </a:r>
            <a:endParaRPr lang="en-US" sz="1450" dirty="0"/>
          </a:p>
        </p:txBody>
      </p:sp>
      <p:sp>
        <p:nvSpPr>
          <p:cNvPr id="5" name="Text 2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 · Tópico 2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onde vai o orçamento municipal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Despesa de um município por função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207008"/>
            <a:ext cx="5349240" cy="2953512"/>
          </a:xfrm>
          <a:prstGeom prst="roundRect">
            <a:avLst>
              <a:gd name="adj" fmla="val 1858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1261872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Despesa por função (% do total)</a:t>
            </a:r>
            <a:endParaRPr lang="en-US" sz="13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658368" y="1591056"/>
          <a:ext cx="5138928" cy="249631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 4"/>
          <p:cNvSpPr txBox="1"/>
          <p:nvPr/>
        </p:nvSpPr>
        <p:spPr>
          <a:xfrm>
            <a:off x="6035040" y="1207008"/>
            <a:ext cx="2560320" cy="2953512"/>
          </a:xfrm>
          <a:prstGeom prst="roundRect">
            <a:avLst>
              <a:gd name="adj" fmla="val 2143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t"/>
          <a:lstStyle/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LER O GRÁFICO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Educação e saúde somam quase metade do gasto.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Constituição exige aplicar ao menos 25% da receita de impostos em educação e 15% em saúde.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maior parte é função alocativa; a assistência social é distributiva.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420624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i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 hipotéticos, para fins didáticos. Dados reais: SICONFI (Tesouro Nacional), despesa por função.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 · Tópico 2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Atividades da Unidade 1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Atividades e prazos da unidade (todas as entregas até 23h55)</a:t>
            </a:r>
            <a:endParaRPr lang="en-US" sz="14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1325880"/>
          <a:ext cx="7498080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58064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Atividade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09/10 (sex)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Abertura da disciplina no SIGAA; vídeo de apresentação e Videoaula 1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até 18/10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Fórum de apresentação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até 18/10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Fórum temático 1: que falha de mercado uma política pública do seu município procura corrigir?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822960" y="3840480"/>
            <a:ext cx="7498080" cy="548640"/>
          </a:xfrm>
          <a:prstGeom prst="roundRect">
            <a:avLst>
              <a:gd name="adj" fmla="val 13333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Próxima unidade: a dinâmica pendular entre Estado e mercado e a matriz liberal.</a:t>
            </a:r>
            <a:endParaRPr lang="en-US" sz="1350" dirty="0"/>
          </a:p>
        </p:txBody>
      </p:sp>
      <p:sp>
        <p:nvSpPr>
          <p:cNvPr id="6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</a:t>
            </a:r>
            <a:endParaRPr lang="en-US" sz="9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069080" y="1097280"/>
            <a:ext cx="1005840" cy="1005840"/>
          </a:xfrm>
          <a:prstGeom prst="roundRect">
            <a:avLst>
              <a:gd name="adj" fmla="val 18182"/>
            </a:avLst>
          </a:prstGeom>
          <a:solidFill>
            <a:srgbClr val="2A8C85"/>
          </a:solidFill>
          <a:ln/>
        </p:spPr>
      </p:sp>
      <p:pic>
        <p:nvPicPr>
          <p:cNvPr id="3" name="Image 0" descr="/tmp/claude-0/-home-user-zero-claude/d7e33190-c541-582c-a7cc-1156817732ce/scratchpad/deck/assets/icon_FaQuesti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0" y="1325880"/>
            <a:ext cx="548640" cy="5486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31520" y="224028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1</a:t>
            </a:r>
            <a:endParaRPr lang="en-US" sz="3600" dirty="0"/>
          </a:p>
        </p:txBody>
      </p:sp>
      <p:sp>
        <p:nvSpPr>
          <p:cNvPr id="5" name="Text 2"/>
          <p:cNvSpPr txBox="1"/>
          <p:nvPr/>
        </p:nvSpPr>
        <p:spPr>
          <a:xfrm>
            <a:off x="1188720" y="2926080"/>
            <a:ext cx="6766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perguntas para revisar a unidade. Pause o vídeo, escolha sua resposta e confira no slide seguinte.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</a:t>
            </a:r>
            <a:endParaRPr lang="en-US" sz="9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1 · PERGUNTA 1 DE 5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 destes NÃO é um elemento constitutivo do Estado?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Povo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Território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Soberania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</a:t>
            </a:r>
            <a:endParaRPr lang="en-US" sz="9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1 · PERGUNTA 1 DE 5 · RESPOSTA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 destes NÃO é um elemento constitutivo do Estado?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Povo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Território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Soberania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E3F2E8"/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2E7D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3566160"/>
            <a:ext cx="7772400" cy="841248"/>
          </a:xfrm>
          <a:prstGeom prst="roundRect">
            <a:avLst>
              <a:gd name="adj" fmla="val 8696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Resposta: d) </a:t>
            </a:r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elementos clássicos do Estado são povo, território e soberania (poder político). O mercado é outra esfera de coordenação social.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</a:t>
            </a:r>
            <a:endParaRPr lang="en-US" sz="9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1 · PERGUNTA 2 DE 5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Concursos públicos, leis e impessoalidade na administração expressam, segundo Weber, a dominação: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Tradicional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Carismática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Legal-racional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Patrimonial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</a:t>
            </a:r>
            <a:endParaRPr lang="en-US" sz="9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1 · PERGUNTA 2 DE 5 · RESPOSTA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Concursos públicos, leis e impessoalidade na administração expressam, segundo Weber, a dominação: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Tradicional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Carismática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E3F2E8"/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2E7D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Legal-racional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Patrimonial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3566160"/>
            <a:ext cx="7772400" cy="841248"/>
          </a:xfrm>
          <a:prstGeom prst="roundRect">
            <a:avLst>
              <a:gd name="adj" fmla="val 8696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Resposta: c) </a:t>
            </a:r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dominação legal-racional baseia-se na obediência a normas impessoais: é a base da burocracia moderna e do art. 37 da Constituição.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</a:t>
            </a:r>
            <a:endParaRPr lang="en-US" sz="9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1 · PERGUNTA 3 DE 5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iluminação das ruas de uma cidade é um exemplo de bem: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Privado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clube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Comum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Público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</a:t>
            </a:r>
            <a:endParaRPr lang="en-US" sz="9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1 · PERGUNTA 3 DE 5 · RESPOSTA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iluminação das ruas de uma cidade é um exemplo de bem: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Privado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clube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Comum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E3F2E8"/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2E7D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Público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3566160"/>
            <a:ext cx="7772400" cy="841248"/>
          </a:xfrm>
          <a:prstGeom prst="roundRect">
            <a:avLst>
              <a:gd name="adj" fmla="val 8696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Resposta: d) </a:t>
            </a:r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não rival (todos usam ao mesmo tempo) e não excludente (ninguém é impedido de usar). Por isso o mercado não a oferece sozinho.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</a:t>
            </a:r>
            <a:endParaRPr lang="en-US" sz="9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1 · PERGUNTA 4 DE 5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fumaça das queimadas que prejudica a saúde de moradores de outras cidades é: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externalidade negativa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bem público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Assimetria de informação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monopólio natural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</a:t>
            </a:r>
            <a:endParaRPr lang="en-US" sz="9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1 · PERGUNTA 4 DE 5 · RESPOSTA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fumaça das queimadas que prejudica a saúde de moradores de outras cidades é: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E3F2E8"/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2E7D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externalidade negativa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bem público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Assimetria de informação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monopólio natural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3566160"/>
            <a:ext cx="7772400" cy="841248"/>
          </a:xfrm>
          <a:prstGeom prst="roundRect">
            <a:avLst>
              <a:gd name="adj" fmla="val 8696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Resposta: a) </a:t>
            </a:r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um custo imposto a terceiros que não aparece no preço de nenhum produto: uma externalidade negativa, que justifica fiscalização e multas.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</a:t>
            </a:r>
            <a:endParaRPr lang="en-US" sz="95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1 · PERGUNTA 5 DE 5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IPTU progressivo e tarifa social de água cumprem qual função econômica do Estado?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Alocativa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Distributiva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Estabilizadora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Fixação de preços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</a:t>
            </a:r>
            <a:endParaRPr lang="en-US" sz="95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1 · PERGUNTA 5 DE 5 · RESPOSTA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IPTU progressivo e tarifa social de água cumprem qual função econômica do Estado?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Alocativa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E3F2E8"/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2E7D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Distributiva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Estabilizadora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Fixação de preços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3566160"/>
            <a:ext cx="7772400" cy="841248"/>
          </a:xfrm>
          <a:prstGeom prst="roundRect">
            <a:avLst>
              <a:gd name="adj" fmla="val 8696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Resposta: b) </a:t>
            </a:r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São instrumentos da função distributiva: cobram mais de quem tem mais e reduzem o custo para as famílias de baixa renda.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38</Slides>
  <Notes>38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</vt:vector>
  </TitlesOfParts>
  <Company>UNEMAT / DEAD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Estado, Governo e Mercado – Unidade 1: Introdução à economia; Estado, governo e mercado</dc:title>
  <dc:subject>PptxGenJS Presentation</dc:subject>
  <dc:creator>Prof. Dr. Cleiton Franco</dc:creator>
  <cp:lastModifiedBy>Prof. Dr. Cleiton Franco</cp:lastModifiedBy>
  <cp:revision>1</cp:revision>
  <dcterms:created xsi:type="dcterms:W3CDTF">2026-09-26T21:28:42Z</dcterms:created>
  <dcterms:modified xsi:type="dcterms:W3CDTF">2026-09-26T21:28:42Z</dcterms:modified>
</cp:coreProperties>
</file>