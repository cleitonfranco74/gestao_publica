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Alfinetes</c:v>
                </c:pt>
              </c:strCache>
            </c:strRef>
          </c:tx>
          <c:spPr>
            <a:solidFill>
              <a:srgbClr val="2A8C85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F2A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Com divisão do trabalho</c:v>
                  </c:pt>
                  <c:pt idx="1">
                    <c:v>Trabalhando sozinho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4800</c:v>
                </c:pt>
                <c:pt idx="1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50" u="none">
                  <a:solidFill>
                    <a:srgbClr val="1F2A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"/>
          <c:min val="0"/>
        </c:scaling>
        <c:delete val="0"/>
        <c:axPos val="b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7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Olá, turma! Esta é a Unidade 2 de Estado, Governo e Mercado: a dinâmica pendular e a matriz liberal. Na unidade anterior, vimos por que o Estado atua na economia. Agora, vamos ver como essa atuação muda ao longo da história e conhecer os pensadores que fundaram o liberalismo.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unidade vai de 19 a 25 de outubro. A leitura é o livro de Coelho, nas partes sobre a dinâmica pendular e a matriz liberal, junto com os tópicos 3 e 4 do sumário da página de conteúdos. Atenção ao prazo mais importante da semana: a Avaliação A1, no SIGAA, vai até 25 de outubro, às 23h55, e cobre as Unidades 1 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1, que corresponde ao tópico 3 do sumário: a dinâmica pendular entre Estado e mercado. A ideia é simples e muito útil para entender a história: ora a sociedade pede mais mercado, ora pede mais Estado.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Coelho usa a imagem de um pêndulo. De um lado, mais mercado; do outro, mais Estado. Quando o pêndulo vai longe demais para um lado, os problemas desse extremo impulsionam o movimento de volta. Por isso, o debate atual não é “Estado ou mercado”, como se fosse preciso escolher um só. A pergunta madura é: que Estado e que mercado queremos?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o pêndulo se move? Quando o mercado avança demais, surgem crises e desemprego, como em 1929, aumento da desigualdade e da pobreza, e abusos de monopólios; então a sociedade pede mais Estado. Quando o Estado avança demais, aparecem crise fiscal e inflação, como nos anos 1970 e 1980, ineficiência e burocracia, e a captura do Estado por interesses particulares; então a sociedade pede mais mercado. Em resumo: falhas de mercado e falhas de governo alimentam, alternadamente, o movimento do pêndulo.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Veja a linha do tempo. Nos séculos XVIII e XIX, o liberalismo e o Estado mínimo substituem o mercantilismo. Entre 1929 e 1945, a Grande Depressão e a guerra desacreditam o laissez-faire, e surgem o keynesianismo e o New Deal. De 1945 a 1973, os chamados anos dourados, é o auge do Estado de bem-estar. Entre 1973 e 1979, os choques do petróleo trazem estagflação e crise fiscal. De 1979 a 2000, a onda neoliberal traz privatizações e desregulamentação. E nas crises de 2008 e da pandemia de 2020, o Estado volta ao centro, com resgates e programas emergenciais. Cada virada responde aos problemas da fase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Brasil também viveu esse pêndulo. De 1930 a 1980, predominou o Estado desenvolvimentista: Vargas, Juscelino e o regime militar criaram estatais e bancos públicos. De 1990 a 2002, o movimento foi em direção ao mercado, com privatizações, abertura comercial, agências reguladoras e a Lei de Responsabilidade Fiscal. De 2003 em diante, houve uma combinação: programas sociais ampliados, bancos públicos atuando nas crises e, ao mesmo tempo, concessões e parcerias público-privadas. Esse percurso será aprofundado na disciplina Desenvolvimento e Mudanças no Estado Brasileiro.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2, que corresponde ao tópico 4 do sumário: a matriz liberal. Vamos do contrato social à mão invisível, conhecendo os autores que moldaram a ideia de um Estado limitado.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liberalismo nasce contra duas coisas. Contra o mercantilismo, em que o Estado controlava o comércio, concedia monopólios e buscava acumular metais preciosos. E contra o absolutismo, em que o poder do monarca não tinha limites legais. A resposta liberal defende a liberdade individual, a propriedade, um governo limitado pela lei e a livre iniciativa econômica. Três revoluções põem essas ideias em prática: a Inglesa, de 1688, a Americana, de 1776, e a Francesa, de 1789.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contratualistas perguntam: por que os indivíduos criam o Estado? Thomas Hobbes, no Leviatã, de 1651, diz que no estado de natureza há uma guerra de todos contra todos; para ter segurança, os indivíduos entregam o poder a um soberano forte. John Locke, nos Dois Tratados sobre o Governo, de 1689, afirma que as pessoas têm direitos naturais, vida, liberdade e propriedade, e que o governo existe para protegê-los, com poder limitado. E Rousseau, no Contrato Social, de 1762, defende que a soberania pertence ao povo e se expressa na vontade geral. Destaque para Locke: ele é o fundador do liberalismo político, com a ideia de governo limitado e do direito de resistir à tirania.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Vamos aprofundar John Locke, que viveu de 1632 a 1704. Para ele, os indivíduos têm direitos naturais, vida, liberdade e propriedade, que existem antes do Estado. O Estado nasce de um contrato social justamente para proteger esses direitos, e por isso o seu poder é limitado: o governo age dentro da lei e depende do consentimento dos governados. Se o governo viola esses direitos, a sociedade tem o direito de resistência. Essa herança está na nossa Constituição: o artigo 5º garante a inviolabilidade do direito à vida, à liberdade, à igualdade, à segurança e à propriedade.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Montesquieu, em O Espírito das Leis, de 1748, dá o passo seguinte: para que não se abuse do poder, é preciso que o poder freie o poder. Daí a separação em três: o Executivo governa e administra, o Legislativo faz as leis e fiscaliza, e o Judiciário julga conforme as leis. Essa ideia está viva na nossa Constituição. O artigo 2º diz: “São Poderes da União, independentes e harmônicos entre si, o Legislativo, o Executivo e o Judiciário.” No município, a Câmara fiscaliza o prefeito exatamente nessa lógica.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Chegamos a Adam Smith e A Riqueza das Nações, de 1776, obra fundadora da economia política. Para Smith, a riqueza vem do trabalho e da sua produtividade, e não do acúmulo de ouro, como pensavam os mercantilistas. A divisão do trabalho multiplica essa produtividade. A famosa mão invisível diz que o interesse próprio, coordenado pelos preços e pela concorrência, acaba promovendo o bem comum. E o exemplo clássico: não é da benevolência do açougueiro que esperamos o nosso jantar, mas do interesse dele no próprio ganho.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exemplo mais famoso de Smith: a fábrica de alfinetes. [Apontar para as barras.] Smith descreve uma pequena fábrica em que dez operários, cada um responsável por uma etapa, produziam cerca de 48 mil alfinetes por dia: 4.800 por trabalhador. Trabalhando sozinho, fazendo todas as etapas, cada um faria no máximo 20, talvez nem um. A diferença é enorme, e é daí que Smith conclui que a riqueza das nações nasce da produtividade do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 é o papel do Estado para Smith? Ele o resume em três deveres do soberano. Primeiro, a defesa: proteger a sociedade contra agressões externas. Segundo, a justiça: proteger cada cidadão contra a injustiça de outros. Terceiro, as obras públicas: manter obras e instituições úteis à sociedade, mas que não dão lucro ao particular. Fora disso, vale o laissez-faire, laissez-passer. É o chamado Estado “guarda-noturno”.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terceiro dever de Smith continua atual. Rodovias, saneamento e hospitais dependem do Estado, que pode agir de três formas. Pela execução direta: o governo licita e paga a obra com recursos do orçamento. Pela concessão, regulada pela Lei 8.987, de 1995: a empresa constrói ou opera o serviço e é remunerada por tarifas, como o pedágio. E pela parceria público-privada, a PPP, da Lei 11.079, de 2004, em que a remuneração combina tarifa e pagamento do poder público. Escolher entre elas é uma decisão típica do gestor público.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outros clássicos completam a matriz liberal. David Ricardo, em 1817, formula a teoria das vantagens comparativas: se Portugal produz vinho e a Inglaterra produz tecidos com menor custo relativo, especializar-se e trocar faz os dois países ganharem. Daí a defesa do livre comércio. Jean-Baptiste Say formula a lei de Say: a oferta cria a sua própria procura, porque toda produção gera a renda necessária para comprá-la. Se isso fosse verdade, não haveria crise geral por falta de demanda. Guarde essa ideia: ela será criticada por Keynes em 1936, como veremos na Unidade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 o Estado mínimo do século XIX teve limites claros. Jornadas de 14 a 16 horas, inclusive de crianças. Pobreza urbana, em cidades industriais sem saneamento nem moradia digna. E crises periódicas de superprodução e desemprego. Essas condições alimentam a crítica marxista e as reformas sociais do final do século XIX, tema da Unidade 3. É o pêndulo começando a se mover de novo.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Atividades da Unidade 2. A partir de 19 de outubro, assista a esta videoaula e faça a leitura. Até 25 de outubro, faça os Exercícios de fixação 1, que não valem nota, mas são um ótimo treino, e a Avaliação A1: um questionário no SIGAA sobre as Unidades 1 e 2, até as 23h55. Não deixe para o último minuto. E anote: na segunda-feira, 26 de outubro, das 19h às 20h30, teremos o nosso único encontro síncrono, pelo Google Meet, com presença obrigatória. Na próxima unidade, a matriz marxista e as mudanças do final do século XIX. E, para revisar, faça o quiz da Unidade 2 na página de conteúdos da disciplina: cinco perguntas com resposta comentada, sem nota.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fechar a Unidade 2, vamos recapitular. [Apontar para o quadro da esquerda.] No tópico 3, vimos a dinâmica pendular: ora a sociedade pede mais mercado, ora mais Estado, porque cada extremo gera problemas que impulsionam o movimento de volta. Percorremos os marcos, do liberalismo do século XIX à crise de 1929, aos anos dourados, à estagflação, ao neoliberalismo e às crises de 2008 e 2020, e vimos como o pêndulo se moveu no Brasil. [Apontar para o quadro da direita.] No tópico 4, estudamos a matriz liberal, uma reação ao absolutismo e ao mercantilismo. Locke defendeu os direitos naturais e o governo limitado; Montesquieu, a separação dos poderes; Smith, a divisão do trabalho, a mão invisível e um Estado mínimo com três deveres; Ricardo, o livre comércio; e Say, a ideia de que a oferta cria a sua própria procura. Vimos também os limites desse Estado mínimo no século XIX. Na próxima unidade, a matriz marxista. Boa prova na A1, e nos vemos no encontro síncrono de segunda-feira, 26 de outubro, às 19h!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Slide-14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zero-claude/d7e33190-c541-582c-a7cc-1156817732ce/scratchpad/deck/assets/bras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02336"/>
            <a:ext cx="1243584" cy="1325880"/>
          </a:xfrm>
          <a:prstGeom prst="rect">
            <a:avLst/>
          </a:prstGeom>
        </p:spPr>
      </p:pic>
      <p:pic>
        <p:nvPicPr>
          <p:cNvPr id="3" name="Image 1" descr="/tmp/claude-0/-home-user-zero-claude/d7e33190-c541-582c-a7cc-1156817732ce/scratchpad/deck/assets/unem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848" y="548640"/>
            <a:ext cx="2743200" cy="1060704"/>
          </a:xfrm>
          <a:prstGeom prst="rect">
            <a:avLst/>
          </a:prstGeom>
        </p:spPr>
      </p:pic>
      <p:pic>
        <p:nvPicPr>
          <p:cNvPr id="4" name="Image 2" descr="/tmp/claude-0/-home-user-zero-claude/d7e33190-c541-582c-a7cc-1156817732ce/scratchpad/deck/assets/dead_apr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576072"/>
            <a:ext cx="3063240" cy="101041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188720" y="181051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em Gestão Pública</a:t>
            </a:r>
            <a:endParaRPr lang="en-US" sz="2000" dirty="0"/>
          </a:p>
        </p:txBody>
      </p:sp>
      <p:sp>
        <p:nvSpPr>
          <p:cNvPr id="6" name="Text 1"/>
          <p:cNvSpPr txBox="1"/>
          <p:nvPr/>
        </p:nvSpPr>
        <p:spPr>
          <a:xfrm>
            <a:off x="1188720" y="2157984"/>
            <a:ext cx="7223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</a:t>
            </a:r>
            <a:endParaRPr lang="en-US" sz="4800" dirty="0"/>
          </a:p>
        </p:txBody>
      </p:sp>
      <p:sp>
        <p:nvSpPr>
          <p:cNvPr id="7" name="Text 2"/>
          <p:cNvSpPr txBox="1"/>
          <p:nvPr/>
        </p:nvSpPr>
        <p:spPr>
          <a:xfrm>
            <a:off x="1188720" y="2926080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 · A dinâmica pendular e a matriz liberal</a:t>
            </a:r>
            <a:endParaRPr lang="en-US" sz="1900" dirty="0"/>
          </a:p>
        </p:txBody>
      </p:sp>
      <p:sp>
        <p:nvSpPr>
          <p:cNvPr id="8" name="Text 3"/>
          <p:cNvSpPr txBox="1"/>
          <p:nvPr/>
        </p:nvSpPr>
        <p:spPr>
          <a:xfrm>
            <a:off x="1243584" y="3474720"/>
            <a:ext cx="4937760" cy="420624"/>
          </a:xfrm>
          <a:prstGeom prst="roundRect">
            <a:avLst>
              <a:gd name="adj" fmla="val 21739"/>
            </a:avLst>
          </a:prstGeom>
          <a:solidFill>
            <a:srgbClr val="E9C8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· UAB · Turma 2026/2 · Prof. Dr. Cleiton Franco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969264"/>
            <a:ext cx="6400800" cy="402336"/>
          </a:xfrm>
          <a:prstGeom prst="roundRect">
            <a:avLst>
              <a:gd name="adj" fmla="val 22727"/>
            </a:avLst>
          </a:prstGeom>
          <a:solidFill>
            <a:srgbClr val="2A8C8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2 · A dinâmica pendular e a matriz liberal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2821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6" name="Image 0" descr="/tmp/claude-0/-home-user-zero-claude/d7e33190-c541-582c-a7cc-1156817732ce/scratchpad/deck/assets/icon_FaGraduation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37944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627632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em Gestão Pública (Lato Sensu)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45152" y="1554480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09744" y="172821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0" name="Image 1" descr="/tmp/claude-0/-home-user-zero-claude/d7e33190-c541-582c-a7cc-1156817732ce/scratchpad/deck/assets/icon_FaUserT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1837944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9824" y="1627632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Regente: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Cleiton Franco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2542032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4672" y="271576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4" name="Image 2" descr="/tmp/claude-0/-home-user-zero-claude/d7e33190-c541-582c-a7cc-1156817732ce/scratchpad/deck/assets/icon_FaCalendarA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2549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44752" y="2615184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&amp; Semestre: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2026/2 · 1º bloco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4645152" y="2542032"/>
            <a:ext cx="3858768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09744" y="271576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13294B"/>
          </a:solidFill>
          <a:ln/>
        </p:spPr>
      </p:sp>
      <p:pic>
        <p:nvPicPr>
          <p:cNvPr id="18" name="Image 3" descr="/tmp/claude-0/-home-user-zero-claude/d7e33190-c541-582c-a7cc-1156817732ce/scratchpad/deck/assets/icon_FaC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82549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449824" y="2615184"/>
            <a:ext cx="29718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da unidade: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19/10 a 25/10/2026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3547872"/>
            <a:ext cx="7863840" cy="676656"/>
          </a:xfrm>
          <a:prstGeom prst="roundRect">
            <a:avLst>
              <a:gd name="adj" fmla="val 8108"/>
            </a:avLst>
          </a:prstGeom>
          <a:solidFill>
            <a:srgbClr val="EAF3F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Videoaula 2 · Leitura: COELHO (2014), dinâmica pendular e matriz liberal</a:t>
            </a:r>
            <a:endParaRPr lang="en-US" sz="15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conteúdos: tópicos 3 e 4 do sumário · A1 até 25/10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TÓPICO 3 DO SUMÁRIO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74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dinâmica pendular entre Estado e mercado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9718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mercado, mais Estado: um movimento histórico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2 · Tópico 3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pêndulo entre Estado e mercado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extremo gera problemas que impulsionam o movimento de volta</a:t>
            </a:r>
            <a:endParaRPr lang="en-US" sz="1400" dirty="0"/>
          </a:p>
        </p:txBody>
      </p:sp>
      <p:pic>
        <p:nvPicPr>
          <p:cNvPr id="4" name="Image 0" descr="/tmp/claude-0/-home-user-zero-claude/d7e33190-c541-582c-a7cc-1156817732ce/scratchpad/deck/assets/pendul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4440"/>
            <a:ext cx="7498080" cy="25328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3886200"/>
            <a:ext cx="7498080" cy="502920"/>
          </a:xfrm>
          <a:prstGeom prst="roundRect">
            <a:avLst>
              <a:gd name="adj" fmla="val 14545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debate atual não é “Estado ou mercado”, mas que Estado e que mercado.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2 · Tópico 3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pêndulo se move?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88720"/>
            <a:ext cx="37947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MERCADO AVANÇA DEMAIS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Crises e desemprego (1929)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Desigualdade e pobreza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Monopólios e abusos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sociedade pede mais Estado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188720"/>
            <a:ext cx="3794760" cy="2377440"/>
          </a:xfrm>
          <a:prstGeom prst="roundRect">
            <a:avLst>
              <a:gd name="adj" fmla="val 2308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ESTADO AVANÇA DEMAIS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 fiscal e inflação (anos 1970–80)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Ineficiência e burocracia</a:t>
            </a:r>
            <a:endParaRPr lang="en-US" sz="1200" dirty="0"/>
          </a:p>
          <a:p>
            <a:pPr algn="l" marL="177800" indent="-1778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por interesses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sociedade pede mais mercado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703320"/>
            <a:ext cx="7772400" cy="731520"/>
          </a:xfrm>
          <a:prstGeom prst="roundRect">
            <a:avLst>
              <a:gd name="adj" fmla="val 10000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falhas de mercado e as falhas de governo alimentam, alternadamente, o movimento do pêndulo.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2 · Tópico 3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245668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SÉC. XVIII–XIX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Liberalismo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mínimo substitui o mercantilismo.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343656" y="1280160"/>
            <a:ext cx="245668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1929–1945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Depressão e guerra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Laissez-faire desacreditado: surgem Keynes e o New Deal.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001512" y="1280160"/>
            <a:ext cx="245668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1945–1973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dourados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Auge do Estado de bem-estar.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88920"/>
            <a:ext cx="245668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1973–1979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Petróleo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Estagflação e crise fiscal.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343656" y="2788920"/>
            <a:ext cx="245668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1979–2000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Neoliberalismo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Privatizações e desregulamentação.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001512" y="2788920"/>
            <a:ext cx="245668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/ 2020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 financeira e pandemia: retorno do Estado.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2 · Tópico 3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pêndulo no Brasil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245668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1930–1980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Estado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desenvolvimentista: Vargas, JK e regime militar criam estatais e bancos públicos.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3343656" y="1280160"/>
            <a:ext cx="245668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1990–2002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mercado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Privatizações, abertura comercial, agências reguladoras e Lei de Responsabilidade Fiscal.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001512" y="1280160"/>
            <a:ext cx="245668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 EM DIANTE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Combinação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sociais ampliados, bancos públicos ativos em crises e concessões e PPPs.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337560"/>
            <a:ext cx="7772400" cy="731520"/>
          </a:xfrm>
          <a:prstGeom prst="roundRect">
            <a:avLst>
              <a:gd name="adj" fmla="val 10000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percurso é aprofundado na disciplina Desenvolvimento e Mudanças no Estado Brasileiro.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2 · Tópico 3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TÓPICO 4 DO SUMÁRIO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745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liberal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2697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contrato social à mão invisível: Locke, Montesquieu, Smith, Ricardo e Say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2 · Tópico 4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origens do liberalismo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o absolutismo e o mercantilismo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298448"/>
            <a:ext cx="379476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MERCANTILISMO</a:t>
            </a:r>
            <a:endParaRPr lang="en-US" sz="1200" dirty="0"/>
          </a:p>
          <a:p>
            <a:pPr algn="l" indent="0" marL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controla o comércio, concede monopólios e busca acumular metais preciosos.</a:t>
            </a:r>
            <a:endParaRPr lang="en-US" sz="12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ABSOLUTISMO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poder do monarca não tem limites legais.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298448"/>
            <a:ext cx="3794760" cy="2926080"/>
          </a:xfrm>
          <a:prstGeom prst="roundRect">
            <a:avLst>
              <a:gd name="adj" fmla="val 1875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LIBERAL</a:t>
            </a:r>
            <a:endParaRPr lang="en-US" sz="1200" dirty="0"/>
          </a:p>
          <a:p>
            <a:pPr algn="l" indent="0" marL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Liberdade individual, propriedade, governo limitado pela lei e livre iniciativa econômica.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Revoluções Inglesa (1688), Americana (1776) e Francesa (1789) põem essas ideias em prática.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2 · Tópico 4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contratualistas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os indivíduos criam o Estado?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234440"/>
            <a:ext cx="245668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LEVIATÃ, 1651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Hobbes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estado de natureza há “guerra de todos contra todos”. Para ter segurança, os indivíduos entregam o poder a um soberano forte.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343656" y="1234440"/>
            <a:ext cx="245668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TRATADOS, 1689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Locke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indivíduos têm direitos naturais: vida, liberdade e propriedade. O governo existe para protegê-los e tem poder limitado.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01512" y="1234440"/>
            <a:ext cx="245668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CONTRATO SOCIAL, 1762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J.-J. Rousseau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soberania pertence ao povo e se expressa na vontade geral.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11880"/>
            <a:ext cx="7772400" cy="658368"/>
          </a:xfrm>
          <a:prstGeom prst="roundRect">
            <a:avLst>
              <a:gd name="adj" fmla="val 11111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 é o fundador do liberalismo político: governo limitado e direito de resistência contra a tirania.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2 · Tópico 4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liberalismo político: John Locke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1632–1704 · Dois Tratados sobre o Governo (1689)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188720"/>
            <a:ext cx="37490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6" name="Image 0" descr="/tmp/claude-0/-home-user-zero-claude/d7e33190-c541-582c-a7cc-1156817732ce/scratchpad/deck/assets/icon_Fa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444752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261872"/>
            <a:ext cx="297180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naturais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Vida, liberdade e propriedade existem antes do Estado.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709160" y="1188720"/>
            <a:ext cx="37490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0" name="Image 1" descr="/tmp/claude-0/-home-user-zero-claude/d7e33190-c541-582c-a7cc-1156817732ce/scratchpad/deck/assets/icon_FaFileContrac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144475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261872"/>
            <a:ext cx="297180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social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nasce de um acordo para proteger esses direitos.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85800" y="2212848"/>
            <a:ext cx="37490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22960" y="23682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4" name="Image 2" descr="/tmp/claude-0/-home-user-zero-claude/d7e33190-c541-582c-a7cc-1156817732ce/scratchpad/deck/assets/icon_FaBalanceSca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2468880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2286000"/>
            <a:ext cx="297180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limitado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governo age dentro da lei e depende do consentimento.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4709160" y="2212848"/>
            <a:ext cx="37490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46320" y="23682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8" name="Image 3" descr="/tmp/claude-0/-home-user-zero-claude/d7e33190-c541-582c-a7cc-1156817732ce/scratchpad/deck/assets/icon_FaHandPap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2468880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94960" y="2286000"/>
            <a:ext cx="2971800" cy="7498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resistência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governo viola os direitos, a sociedade pode resistir.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685800" y="3218688"/>
            <a:ext cx="7772400" cy="1188720"/>
          </a:xfrm>
          <a:prstGeom prst="roundRect">
            <a:avLst>
              <a:gd name="adj" fmla="val 6154"/>
            </a:avLst>
          </a:prstGeom>
          <a:solidFill>
            <a:srgbClr val="FBF4DC"/>
          </a:solidFill>
          <a:ln/>
        </p:spPr>
      </p:sp>
      <p:sp>
        <p:nvSpPr>
          <p:cNvPr id="21" name="Shape 15"/>
          <p:cNvSpPr/>
          <p:nvPr/>
        </p:nvSpPr>
        <p:spPr>
          <a:xfrm>
            <a:off x="850392" y="33832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9C85C"/>
          </a:solidFill>
          <a:ln/>
        </p:spPr>
      </p:sp>
      <p:pic>
        <p:nvPicPr>
          <p:cNvPr id="22" name="Image 4" descr="/tmp/claude-0/-home-user-zero-claude/d7e33190-c541-582c-a7cc-1156817732ce/scratchpad/deck/assets/icon_FaLightbul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3483864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17320" y="3328416"/>
            <a:ext cx="6903720" cy="969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A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NA GESTÃO PÚBLICA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Constituição de 1988, art. 5º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a inviolabilidade do direito à vida, à liberdade, à igualdade, à segurança e à propriedade: herança do liberalismo político.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2 · Tópico 4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Montesquieu: a separação dos poderes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Espírito das Leis (1748)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188720"/>
            <a:ext cx="7498080" cy="822960"/>
          </a:xfrm>
          <a:prstGeom prst="roundRect">
            <a:avLst>
              <a:gd name="adj" fmla="val 8889"/>
            </a:avLst>
          </a:prstGeom>
          <a:solidFill>
            <a:srgbClr val="FBF4DC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i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</a:t>
            </a:r>
            <a:pPr algn="l" indent="0" marL="0">
              <a:lnSpc>
                <a:spcPct val="100000"/>
              </a:lnSpc>
              <a:buNone/>
            </a:pPr>
            <a:r>
              <a:rPr lang="en-US" sz="1700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não se possa abusar do poder, é preciso que, pela disposição das coisas, o poder freie o poder.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245668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585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7" name="Image 0" descr="/tmp/claude-0/-home-user-zero-claude/d7e33190-c541-582c-a7cc-1156817732ce/scratchpad/deck/assets/icon_FaUserT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359152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2176272"/>
            <a:ext cx="1679448" cy="7680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Executivo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 e administra.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43656" y="2103120"/>
            <a:ext cx="245668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80816" y="22585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1" name="Image 1" descr="/tmp/claude-0/-home-user-zero-claude/d7e33190-c541-582c-a7cc-1156817732ce/scratchpad/deck/assets/icon_Fa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235915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29456" y="2176272"/>
            <a:ext cx="1679448" cy="7680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Legislativo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as leis e fiscaliza.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001512" y="2103120"/>
            <a:ext cx="245668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38672" y="22585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5" name="Image 2" descr="/tmp/claude-0/-home-user-zero-claude/d7e33190-c541-582c-a7cc-1156817732ce/scratchpad/deck/assets/icon_FaGave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256" y="235915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87312" y="2176272"/>
            <a:ext cx="1679448" cy="7680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Judiciário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Julga conforme as leis.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85800" y="3154680"/>
            <a:ext cx="7772400" cy="1261872"/>
          </a:xfrm>
          <a:prstGeom prst="roundRect">
            <a:avLst>
              <a:gd name="adj" fmla="val 5797"/>
            </a:avLst>
          </a:prstGeom>
          <a:solidFill>
            <a:srgbClr val="FBF4DC"/>
          </a:solidFill>
          <a:ln/>
        </p:spPr>
      </p:sp>
      <p:sp>
        <p:nvSpPr>
          <p:cNvPr id="18" name="Shape 13"/>
          <p:cNvSpPr/>
          <p:nvPr/>
        </p:nvSpPr>
        <p:spPr>
          <a:xfrm>
            <a:off x="850392" y="33192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9C85C"/>
          </a:solidFill>
          <a:ln/>
        </p:spPr>
      </p:sp>
      <p:pic>
        <p:nvPicPr>
          <p:cNvPr id="19" name="Image 3" descr="/tmp/claude-0/-home-user-zero-claude/d7e33190-c541-582c-a7cc-1156817732ce/scratchpad/deck/assets/icon_FaLightbul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3419856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3264408"/>
            <a:ext cx="6903720" cy="104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A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NA GESTÃO PÚBLICA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Constituição de 1988, art. 2º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“São Poderes da União, independentes e harmônicos entre si, o Legislativo, o Executivo e o Judiciário.”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2 · Tópico 4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Smith: A Riqueza das Nações (1776)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85800" y="1188720"/>
            <a:ext cx="3749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5" name="Image 0" descr="/tmp/claude-0/-home-user-zero-claude/d7e33190-c541-582c-a7cc-1156817732ce/scratchpad/deck/assets/icon_FaHamm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444752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61872"/>
            <a:ext cx="2971800" cy="12252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riqueza vem do trabalho e da sua produtividade, não do ouro.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709160" y="1188720"/>
            <a:ext cx="3749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46320" y="13441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9" name="Image 1" descr="/tmp/claude-0/-home-user-zero-claude/d7e33190-c541-582c-a7cc-1156817732ce/scratchpad/deck/assets/icon_Fa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6904" y="144475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394960" y="1261872"/>
            <a:ext cx="2971800" cy="12252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do trabalho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fábrica de alfinetes, dividir tarefas multiplica a produção de cada trabalhador.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85800" y="2743200"/>
            <a:ext cx="3749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22960" y="2898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3" name="Image 2" descr="/tmp/claude-0/-home-user-zero-claude/d7e33190-c541-582c-a7cc-1156817732ce/scratchpad/deck/assets/icon_FaHandPap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299923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2816352"/>
            <a:ext cx="2971800" cy="12252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invisível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interesse próprio, coordenado pelos preços e pela concorrência, promove o bem comum.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709160" y="2743200"/>
            <a:ext cx="3749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846320" y="289864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7" name="Image 3" descr="/tmp/claude-0/-home-user-zero-claude/d7e33190-c541-582c-a7cc-1156817732ce/scratchpad/deck/assets/icon_FaBoo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2999232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94960" y="2816352"/>
            <a:ext cx="2971800" cy="122529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 próprio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jantar não vem da benevolência do açougueiro, e sim do interesse dele no próprio ganho.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2 · Tópico 4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fábrica de alfinetes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exemplo de Smith sobre a divisão do trabalho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5349240" cy="2953512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2618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Alfinetes produzidos por trabalhador em um dia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58368" y="1591056"/>
          <a:ext cx="5138928" cy="24963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035040" y="1207008"/>
            <a:ext cx="2560320" cy="2953512"/>
          </a:xfrm>
          <a:prstGeom prst="roundRect">
            <a:avLst>
              <a:gd name="adj" fmla="val 2143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 O GRÁFICO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operários, cada um numa etapa, faziam cerca de 48 mil alfinetes por dia.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Sozinho, cada um faria, no máximo, 20.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Smith, a riqueza nasce da produtividade do trabalho.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SMITH, Adam. A Riqueza das Nações (1776), Livro I, cap. 1.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2 · Tópico 4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mínimo segundo Smith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deveres do soberano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245668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6" name="Image 0" descr="/tmp/claude-0/-home-user-zero-claude/d7e33190-c541-582c-a7cc-1156817732ce/scratchpad/deck/assets/icon_FaShield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581912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399032"/>
            <a:ext cx="1679448" cy="1545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DEVER 1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a sociedade contra agressões externas.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43656" y="1325880"/>
            <a:ext cx="245668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80816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0" name="Image 1" descr="/tmp/claude-0/-home-user-zero-claude/d7e33190-c541-582c-a7cc-1156817732ce/scratchpad/deck/assets/icon_FaGav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58191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29456" y="1399032"/>
            <a:ext cx="1679448" cy="1545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DEVER 2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Justiça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cada cidadão contra a injustiça de outros.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01512" y="1325880"/>
            <a:ext cx="245668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138672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4" name="Image 2" descr="/tmp/claude-0/-home-user-zero-claude/d7e33190-c541-582c-a7cc-1156817732ce/scratchpad/deck/assets/icon_FaBuil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256" y="158191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87312" y="1399032"/>
            <a:ext cx="1679448" cy="1545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DEVER 3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Obras públicas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obras e instituições que não dão lucro ao particular.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3291840"/>
            <a:ext cx="7772400" cy="685800"/>
          </a:xfrm>
          <a:prstGeom prst="roundRect">
            <a:avLst>
              <a:gd name="adj" fmla="val 10667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Laissez-faire, laissez-passer: o Estado “guarda-noturno”.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2 · Tópico 4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terceiro dever de Smith hoje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143000"/>
            <a:ext cx="7772400" cy="1325880"/>
          </a:xfrm>
          <a:prstGeom prst="roundRect">
            <a:avLst>
              <a:gd name="adj" fmla="val 5517"/>
            </a:avLst>
          </a:prstGeom>
          <a:solidFill>
            <a:srgbClr val="FBF4DC"/>
          </a:solidFill>
          <a:ln/>
        </p:spPr>
      </p:sp>
      <p:sp>
        <p:nvSpPr>
          <p:cNvPr id="4" name="Shape 2"/>
          <p:cNvSpPr/>
          <p:nvPr/>
        </p:nvSpPr>
        <p:spPr>
          <a:xfrm>
            <a:off x="850392" y="1307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9C85C"/>
          </a:solidFill>
          <a:ln/>
        </p:spPr>
      </p:sp>
      <p:pic>
        <p:nvPicPr>
          <p:cNvPr id="5" name="Image 0" descr="/tmp/claude-0/-home-user-zero-claude/d7e33190-c541-582c-a7cc-1156817732ce/scratchpad/deck/assets/icon_Fa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408176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252728"/>
            <a:ext cx="6903720" cy="11064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A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NA GESTÃO PÚBLICA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Rodovias, saneamento, hospitais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Obras de grande porte continuam dependendo do Estado, que pode executá-las diretamente ou contratá-las com a iniciativa privada.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651760"/>
            <a:ext cx="245668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 PÚBLICA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direta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governo licita e paga a obra com recursos do orçamento.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3343656" y="2651760"/>
            <a:ext cx="245668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8.987/1995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Concessão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constrói ou opera e é remunerada por tarifas (ex.: pedágio).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001512" y="2651760"/>
            <a:ext cx="2456688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01600" tIns="101600" rIns="101600" bIns="1016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11.079/2004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PPP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público-privada: tarifa e/ou pagamento do poder público.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2 · Tópico 4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Ricardo e Say: a economia política clássica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88720"/>
            <a:ext cx="379476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RICARDO (1817)</a:t>
            </a:r>
            <a:endParaRPr lang="en-US" sz="1200" dirty="0"/>
          </a:p>
          <a:p>
            <a:pPr algn="l"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 comparativas</a:t>
            </a:r>
            <a:endParaRPr lang="en-US" sz="12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 produz vinho e a Inglaterra, tecidos, com menor custo relativo. Especializando-se e trocando, os dois países ganham.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defesa do livre comércio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1188720"/>
            <a:ext cx="3794760" cy="3017520"/>
          </a:xfrm>
          <a:prstGeom prst="roundRect">
            <a:avLst>
              <a:gd name="adj" fmla="val 1818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JEAN-BAPTISTE SAY</a:t>
            </a:r>
            <a:endParaRPr lang="en-US" sz="1200" dirty="0"/>
          </a:p>
          <a:p>
            <a:pPr algn="l"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de Say</a:t>
            </a:r>
            <a:endParaRPr lang="en-US" sz="12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oferta cria sua própria procura”: toda produção gera renda suficiente para comprá-la.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não haveria crise geral de demanda (ideia criticada por Keynes em 1936)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2 · Tópico 4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limites do Estado mínimo no século XIX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85800" y="1234440"/>
            <a:ext cx="2456688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89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5" name="Image 0" descr="/tmp/claude-0/-home-user-zero-claude/d7e33190-c541-582c-a7cc-1156817732ce/scratchpad/deck/assets/icon_FaIndust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490472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07592"/>
            <a:ext cx="1679448" cy="1499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Jornadas longas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de 14 a 16 horas, inclusive de crianças.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43656" y="1234440"/>
            <a:ext cx="2456688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80816" y="1389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9" name="Image 1" descr="/tmp/claude-0/-home-user-zero-claude/d7e33190-c541-582c-a7cc-1156817732ce/scratchpad/deck/assets/icon_FaC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49047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029456" y="1307592"/>
            <a:ext cx="1679448" cy="1499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Pobreza urbana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Cidades industriais sem saneamento nem moradia digna.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001512" y="1234440"/>
            <a:ext cx="2456688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D5C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38672" y="1389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3294B"/>
          </a:solidFill>
          <a:ln/>
        </p:spPr>
      </p:sp>
      <p:pic>
        <p:nvPicPr>
          <p:cNvPr id="13" name="Image 2" descr="/tmp/claude-0/-home-user-zero-claude/d7e33190-c541-582c-a7cc-1156817732ce/scratchpad/deck/assets/icon_FaChart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256" y="149047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687312" y="1307592"/>
            <a:ext cx="1679448" cy="14996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Crises periódicas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de superprodução e desemprego.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3108960"/>
            <a:ext cx="7772400" cy="822960"/>
          </a:xfrm>
          <a:prstGeom prst="roundRect">
            <a:avLst>
              <a:gd name="adj" fmla="val 8889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Essas condições alimentam a crítica marxista e as reformas sociais do final do século XIX: tema da Unidade 3.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2 · Tópico 4 do sumário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da Unidade 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e prazos da unidade (todas as entregas até 23h55)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325880"/>
          <a:ext cx="74980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806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19/10 (seg)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Videoaula 2 e leitura da unidade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25/10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Exercícios de fixação 1 (não avaliativos)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25/10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Avaliação A1: questionário no SIGAA (Unidades 1 e 2), 23h55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26/10 (seg)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Encontro síncrono único (Google Meet), 19h–20h30: presença obrigatória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página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A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 de revisão da Unidade 2: 5 perguntas com resposta comentada (sem nota)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3840480"/>
            <a:ext cx="7498080" cy="548640"/>
          </a:xfrm>
          <a:prstGeom prst="roundRect">
            <a:avLst>
              <a:gd name="adj" fmla="val 13333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unidade: a matriz marxista e as mudanças do final do século XIX.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2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Unidade 2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80467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discutimos nesta unidade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170432"/>
            <a:ext cx="37947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D5C1"/>
            </a:solidFill>
          </a:ln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TÓPICO 3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dinâmica pendular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 mais mercado, ora mais Estado: cada extremo gera problemas que impulsionam a volta.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Marcos: liberalismo, 1929, anos dourados, estagflação, neoliberalismo, 2008 e 2020.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Brasil: desenvolvimentismo, reformas dos anos 1990 e combinação a partir de 2003.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atual: que Estado e que mercado?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170432"/>
            <a:ext cx="3794760" cy="2743200"/>
          </a:xfrm>
          <a:prstGeom prst="roundRect">
            <a:avLst>
              <a:gd name="adj" fmla="val 2000"/>
            </a:avLst>
          </a:prstGeom>
          <a:solidFill>
            <a:srgbClr val="E6F2F0"/>
          </a:solidFill>
          <a:ln/>
        </p:spPr>
        <p:txBody>
          <a:bodyPr wrap="square" lIns="114300" tIns="114300" rIns="114300" bIns="11430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A8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TÓPICO 4</a:t>
            </a:r>
            <a:endParaRPr lang="en-US" sz="110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liberal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Reação ao absolutismo e ao mercantilismo.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Locke: direitos naturais e governo limitado; Montesquieu: separação dos poderes.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Smith: trabalho, divisão do trabalho, mão invisível e os três deveres do Estado mínimo.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Ricardo (livre comércio) e Say (a oferta cria a procura).</a:t>
            </a:r>
            <a:endParaRPr lang="en-US" sz="1100" dirty="0"/>
          </a:p>
          <a:p>
            <a:pPr algn="l" marL="177800" indent="-177800">
              <a:lnSpc>
                <a:spcPct val="100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do Estado mínimo no século XIX.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995928"/>
            <a:ext cx="7772400" cy="484632"/>
          </a:xfrm>
          <a:prstGeom prst="roundRect">
            <a:avLst>
              <a:gd name="adj" fmla="val 15094"/>
            </a:avLst>
          </a:prstGeom>
          <a:solidFill>
            <a:srgbClr val="E6F2F0"/>
          </a:solidFill>
          <a:ln/>
        </p:spPr>
        <p:txBody>
          <a:bodyPr wrap="square" lIns="127000" tIns="127000" rIns="127000" bIns="1270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unidade: a matriz marxista e as mudanças do final do século XIX.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36576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Estado, Governo e Mercado · Unidade 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UNEMAT / DEAD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Estado, Governo e Mercado – Unidade 2: A dinâmica pendular e a matriz liberal</dc:title>
  <dc:subject>PptxGenJS Presentation</dc:subject>
  <dc:creator>Prof. Dr. Cleiton Franco</dc:creator>
  <cp:lastModifiedBy>Prof. Dr. Cleiton Franco</cp:lastModifiedBy>
  <cp:revision>1</cp:revision>
  <dcterms:created xsi:type="dcterms:W3CDTF">2026-09-30T01:46:29Z</dcterms:created>
  <dcterms:modified xsi:type="dcterms:W3CDTF">2026-09-30T01:46:29Z</dcterms:modified>
</cp:coreProperties>
</file>