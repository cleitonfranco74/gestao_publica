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Alfinetes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Com divisão do trabalho</c:v>
                  </c:pt>
                  <c:pt idx="1">
                    <c:v>Trabalhando sozinho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4800</c:v>
                </c:pt>
                <c:pt idx="1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Slide-13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2 · Leitura: COELHO (2014), dinâmica pendular e matriz liberal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3 e 4 · A1 até 25/10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mercado, mais Estado: um movimento histórico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entre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impulsionam o movimento de volta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pendu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7498080" cy="25328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886200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atual não é “Estado ou mercado”, mas que Estado e que mercado.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se move?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MERCADO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e desemprego (1929)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 e pobreza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e abusos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Estado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ESTADO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 e inflação (anos 1970–80)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 e burocracia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mercado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033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falhas de mercado e as falhas de governo alimentam, alternadamente, o movimento do pêndulo.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SÉC. XVIII–XIX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substitui o mercantilismo.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Depressão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desacredita o laissez-faire.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dourados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Auge do Estado de bem-estar.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1973–1979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Petróleo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 e crise fiscal.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1979–2000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 e desregulamentação.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/ 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financeira e pandemia: retorno do Estado.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desenvolvimentista: Vargas, JK e regime militar criam estatais e bancos públicos.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Privatizações, abertura comercial, agências reguladoras e Lei de Responsabilidade Fiscal.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 EM DIANTE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sociais ampliados, bancos públicos ativos em crises e concessões e PPPs.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3756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percurso é aprofundado na disciplina Desenvolvimento e Mudanças no Estado Brasileiro.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formação da matriz liberal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 à mão invisível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origens do 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o absolutismo e o mercantilismo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MERCANTILISMO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controla o comércio, concede monopólios e busca acumular metais preciosos.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do monarca não tem limites legais.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Liberdade individual, propriedade, governo limitado pela lei e livre iniciativa econômica.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Revoluções Inglesa (1688), Americana (1776) e Francesa (1789) põem essas ideias em prática.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contratualistas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os indivíduos criam o Estado?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LEVIATÃ, 1651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estado de natureza há “guerra de todos contra todos”. Para ter segurança, os indivíduos entregam o poder a um soberano forte.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TRATADOS, 1689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indivíduos têm direitos naturais: vida, liberdade e propriedade. O governo existe para protegê-los e tem poder limitado.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SOCIAL, 1762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J.-J. Rousseau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soberania pertence ao povo e se expressa na vontade geral.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é o fundador do liberalismo político: governo limitado e direito de resistência contra a tirania.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a separação dos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Espírito das Leis (1748)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22960"/>
          </a:xfrm>
          <a:prstGeom prst="roundRect">
            <a:avLst>
              <a:gd name="adj" fmla="val 888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7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não se possa abusar do poder, é preciso que, pela disposição das coisas, o poder freie o poder.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35915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 e administra.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43656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80816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3591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9456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as leis e fiscaliza.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001512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38672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5" name="Image 2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235915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87312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 conforme as leis.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85800" y="3154680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18" name="Shape 13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19" name="Image 3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3264408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2º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“São Poderes da União, independentes e harmônicos entre si, o Legislativo, o Executivo e o Judiciário.”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Smith: A Riqueza das Nações (1776)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amm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riqueza vem do trabalho e da sua produtividade, não do ouro.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do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fábrica de alfinetes, dividir tarefas multiplica a produção de cada trabalhador.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invisível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interesse próprio, coordenado pelos preços e pela concorrência, promove o bem comum.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 próprio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jantar não vem da benevolência do açougueiro, e sim do interesse dele no próprio ganho.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fábrica de alfinetes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de Smith sobre a divisão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Alfinetes produzidos por trabalhador em um dia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operários, cada um numa etapa, faziam cerca de 48 mil alfinetes por dia.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Sozinho, cada um faria, no máximo, 20.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Smith, a riqueza nasce da produtividade do trabalho.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SMITH, Adam. A Riqueza das Nações (1776), Livro I, cap. 1.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mínimo segundo 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deveres do soberano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 sociedade contra agressões externas.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Justiça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cada cidadão contra a injustiça de outros.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obras e instituições que não dão lucro ao particular.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9184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Laissez-faire, laissez-passer: o Estado “guarda-noturno”.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dever de Smith hoje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325880"/>
          </a:xfrm>
          <a:prstGeom prst="roundRect">
            <a:avLst>
              <a:gd name="adj" fmla="val 5517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064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Rodovias, saneamento, hospitais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de grande porte continuam dependendo do Estado, que pode executá-las diretamente ou contratá-las com a iniciativa privada.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direta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licita e paga a obra com recursos do orçamento.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8.987/1995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constrói ou opera e é remunerada por tarifas (ex.: pedágio).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11.079/2004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público-privada: tarifa e/ou pagamento do poder público.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e Say: a economia política clássica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RICARDO (1817)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comparativas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 produz vinho e a Inglaterra, tecidos, com menor custo relativo. Especializando-se e trocando, os dois países ganham.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defesa do livre comércio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oferta cria sua própria procura”: toda produção gera renda suficiente para comprá-la.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não haveria crise geral de demanda (ideia criticada por Keynes em 1936)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limites do Estado mínimo no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Jornadas longas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14 a 16 horas, inclusive de crianças.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 urbana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industriais sem saneamento nem moradia digna.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periódicas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de superprodução e desemprego.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Essas condições alimentam a crítica marxista e as reformas sociais do final do século XIX: tema da Unidade 3.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2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1 (não avaliativos)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A1: questionário no SIGAA (Unidades 1 e 2),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 poder comum, cada um ameaça o outro. Para obter segurança, os indivíduos transferem o poder a um soberano (o Leviatã).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funda o liberalismo político: o governo existe para proteger esses direitos e tem poder limitado.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Montesquieu, em O Espírito das Leis (1748). A Constituição de 1988 adota a separação no art. 2º.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especialização e o livre comércio aumentam a produção total e beneficiam os países que trocam.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(crises, desigualdade) pedem mais Estado; falhas de governo (crise fiscal, ineficiência) pedem mais mercado.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2: A dinâmica pendular e a matriz liberal</dc:title>
  <dc:subject>PptxGenJS Presentation</dc:subject>
  <dc:creator>Prof. Dr. Cleiton Franco</dc:creator>
  <cp:lastModifiedBy>Prof. Dr. Cleiton Franco</cp:lastModifiedBy>
  <cp:revision>1</cp:revision>
  <dcterms:created xsi:type="dcterms:W3CDTF">2026-09-26T20:14:11Z</dcterms:created>
  <dcterms:modified xsi:type="dcterms:W3CDTF">2026-09-26T20:14:11Z</dcterms:modified>
</cp:coreProperties>
</file>