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4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Alfinetes</c:v>
                </c:pt>
              </c:strCache>
            </c:strRef>
          </c:tx>
          <c:spPr>
            <a:solidFill>
              <a:srgbClr val="2A8C85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F2A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Com divisão do trabalho</c:v>
                  </c:pt>
                  <c:pt idx="1">
                    <c:v>Trabalhando sozinho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4800</c:v>
                </c:pt>
                <c:pt idx="1">
                  <c:v>20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050" u="none">
                  <a:solidFill>
                    <a:srgbClr val="1F2A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A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00"/>
          <c:min val="0"/>
        </c:scaling>
        <c:delete val="0"/>
        <c:axPos val="b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77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Olá, turma! Esta é a Unidade 2 de Estado, Governo e Mercado: a dinâmica pendular e a matriz liberal. Na unidade anterior, vimos por que o Estado atua na economia. Agora, vamos ver como essa atuação muda ao longo da história e conhecer os pensadores que fundaram o liberalismo.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unidade vai de 19 a 25 de outubro. A leitura é o livro de Coelho, nas partes sobre a dinâmica pendular e a matriz liberal, junto com os tópicos 3 e 4 do sumário da página de conteúdos. Atenção ao prazo mais importante da semana: a Avaliação A1, no SIGAA, vai até 25 de outubro, às 23h55, e cobre as Unidades 1 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Parte 1, que corresponde ao tópico 3 do sumário: a dinâmica pendular entre Estado e mercado. A ideia é simples e muito útil para entender a história: ora a sociedade pede mais mercado, ora pede mais Estado.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Coelho usa a imagem de um pêndulo. De um lado, mais mercado; do outro, mais Estado. Quando o pêndulo vai longe demais para um lado, os problemas desse extremo impulsionam o movimento de volta. Por isso, o debate atual não é “Estado ou mercado”, como se fosse preciso escolher um só. A pergunta madura é: que Estado e que mercado queremos?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 que o pêndulo se move? Quando o mercado avança demais, surgem crises e desemprego, como em 1929, aumento da desigualdade e da pobreza, e abusos de monopólios; então a sociedade pede mais Estado. Quando o Estado avança demais, aparecem crise fiscal e inflação, como nos anos 1970 e 1980, ineficiência e burocracia, e a captura do Estado por interesses particulares; então a sociedade pede mais mercado. Em resumo: falhas de mercado e falhas de governo alimentam, alternadamente, o movimento do pêndulo.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Veja a linha do tempo. Nos séculos XVIII e XIX, o liberalismo e o Estado mínimo substituem o mercantilismo. Entre 1929 e 1945, a Grande Depressão e a guerra desacreditam o laissez-faire, e surgem o keynesianismo e o New Deal. De 1945 a 1973, os chamados anos dourados, é o auge do Estado de bem-estar. Entre 1973 e 1979, os choques do petróleo trazem estagflação e crise fiscal. De 1979 a 2000, a onda neoliberal traz privatizações e desregulamentação. E nas crises de 2008 e da pandemia de 2020, o Estado volta ao centro, com resgates e programas emergenciais. Cada virada responde aos problemas da fase anterior.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Brasil também viveu esse pêndulo. De 1930 a 1980, predominou o Estado desenvolvimentista: Vargas, Juscelino e o regime militar criaram estatais e bancos públicos. De 1990 a 2002, o movimento foi em direção ao mercado, com privatizações, abertura comercial, agências reguladoras e a Lei de Responsabilidade Fiscal. De 2003 em diante, houve uma combinação: programas sociais ampliados, bancos públicos atuando nas crises e, ao mesmo tempo, concessões e parcerias público-privadas. Esse percurso será aprofundado na disciplina Desenvolvimento e Mudanças no Estado Brasileiro.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Parte 2, que corresponde ao tópico 4 do sumário: a matriz liberal. Vamos do contrato social à mão invisível, conhecendo os autores que moldaram a ideia de um Estado limitado.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liberalismo nasce contra duas coisas. Contra o mercantilismo, em que o Estado controlava o comércio, concedia monopólios e buscava acumular metais preciosos. E contra o absolutismo, em que o poder do monarca não tinha limites legais. A resposta liberal defende a liberdade individual, a propriedade, um governo limitado pela lei e a livre iniciativa econômica. Três revoluções põem essas ideias em prática: a Inglesa, de 1688, a Americana, de 1776, e a Francesa, de 1789.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contratualistas perguntam: por que os indivíduos criam o Estado? Thomas Hobbes, no Leviatã, de 1651, diz que no estado de natureza há uma guerra de todos contra todos; para ter segurança, os indivíduos entregam o poder a um soberano forte. John Locke, nos Dois Tratados sobre o Governo, de 1689, afirma que as pessoas têm direitos naturais, vida, liberdade e propriedade, e que o governo existe para protegê-los, com poder limitado. E Rousseau, no Contrato Social, de 1762, defende que a soberania pertence ao povo e se expressa na vontade geral. Destaque para Locke: ele é o fundador do liberalismo político, com a ideia de governo limitado e do direito de resistir à tirania.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aprofundar John Locke, que viveu de 1632 a 1704. Para ele, os indivíduos têm direitos naturais, vida, liberdade e propriedade, que existem antes do Estado. O Estado nasce de um contrato social justamente para proteger esses direitos, e por isso o seu poder é limitado: o governo age dentro da lei e depende do consentimento dos governados. Se o governo viola esses direitos, a sociedade tem o direito de resistência. Essa herança está na nossa Constituição: o artigo 5º garante a inviolabilidade do direito à vida, à liberdade, à igualdade, à segurança e à propriedade.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Montesquieu, em O Espírito das Leis, de 1748, dá o passo seguinte: para que não se abuse do poder, é preciso que o poder freie o poder. Daí a separação em três: o Executivo governa e administra, o Legislativo faz as leis e fiscaliza, e o Judiciário julga conforme as leis. Essa ideia está viva na nossa Constituição. O artigo 2º diz: “São Poderes da União, independentes e harmônicos entre si, o Legislativo, o Executivo e o Judiciário.” No município, a Câmara fiscaliza o prefeito exatamente nessa lógica.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Chegamos a Adam Smith e A Riqueza das Nações, de 1776, obra fundadora da economia política. Para Smith, a riqueza vem do trabalho e da sua produtividade, e não do acúmulo de ouro, como pensavam os mercantilistas. A divisão do trabalho multiplica essa produtividade. A famosa mão invisível diz que o interesse próprio, coordenado pelos preços e pela concorrência, acaba promovendo o bem comum. E o exemplo clássico: não é da benevolência do açougueiro que esperamos o nosso jantar, mas do interesse dele no próprio ganho.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exemplo mais famoso de Smith: a fábrica de alfinetes. [Apontar para as barras.] Smith descreve uma pequena fábrica em que dez operários, cada um responsável por uma etapa, produziam cerca de 48 mil alfinetes por dia: 4.800 por trabalhador. Trabalhando sozinho, fazendo todas as etapas, cada um faria no máximo 20, talvez nem um. A diferença é enorme, e é daí que Smith conclui que a riqueza das nações nasce da produtividade do trabalho.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Qual é o papel do Estado para Smith? Ele o resume em três deveres do soberano. Primeiro, a defesa: proteger a sociedade contra agressões externas. Segundo, a justiça: proteger cada cidadão contra a injustiça de outros. Terceiro, as obras públicas: manter obras e instituições úteis à sociedade, mas que não dão lucro ao particular. Fora disso, vale o laissez-faire, laissez-passer. É o chamado Estado “guarda-noturno”.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terceiro dever de Smith continua atual. Rodovias, saneamento e hospitais dependem do Estado, que pode agir de três formas. Pela execução direta: o governo licita e paga a obra com recursos do orçamento. Pela concessão, regulada pela Lei 8.987, de 1995: a empresa constrói ou opera o serviço e é remunerada por tarifas, como o pedágio. E pela parceria público-privada, a PPP, da Lei 11.079, de 2004, em que a remuneração combina tarifa e pagamento do poder público. Escolher entre elas é uma decisão típica do gestor público.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Dois outros clássicos completam a matriz liberal. David Ricardo, em 1817, formula a teoria das vantagens comparativas: se Portugal produz vinho e a Inglaterra produz tecidos com menor custo relativo, especializar-se e trocar faz os dois países ganharem. Daí a defesa do livre comércio. Jean-Baptiste Say formula a lei de Say: a oferta cria a sua própria procura, porque toda produção gera a renda necessária para comprá-la. Se isso fosse verdade, não haveria crise geral por falta de demanda. Guarde essa ideia: ela será criticada por Keynes em 1936, como veremos na Unidade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Mas o Estado mínimo do século XIX teve limites claros. Jornadas de 14 a 16 horas, inclusive de crianças. Pobreza urbana, em cidades industriais sem saneamento nem moradia digna. E crises periódicas de superprodução e desemprego. Essas condições alimentam a crítica marxista e as reformas sociais do final do século XIX, tema da Unidade 3. É o pêndulo começando a se mover de novo.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Atividades da Unidade 2. A partir de 19 de outubro, assista a esta videoaula e faça a leitura. Até 25 de outubro, faça os Exercícios de fixação 1, que não valem nota, mas são um ótimo treino, e a Avaliação A1: um questionário no SIGAA sobre as Unidades 1 e 2, até as 23h55. Não deixe para o último minuto. Na próxima unidade, a matriz marxista e as mudanças do final do século XIX.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Hora do quiz da Unidade 2: cinco perguntas. Pause o vídeo a cada pergunta, responda e confira no slide seguinte. É um bom aquecimento para a A1.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1. Para Hobbes, como é a vida no estado de natureza, antes do Estado? Letra a: Harmoniosa e cooperativa. Letra b: Uma guerra de todos contra todos. Letra c: Organizada pelo mercado. Letra d: Governada pela vontade geral.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b: Uma guerra de todos contra todos. Sem um poder comum, cada um ameaça o outro. Para obter segurança, os indivíduos transferem o poder a um soberano (o Leviatã).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2. Os direitos naturais à vida, à liberdade e à propriedade são a base do pensamento de: Letra a: John Locke. Letra b: Thomas Hobbes. Letra c: Karl Marx. Letra d: John Maynard Keynes.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a: John Locke. Locke funda o liberalismo político: o governo existe para proteger esses direitos e tem poder limitado.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3. A ideia de que “o poder deve frear o poder”, base da separação dos poderes, é de: Letra a: Rousseau. Letra b: Adam Smith. Letra c: Montesquieu. Letra d: Jean-Baptiste Say.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c: Montesquieu. Montesquieu, em O Espírito das Leis (1748). A Constituição de 1988 adota a separação no art. 2º.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4. Pela teoria das vantagens comparativas de Ricardo, os países ganham ao: Letra a: Produzir tudo internamente. Letra b: Especializar-se no que produzem com menor custo relativo e trocar. Letra c: Proibir importações. Letra d: Acumular ouro e prata.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b: Especializar-se no que produzem com menor custo relativo e trocar. A especialização e o livre comércio aumentam a produção total e beneficiam os países que trocam.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5. Por que o pêndulo entre Estado e mercado se move? Letra a: Cada extremo gera problemas que levam a correções no sentido oposto. Letra b: O Estado sempre cresce. Letra c: O mercado sempre vence no longo prazo. Letra d: Depende apenas do resultado das eleições.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a: Cada extremo gera problemas que levam a correções no sentido oposto. Falhas de mercado (crises, desigualdade) pedem mais Estado; falhas de governo (crise fiscal, ineficiência) pedem mais mercado. Encerramos a Unidade 2. Boa prova na A1 e até a próxima videoaula!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Slide-14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zero-claude/d7e33190-c541-582c-a7cc-1156817732ce/scratchpad/deck/assets/brasa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402336"/>
            <a:ext cx="1243584" cy="1325880"/>
          </a:xfrm>
          <a:prstGeom prst="rect">
            <a:avLst/>
          </a:prstGeom>
        </p:spPr>
      </p:pic>
      <p:pic>
        <p:nvPicPr>
          <p:cNvPr id="3" name="Image 1" descr="/tmp/claude-0/-home-user-zero-claude/d7e33190-c541-582c-a7cc-1156817732ce/scratchpad/deck/assets/unem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2848" y="548640"/>
            <a:ext cx="2743200" cy="1060704"/>
          </a:xfrm>
          <a:prstGeom prst="rect">
            <a:avLst/>
          </a:prstGeom>
        </p:spPr>
      </p:pic>
      <p:pic>
        <p:nvPicPr>
          <p:cNvPr id="4" name="Image 2" descr="/tmp/claude-0/-home-user-zero-claude/d7e33190-c541-582c-a7cc-1156817732ce/scratchpad/deck/assets/dead_apre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576072"/>
            <a:ext cx="3063240" cy="101041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1188720" y="1810512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</a:t>
            </a:r>
            <a:endParaRPr lang="en-US" sz="2000" dirty="0"/>
          </a:p>
        </p:txBody>
      </p:sp>
      <p:sp>
        <p:nvSpPr>
          <p:cNvPr id="6" name="Text 1"/>
          <p:cNvSpPr txBox="1"/>
          <p:nvPr/>
        </p:nvSpPr>
        <p:spPr>
          <a:xfrm>
            <a:off x="1188720" y="2157984"/>
            <a:ext cx="7223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4800" dirty="0"/>
          </a:p>
        </p:txBody>
      </p:sp>
      <p:sp>
        <p:nvSpPr>
          <p:cNvPr id="7" name="Text 2"/>
          <p:cNvSpPr txBox="1"/>
          <p:nvPr/>
        </p:nvSpPr>
        <p:spPr>
          <a:xfrm>
            <a:off x="1188720" y="2926080"/>
            <a:ext cx="7223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2 · A dinâmica pendular e a matriz liberal</a:t>
            </a:r>
            <a:endParaRPr lang="en-US" sz="1900" dirty="0"/>
          </a:p>
        </p:txBody>
      </p:sp>
      <p:sp>
        <p:nvSpPr>
          <p:cNvPr id="8" name="Text 3"/>
          <p:cNvSpPr txBox="1"/>
          <p:nvPr/>
        </p:nvSpPr>
        <p:spPr>
          <a:xfrm>
            <a:off x="1243584" y="3474720"/>
            <a:ext cx="4937760" cy="420624"/>
          </a:xfrm>
          <a:prstGeom prst="roundRect">
            <a:avLst>
              <a:gd name="adj" fmla="val 21739"/>
            </a:avLst>
          </a:prstGeom>
          <a:solidFill>
            <a:srgbClr val="E9C85C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 · UAB · Turma 2026/2 · Prof. Dr. Cleiton Franco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969264"/>
            <a:ext cx="6400800" cy="402336"/>
          </a:xfrm>
          <a:prstGeom prst="roundRect">
            <a:avLst>
              <a:gd name="adj" fmla="val 22727"/>
            </a:avLst>
          </a:prstGeom>
          <a:solidFill>
            <a:srgbClr val="2A8C85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2 · A dinâmica pendular e a matriz liberal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GraduationC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37944"/>
            <a:ext cx="292608" cy="29260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44752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 (Lato Sensu)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645152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09744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UserTi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9472" y="1837944"/>
            <a:ext cx="292608" cy="29260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49824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 Regente: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Dr. Cleiton Franco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40080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04672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CalendarAl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2825496"/>
            <a:ext cx="292608" cy="29260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444752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Turma &amp; Semestre: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2026/2 · 1º bloco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4645152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809744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8" name="Image 3" descr="/tmp/claude-0/-home-user-zero-claude/d7e33190-c541-582c-a7cc-1156817732ce/scratchpad/deck/assets/icon_FaClo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9472" y="2825496"/>
            <a:ext cx="292608" cy="29260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449824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Período da unidade: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19/10 a 25/10/2026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640080" y="3547872"/>
            <a:ext cx="7863840" cy="676656"/>
          </a:xfrm>
          <a:prstGeom prst="roundRect">
            <a:avLst>
              <a:gd name="adj" fmla="val 8108"/>
            </a:avLst>
          </a:prstGeom>
          <a:solidFill>
            <a:srgbClr val="EAF3F1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Videoaula 2 · Leitura: COELHO (2014), dinâmica pendular e matriz liberal</a:t>
            </a:r>
            <a:endParaRPr lang="en-US" sz="15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de conteúdos: tópicos 3 e 4 do sumário · A1 até 25/10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· TÓPICO 3 DO SUMÁRIO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7452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dinâmica pendular entre Estado e mercado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97180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mercado, mais Estado: um movimento histórico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 · Tópico 3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pêndulo entre Estado e mercado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extremo gera problemas que impulsionam o movimento de volta</a:t>
            </a:r>
            <a:endParaRPr lang="en-US" sz="1400" dirty="0"/>
          </a:p>
        </p:txBody>
      </p:sp>
      <p:pic>
        <p:nvPicPr>
          <p:cNvPr id="4" name="Image 0" descr="/tmp/claude-0/-home-user-zero-claude/d7e33190-c541-582c-a7cc-1156817732ce/scratchpad/deck/assets/pendul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34440"/>
            <a:ext cx="7498080" cy="253288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22960" y="3886200"/>
            <a:ext cx="7498080" cy="502920"/>
          </a:xfrm>
          <a:prstGeom prst="roundRect">
            <a:avLst>
              <a:gd name="adj" fmla="val 14545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debate atual não é “Estado ou mercado”, mas que Estado e que mercado.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 · Tópico 3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o pêndulo se move?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188720"/>
            <a:ext cx="379476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O MERCADO AVANÇA DEMAIS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Crises e desemprego (1929)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Desigualdade e pobreza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Monopólios e abusos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 sociedade pede mais Estado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663440" y="1188720"/>
            <a:ext cx="3794760" cy="2377440"/>
          </a:xfrm>
          <a:prstGeom prst="roundRect">
            <a:avLst>
              <a:gd name="adj" fmla="val 2308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O ESTADO AVANÇA DEMAIS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Crise fiscal e inflação (anos 1970–80)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Ineficiência e burocracia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 por interesses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 sociedade pede mais mercado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3703320"/>
            <a:ext cx="7772400" cy="731520"/>
          </a:xfrm>
          <a:prstGeom prst="roundRect">
            <a:avLst>
              <a:gd name="adj" fmla="val 10000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falhas de mercado e as falhas de governo alimentam, alternadamente, o movimento do pêndulo.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 · Tópico 3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 do tempo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80160"/>
            <a:ext cx="245668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SÉC. XVIII–XIX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Liberalismo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mínimo substitui o mercantilismo.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343656" y="1280160"/>
            <a:ext cx="245668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1929–1945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Depressão e guerra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Laissez-faire desacreditado: surgem Keynes e o New Deal.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001512" y="1280160"/>
            <a:ext cx="245668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1945–1973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Anos dourados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Auge do Estado de bem-estar.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788920"/>
            <a:ext cx="245668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1973–1979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Petróleo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Estagflação e crise fiscal.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3343656" y="2788920"/>
            <a:ext cx="245668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1979–2000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Neoliberalismo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Privatizações e desregulamentação.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001512" y="2788920"/>
            <a:ext cx="245668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2008 / 2020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Crises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Crise financeira e pandemia: retorno do Estado.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 · Tópico 3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pêndulo no Brasil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80160"/>
            <a:ext cx="2456688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1930–1980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Estado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desenvolvimentista: Vargas, JK e regime militar criam estatais e bancos públicos.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343656" y="1280160"/>
            <a:ext cx="2456688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1990–2002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mercado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Privatizações, abertura comercial, agências reguladoras e Lei de Responsabilidade Fiscal.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001512" y="1280160"/>
            <a:ext cx="2456688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2003 EM DIANTE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Combinação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Programas sociais ampliados, bancos públicos ativos em crises e concessões e PPPs.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337560"/>
            <a:ext cx="7772400" cy="731520"/>
          </a:xfrm>
          <a:prstGeom prst="roundRect">
            <a:avLst>
              <a:gd name="adj" fmla="val 10000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Esse percurso é aprofundado na disciplina Desenvolvimento e Mudanças no Estado Brasileiro.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 · Tópico 3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· TÓPICO 4 DO SUMÁRIO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7452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matriz liberal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69748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contrato social à mão invisível: Locke, Montesquieu, Smith, Ricardo e Say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 · Tópico 4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origens do liberalismo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 o absolutismo e o mercantilismo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98448"/>
            <a:ext cx="3794760" cy="2926080"/>
          </a:xfrm>
          <a:prstGeom prst="roundRect">
            <a:avLst>
              <a:gd name="adj" fmla="val 1875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MERCANTILISMO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1000"/>
              </a:spcAft>
              <a:buNone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controla o comércio, concede monopólios e busca acumular metais preciosos.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ABSOLUTISMO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poder do monarca não tem limites legais.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663440" y="1298448"/>
            <a:ext cx="3794760" cy="2926080"/>
          </a:xfrm>
          <a:prstGeom prst="roundRect">
            <a:avLst>
              <a:gd name="adj" fmla="val 1875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RESPOSTA LIBERAL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1000"/>
              </a:spcAft>
              <a:buNone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Liberdade individual, propriedade, governo limitado pela lei e livre iniciativa econômica.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Revoluções Inglesa (1688), Americana (1776) e Francesa (1789) põem essas ideias em prática.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 · Tópico 4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contratualistas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os indivíduos criam o Estado?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34440"/>
            <a:ext cx="2456688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LEVIATÃ, 1651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Thomas Hobbes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estado de natureza há “guerra de todos contra todos”. Para ter segurança, os indivíduos entregam o poder a um soberano forte.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3343656" y="1234440"/>
            <a:ext cx="2456688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DOIS TRATADOS, 1689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 Locke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indivíduos têm direitos naturais: vida, liberdade e propriedade. O governo existe para protegê-los e tem poder limitado.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001512" y="1234440"/>
            <a:ext cx="2456688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CONTRATO SOCIAL, 1762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J.-J. Rousseau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soberania pertence ao povo e se expressa na vontade geral.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611880"/>
            <a:ext cx="7772400" cy="658368"/>
          </a:xfrm>
          <a:prstGeom prst="roundRect">
            <a:avLst>
              <a:gd name="adj" fmla="val 11111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Locke é o fundador do liberalismo político: governo limitado e direito de resistência contra a tirania.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 · Tópico 4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liberalismo político: John Locke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1632–1704 · Dois Tratados sobre o Governo (1689)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188720"/>
            <a:ext cx="37490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Us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4475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261872"/>
            <a:ext cx="2971800" cy="7498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Direitos naturais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Vida, liberdade e propriedade existem antes do Estado.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4709160" y="1188720"/>
            <a:ext cx="37490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4632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FileContrac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144475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94960" y="1261872"/>
            <a:ext cx="2971800" cy="7498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social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nasce de um acordo para proteger esses direitos.</a:t>
            </a:r>
            <a:endParaRPr lang="en-US" sz="1450" dirty="0"/>
          </a:p>
        </p:txBody>
      </p:sp>
      <p:sp>
        <p:nvSpPr>
          <p:cNvPr id="12" name="Shape 8"/>
          <p:cNvSpPr/>
          <p:nvPr/>
        </p:nvSpPr>
        <p:spPr>
          <a:xfrm>
            <a:off x="685800" y="2212848"/>
            <a:ext cx="37490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22960" y="23682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BalanceSca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" y="2468880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371600" y="2286000"/>
            <a:ext cx="2971800" cy="7498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Poder limitado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governo age dentro da lei e depende do consentimento.</a:t>
            </a:r>
            <a:endParaRPr lang="en-US" sz="1450" dirty="0"/>
          </a:p>
        </p:txBody>
      </p:sp>
      <p:sp>
        <p:nvSpPr>
          <p:cNvPr id="16" name="Shape 11"/>
          <p:cNvSpPr/>
          <p:nvPr/>
        </p:nvSpPr>
        <p:spPr>
          <a:xfrm>
            <a:off x="4709160" y="2212848"/>
            <a:ext cx="37490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846320" y="23682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8" name="Image 3" descr="/tmp/claude-0/-home-user-zero-claude/d7e33190-c541-582c-a7cc-1156817732ce/scratchpad/deck/assets/icon_FaHandPape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904" y="2468880"/>
            <a:ext cx="256032" cy="256032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394960" y="2286000"/>
            <a:ext cx="2971800" cy="7498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Direito de resistência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o governo viola os direitos, a sociedade pode resistir.</a:t>
            </a:r>
            <a:endParaRPr lang="en-US" sz="1450" dirty="0"/>
          </a:p>
        </p:txBody>
      </p:sp>
      <p:sp>
        <p:nvSpPr>
          <p:cNvPr id="20" name="Shape 14"/>
          <p:cNvSpPr/>
          <p:nvPr/>
        </p:nvSpPr>
        <p:spPr>
          <a:xfrm>
            <a:off x="685800" y="3218688"/>
            <a:ext cx="7772400" cy="1188720"/>
          </a:xfrm>
          <a:prstGeom prst="roundRect">
            <a:avLst>
              <a:gd name="adj" fmla="val 6154"/>
            </a:avLst>
          </a:prstGeom>
          <a:solidFill>
            <a:srgbClr val="FBF4DC"/>
          </a:solidFill>
          <a:ln/>
        </p:spPr>
      </p:sp>
      <p:sp>
        <p:nvSpPr>
          <p:cNvPr id="21" name="Shape 15"/>
          <p:cNvSpPr/>
          <p:nvPr/>
        </p:nvSpPr>
        <p:spPr>
          <a:xfrm>
            <a:off x="850392" y="33832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9C85C"/>
          </a:solidFill>
          <a:ln/>
        </p:spPr>
      </p:sp>
      <p:pic>
        <p:nvPicPr>
          <p:cNvPr id="22" name="Image 4" descr="/tmp/claude-0/-home-user-zero-claude/d7e33190-c541-582c-a7cc-1156817732ce/scratchpad/deck/assets/icon_FaLightbulb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0976" y="3483864"/>
            <a:ext cx="256032" cy="25603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417320" y="3328416"/>
            <a:ext cx="6903720" cy="9692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A8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NA GESTÃO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Constituição de 1988, art. 5º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Garante a inviolabilidade do direito à vida, à liberdade, à igualdade, à segurança e à propriedade: herança do liberalismo político.</a:t>
            </a:r>
            <a:endParaRPr lang="en-US" sz="1100" dirty="0"/>
          </a:p>
        </p:txBody>
      </p:sp>
      <p:sp>
        <p:nvSpPr>
          <p:cNvPr id="24" name="Text 17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 · Tópico 4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Montesquieu: a separação dos poderes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Espírito das Leis (1748)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188720"/>
            <a:ext cx="7498080" cy="822960"/>
          </a:xfrm>
          <a:prstGeom prst="roundRect">
            <a:avLst>
              <a:gd name="adj" fmla="val 8889"/>
            </a:avLst>
          </a:prstGeom>
          <a:solidFill>
            <a:srgbClr val="FBF4DC"/>
          </a:solidFill>
          <a:ln/>
        </p:spPr>
        <p:txBody>
          <a:bodyPr wrap="square" lIns="152400" tIns="152400" rIns="152400" bIns="152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i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 </a:t>
            </a:r>
            <a:pPr algn="l" indent="0" marL="0">
              <a:lnSpc>
                <a:spcPct val="100000"/>
              </a:lnSpc>
              <a:buNone/>
            </a:pPr>
            <a:r>
              <a:rPr lang="en-US" sz="1700" i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que não se possa abusar do poder, é preciso que, pela disposição das coisas, o poder freie o poder.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85800" y="2103120"/>
            <a:ext cx="245668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2585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7" name="Image 0" descr="/tmp/claude-0/-home-user-zero-claude/d7e33190-c541-582c-a7cc-1156817732ce/scratchpad/deck/assets/icon_FaUserTi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2359152"/>
            <a:ext cx="256032" cy="25603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371600" y="2176272"/>
            <a:ext cx="1679448" cy="7680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 e administra.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3343656" y="2103120"/>
            <a:ext cx="245668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480816" y="22585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1" name="Image 1" descr="/tmp/claude-0/-home-user-zero-claude/d7e33190-c541-582c-a7cc-1156817732ce/scratchpad/deck/assets/icon_FaUser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2359152"/>
            <a:ext cx="256032" cy="25603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029456" y="2176272"/>
            <a:ext cx="1679448" cy="7680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Legislativo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Faz as leis e fiscaliza.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6001512" y="2103120"/>
            <a:ext cx="245668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138672" y="22585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5" name="Image 2" descr="/tmp/claude-0/-home-user-zero-claude/d7e33190-c541-582c-a7cc-1156817732ce/scratchpad/deck/assets/icon_FaGave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9256" y="2359152"/>
            <a:ext cx="256032" cy="25603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687312" y="2176272"/>
            <a:ext cx="1679448" cy="7680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Judiciário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Julga conforme as leis.</a:t>
            </a:r>
            <a:endParaRPr lang="en-US" sz="1600" dirty="0"/>
          </a:p>
        </p:txBody>
      </p:sp>
      <p:sp>
        <p:nvSpPr>
          <p:cNvPr id="17" name="Shape 12"/>
          <p:cNvSpPr/>
          <p:nvPr/>
        </p:nvSpPr>
        <p:spPr>
          <a:xfrm>
            <a:off x="685800" y="3154680"/>
            <a:ext cx="7772400" cy="1261872"/>
          </a:xfrm>
          <a:prstGeom prst="roundRect">
            <a:avLst>
              <a:gd name="adj" fmla="val 5797"/>
            </a:avLst>
          </a:prstGeom>
          <a:solidFill>
            <a:srgbClr val="FBF4DC"/>
          </a:solidFill>
          <a:ln/>
        </p:spPr>
      </p:sp>
      <p:sp>
        <p:nvSpPr>
          <p:cNvPr id="18" name="Shape 13"/>
          <p:cNvSpPr/>
          <p:nvPr/>
        </p:nvSpPr>
        <p:spPr>
          <a:xfrm>
            <a:off x="850392" y="331927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9C85C"/>
          </a:solidFill>
          <a:ln/>
        </p:spPr>
      </p:sp>
      <p:pic>
        <p:nvPicPr>
          <p:cNvPr id="19" name="Image 3" descr="/tmp/claude-0/-home-user-zero-claude/d7e33190-c541-582c-a7cc-1156817732ce/scratchpad/deck/assets/icon_FaLightbulb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976" y="3419856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417320" y="3264408"/>
            <a:ext cx="6903720" cy="1042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A8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NA GESTÃO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Constituição de 1988, art. 2º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“São Poderes da União, independentes e harmônicos entre si, o Legislativo, o Executivo e o Judiciário.”</a:t>
            </a:r>
            <a:endParaRPr lang="en-US" sz="1100" dirty="0"/>
          </a:p>
        </p:txBody>
      </p:sp>
      <p:sp>
        <p:nvSpPr>
          <p:cNvPr id="21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 · Tópico 4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 Smith: A Riqueza das Nações (1776)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85800" y="1188720"/>
            <a:ext cx="3749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5" name="Image 0" descr="/tmp/claude-0/-home-user-zero-claude/d7e33190-c541-582c-a7cc-1156817732ce/scratchpad/deck/assets/icon_FaHamm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447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261872"/>
            <a:ext cx="2971800" cy="12252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riqueza vem do trabalho e da sua produtividade, não do ouro.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4709160" y="1188720"/>
            <a:ext cx="3749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84632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9" name="Image 1" descr="/tmp/claude-0/-home-user-zero-claude/d7e33190-c541-582c-a7cc-1156817732ce/scratchpad/deck/assets/icon_FaCog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144475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394960" y="1261872"/>
            <a:ext cx="2971800" cy="12252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Divisão do trabalho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fábrica de alfinetes, dividir tarefas multiplica a produção de cada trabalhador.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685800" y="2743200"/>
            <a:ext cx="3749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822960" y="28986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3" name="Image 2" descr="/tmp/claude-0/-home-user-zero-claude/d7e33190-c541-582c-a7cc-1156817732ce/scratchpad/deck/assets/icon_FaHandPap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" y="2999232"/>
            <a:ext cx="256032" cy="2560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371600" y="2816352"/>
            <a:ext cx="2971800" cy="12252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Mão invisível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interesse próprio, coordenado pelos preços e pela concorrência, promove o bem comum.</a:t>
            </a:r>
            <a:endParaRPr lang="en-US" sz="1600" dirty="0"/>
          </a:p>
        </p:txBody>
      </p:sp>
      <p:sp>
        <p:nvSpPr>
          <p:cNvPr id="15" name="Shape 10"/>
          <p:cNvSpPr/>
          <p:nvPr/>
        </p:nvSpPr>
        <p:spPr>
          <a:xfrm>
            <a:off x="4709160" y="2743200"/>
            <a:ext cx="3749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4846320" y="28986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7" name="Image 3" descr="/tmp/claude-0/-home-user-zero-claude/d7e33190-c541-582c-a7cc-1156817732ce/scratchpad/deck/assets/icon_FaBoo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904" y="2999232"/>
            <a:ext cx="256032" cy="25603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394960" y="2816352"/>
            <a:ext cx="2971800" cy="12252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Interesse próprio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Nosso jantar não vem da benevolência do açougueiro, e sim do interesse dele no próprio ganho.</a:t>
            </a:r>
            <a:endParaRPr lang="en-US" sz="1600" dirty="0"/>
          </a:p>
        </p:txBody>
      </p:sp>
      <p:sp>
        <p:nvSpPr>
          <p:cNvPr id="19" name="Text 1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 · Tópico 4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fábrica de alfinetes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exemplo de Smith sobre a divisão do trabalho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5349240" cy="2953512"/>
          </a:xfrm>
          <a:prstGeom prst="roundRect">
            <a:avLst>
              <a:gd name="adj" fmla="val 185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26187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Alfinetes produzidos por trabalhador em um dia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58368" y="1591056"/>
          <a:ext cx="5138928" cy="24963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035040" y="1207008"/>
            <a:ext cx="2560320" cy="2953512"/>
          </a:xfrm>
          <a:prstGeom prst="roundRect">
            <a:avLst>
              <a:gd name="adj" fmla="val 2143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 O GRÁFICO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Dez operários, cada um numa etapa, faziam cerca de 48 mil alfinetes por dia.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Sozinho, cada um faria, no máximo, 20.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Smith, a riqueza nasce da produtividade do trabalho.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SMITH, Adam. A Riqueza das Nações (1776), Livro I, cap. 1.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 · Tópico 4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mínimo segundo Smith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três deveres do soberano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325880"/>
            <a:ext cx="2456688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ShieldA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58191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399032"/>
            <a:ext cx="1679448" cy="15453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DEVER 1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Defesa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Proteger a sociedade contra agressões externas.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343656" y="1325880"/>
            <a:ext cx="2456688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480816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Gave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158191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029456" y="1399032"/>
            <a:ext cx="1679448" cy="15453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DEVER 2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Justiça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Proteger cada cidadão contra a injustiça de outros.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001512" y="1325880"/>
            <a:ext cx="2456688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138672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Buildin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9256" y="158191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687312" y="1399032"/>
            <a:ext cx="1679448" cy="15453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DEVER 3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Obras públicas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Manter obras e instituições que não dão lucro ao particular.</a:t>
            </a:r>
            <a:endParaRPr lang="en-US" sz="1100" dirty="0"/>
          </a:p>
        </p:txBody>
      </p:sp>
      <p:sp>
        <p:nvSpPr>
          <p:cNvPr id="16" name="Text 11"/>
          <p:cNvSpPr txBox="1"/>
          <p:nvPr/>
        </p:nvSpPr>
        <p:spPr>
          <a:xfrm>
            <a:off x="685800" y="3291840"/>
            <a:ext cx="7772400" cy="685800"/>
          </a:xfrm>
          <a:prstGeom prst="roundRect">
            <a:avLst>
              <a:gd name="adj" fmla="val 10667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Laissez-faire, laissez-passer: o Estado “guarda-noturno”.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 · Tópico 4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terceiro dever de Smith hoje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85800" y="1143000"/>
            <a:ext cx="7772400" cy="1325880"/>
          </a:xfrm>
          <a:prstGeom prst="roundRect">
            <a:avLst>
              <a:gd name="adj" fmla="val 5517"/>
            </a:avLst>
          </a:prstGeom>
          <a:solidFill>
            <a:srgbClr val="FBF4DC"/>
          </a:solidFill>
          <a:ln/>
        </p:spPr>
      </p:sp>
      <p:sp>
        <p:nvSpPr>
          <p:cNvPr id="4" name="Shape 2"/>
          <p:cNvSpPr/>
          <p:nvPr/>
        </p:nvSpPr>
        <p:spPr>
          <a:xfrm>
            <a:off x="850392" y="130759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9C85C"/>
          </a:solidFill>
          <a:ln/>
        </p:spPr>
      </p:sp>
      <p:pic>
        <p:nvPicPr>
          <p:cNvPr id="5" name="Image 0" descr="/tmp/claude-0/-home-user-zero-claude/d7e33190-c541-582c-a7cc-1156817732ce/scratchpad/deck/assets/icon_FaLightbul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1408176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252728"/>
            <a:ext cx="6903720" cy="110642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A8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NA GESTÃO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Rodovias, saneamento, hospitais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Obras de grande porte continuam dependendo do Estado, que pode executá-las diretamente ou contratá-las com a iniciativa privada.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651760"/>
            <a:ext cx="2456688" cy="15087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OBRA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Execução direta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governo licita e paga a obra com recursos do orçamento.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3343656" y="2651760"/>
            <a:ext cx="2456688" cy="15087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 8.987/1995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Concessão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empresa constrói ou opera e é remunerada por tarifas (ex.: pedágio).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6001512" y="2651760"/>
            <a:ext cx="2456688" cy="15087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 11.079/2004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PPP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Parceria público-privada: tarifa e/ou pagamento do poder público.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 · Tópico 4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Ricardo e Say: a economia política clássica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188720"/>
            <a:ext cx="3794760" cy="301752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 RICARDO (1817)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500"/>
              </a:spcAft>
              <a:buNone/>
            </a:pPr>
            <a:r>
              <a:rPr lang="en-US" sz="17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Vantagens comparativas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Portugal produz vinho e a Inglaterra, tecidos, com menor custo relativo. Especializando-se e trocando, os dois países ganham.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defesa do livre comércio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663440" y="1188720"/>
            <a:ext cx="3794760" cy="3017520"/>
          </a:xfrm>
          <a:prstGeom prst="roundRect">
            <a:avLst>
              <a:gd name="adj" fmla="val 1818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JEAN-BAPTISTE SAY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500"/>
              </a:spcAft>
              <a:buNone/>
            </a:pPr>
            <a:r>
              <a:rPr lang="en-US" sz="17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 de Say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 oferta cria sua própria procura”: toda produção gera renda suficiente para comprá-la.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não haveria crise geral de demanda (ideia criticada por Keynes em 1936)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 · Tópico 4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limites do Estado mínimo no século XIX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685800" y="1234440"/>
            <a:ext cx="2456688" cy="164592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5" name="Image 0" descr="/tmp/claude-0/-home-user-zero-claude/d7e33190-c541-582c-a7cc-1156817732ce/scratchpad/deck/assets/icon_FaIndustr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9047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307592"/>
            <a:ext cx="1679448" cy="14996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Jornadas longas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 de 14 a 16 horas, inclusive de crianças.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343656" y="1234440"/>
            <a:ext cx="2456688" cy="164592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480816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9" name="Image 1" descr="/tmp/claude-0/-home-user-zero-claude/d7e33190-c541-582c-a7cc-1156817732ce/scratchpad/deck/assets/icon_FaCit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149047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029456" y="1307592"/>
            <a:ext cx="1679448" cy="14996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Pobreza urbana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Cidades industriais sem saneamento nem moradia digna.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6001512" y="1234440"/>
            <a:ext cx="2456688" cy="164592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138672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3" name="Image 2" descr="/tmp/claude-0/-home-user-zero-claude/d7e33190-c541-582c-a7cc-1156817732ce/scratchpad/deck/assets/icon_FaChartLin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9256" y="1490472"/>
            <a:ext cx="256032" cy="2560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687312" y="1307592"/>
            <a:ext cx="1679448" cy="14996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Crises periódicas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Ciclos de superprodução e desemprego.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685800" y="3108960"/>
            <a:ext cx="7772400" cy="822960"/>
          </a:xfrm>
          <a:prstGeom prst="roundRect">
            <a:avLst>
              <a:gd name="adj" fmla="val 8889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Essas condições alimentam a crítica marxista e as reformas sociais do final do século XIX: tema da Unidade 3.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 · Tópico 4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da Unidade 2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e prazos da unidade (todas as entregas até 23h55)</a:t>
            </a:r>
            <a:endParaRPr lang="en-US" sz="14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325880"/>
          <a:ext cx="749808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5806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Atividade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19/10 (seg)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Videoaula 2 e leitura da unidade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25/10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Exercícios de fixação 1 (não avaliativos)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25/10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Avaliação A1: questionário no SIGAA (Unidades 1 e 2), 23h55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22960" y="3840480"/>
            <a:ext cx="7498080" cy="548640"/>
          </a:xfrm>
          <a:prstGeom prst="roundRect">
            <a:avLst>
              <a:gd name="adj" fmla="val 13333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unidade: a matriz marxista e as mudanças do final do século XIX.</a:t>
            </a:r>
            <a:endParaRPr lang="en-US" sz="135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69080" y="1097280"/>
            <a:ext cx="1005840" cy="1005840"/>
          </a:xfrm>
          <a:prstGeom prst="roundRect">
            <a:avLst>
              <a:gd name="adj" fmla="val 18182"/>
            </a:avLst>
          </a:prstGeom>
          <a:solidFill>
            <a:srgbClr val="2A8C85"/>
          </a:solidFill>
          <a:ln/>
        </p:spPr>
      </p:sp>
      <p:pic>
        <p:nvPicPr>
          <p:cNvPr id="3" name="Image 0" descr="/tmp/claude-0/-home-user-zero-claude/d7e33190-c541-582c-a7cc-1156817732ce/scratchpad/deck/assets/icon_FaQues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325880"/>
            <a:ext cx="548640" cy="548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2402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1188720" y="292608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perguntas para revisar a unidade. Pause o vídeo, escolha sua resposta e confira no slide seguinte.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1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Hobbes, como é a vida no estado de natureza, antes do Estado?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Harmoniosa e cooperativa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guerra de todos contra todos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Organizada pelo mercado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Governada pela vontade geral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1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Hobbes, como é a vida no estado de natureza, antes do Estado?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Harmoniosa e cooperativa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guerra de todos contra todos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Organizada pelo mercado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Governada pela vontade geral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b)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um poder comum, cada um ameaça o outro. Para obter segurança, os indivíduos transferem o poder a um soberano (o Leviatã).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2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direitos naturais à vida, à liberdade e à propriedade são a base do pensamento de: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 Locke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Thomas Hobbes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Karl Marx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 Maynard Keynes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2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direitos naturais à vida, à liberdade e à propriedade são a base do pensamento de: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 Locke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Thomas Hobbes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Karl Marx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 Maynard Keynes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a)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Locke funda o liberalismo político: o governo existe para proteger esses direitos e tem poder limitado.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3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ideia de que “o poder deve frear o poder”, base da separação dos poderes, é de: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Rousseau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 Smith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Montesquieu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Jean-Baptiste Say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3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ideia de que “o poder deve frear o poder”, base da separação dos poderes, é de: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Rousseau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 Smith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Montesquieu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Jean-Baptiste Say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c)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Montesquieu, em O Espírito das Leis (1748). A Constituição de 1988 adota a separação no art. 2º.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4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Pela teoria das vantagens comparativas de Ricardo, os países ganham ao: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Produzir tudo internamente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Especializar-se no que produzem com menor custo relativo e trocar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Proibir importações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Acumular ouro e prata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4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Pela teoria das vantagens comparativas de Ricardo, os países ganham ao: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Produzir tudo internamente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Especializar-se no que produzem com menor custo relativo e trocar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Proibir importações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Acumular ouro e prata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b)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especialização e o livre comércio aumentam a produção total e beneficiam os países que trocam.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5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o pêndulo entre Estado e mercado se move?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extremo gera problemas que levam a correções no sentido oposto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sempre cresce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mercado sempre vence no longo prazo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 apenas do resultado das eleições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5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o pêndulo entre Estado e mercado se move?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extremo gera problemas que levam a correções no sentido oposto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sempre cresce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mercado sempre vence no longo prazo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 apenas do resultado das eleições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a)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Falhas de mercado (crises, desigualdade) pedem mais Estado; falhas de governo (crise fiscal, ineficiência) pedem mais mercado.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UNEMAT / DEAD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Estado, Governo e Mercado – Unidade 2: A dinâmica pendular e a matriz liberal</dc:title>
  <dc:subject>PptxGenJS Presentation</dc:subject>
  <dc:creator>Prof. Dr. Cleiton Franco</dc:creator>
  <cp:lastModifiedBy>Prof. Dr. Cleiton Franco</cp:lastModifiedBy>
  <cp:revision>1</cp:revision>
  <dcterms:created xsi:type="dcterms:W3CDTF">2026-09-26T21:19:17Z</dcterms:created>
  <dcterms:modified xsi:type="dcterms:W3CDTF">2026-09-26T21:19:17Z</dcterms:modified>
</cp:coreProperties>
</file>