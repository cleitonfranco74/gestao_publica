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Alfinetes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Com divisão do trabalho</c:v>
                  </c:pt>
                  <c:pt idx="1">
                    <c:v>Trabalhando sozinho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4800</c:v>
                </c:pt>
                <c:pt idx="1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0"/>
          <c:min val="0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Esta é a Unidade 2 de Estado, Governo e Mercado: a dinâmica pendular e a matriz liberal. Na unidade anterior, vimos por que o Estado atua na economia. Agora, vamos ver como essa atuação muda ao longo da história e conhecer os pensadores que fundaram o liberalismo.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19 a 25 de outubro. A leitura é o livro de Coelho, nas partes sobre a dinâmica pendular e a matriz liberal, junto com os tópicos 3 e 4 do sumário da página de conteúdos. Atenção ao prazo mais importante da semana: a Avaliação A1, no SIGAA, vai até 25 de outubro, às 23h55, e cobre as Unidades 1 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3 do sumário: a dinâmica pendular entre Estado e mercado. A ideia é simples e muito útil para entender a história: ora a sociedade pede mais mercado, ora pede mais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Coelho usa a imagem de um pêndulo. De um lado, mais mercado; do outro, mais Estado. Quando o pêndulo vai longe demais para um lado, os problemas desse extremo impulsionam o movimento de volta. Por isso, o debate atual não é “Estado ou mercado”, como se fosse preciso escolher um só. A pergunta madura é: que Estado e que mercado queremos?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o pêndulo se move? Quando o mercado avança demais, surgem crises e desemprego, como em 1929, aumento da desigualdade e da pobreza, e abusos de monopólios; então a sociedade pede mais Estado. Quando o Estado avança demais, aparecem crise fiscal e inflação, como nos anos 1970 e 1980, ineficiência e burocracia, e a captura do Estado por interesses particulares; então a sociedade pede mais mercado. Em resumo: falhas de mercado e falhas de governo alimentam, alternadamente, o movimento do pêndulo.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 a linha do tempo. Nos séculos XVIII e XIX, o liberalismo e o Estado mínimo substituem o mercantilismo. Entre 1929 e 1945, a Grande Depressão e a guerra desacreditam o laissez-faire, e surgem o keynesianismo e o New Deal. De 1945 a 1973, os chamados anos dourados, é o auge do Estado de bem-estar. Entre 1973 e 1979, os choques do petróleo trazem estagflação e crise fiscal. De 1979 a 2000, a onda neoliberal traz privatizações e desregulamentação. E nas crises de 2008 e da pandemia de 2020, o Estado volta ao centro, com resgates e programas emergenciais. Cada virada responde aos problemas da fase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Brasil também viveu esse pêndulo. De 1930 a 1980, predominou o Estado desenvolvimentista: Vargas, Juscelino e o regime militar criaram estatais e bancos públicos. De 1990 a 2002, o movimento foi em direção ao mercado, com privatizações, abertura comercial, agências reguladoras e a Lei de Responsabilidade Fiscal. De 2003 em diante, houve uma combinação: programas sociais ampliados, bancos públicos atuando nas crises e, ao mesmo tempo, concessões e parcerias público-privadas. Esse percurso será aprofundado na disciplina Desenvolvimento e Mudanças no Estado Brasileiro.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4 do sumário: a matriz liberal. Vamos do contrato social à mão invisível, conhecendo os autores que moldaram a ideia de um Estado limitado.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liberalismo nasce contra duas coisas. Contra o mercantilismo, em que o Estado controlava o comércio, concedia monopólios e buscava acumular metais preciosos. E contra o absolutismo, em que o poder do monarca não tinha limites legais. A resposta liberal defende a liberdade individual, a propriedade, um governo limitado pela lei e a livre iniciativa econômica. Três revoluções põem essas ideias em prática: a Inglesa, de 1688, a Americana, de 1776, e a Francesa, de 1789.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contratualistas perguntam: por que os indivíduos criam o Estado? Thomas Hobbes, no Leviatã, de 1651, diz que no estado de natureza há uma guerra de todos contra todos; para ter segurança, os indivíduos entregam o poder a um soberano forte. John Locke, nos Dois Tratados sobre o Governo, de 1689, afirma que as pessoas têm direitos naturais, vida, liberdade e propriedade, e que o governo existe para protegê-los, com poder limitado. E Rousseau, no Contrato Social, de 1762, defende que a soberania pertence ao povo e se expressa na vontade geral. Destaque para Locke: ele é o fundador do liberalismo político, com a ideia de governo limitado e do direito de resistir à tirania.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aprofundar John Locke, que viveu de 1632 a 1704. Para ele, os indivíduos têm direitos naturais, vida, liberdade e propriedade, que existem antes do Estado. O Estado nasce de um contrato social justamente para proteger esses direitos, e por isso o seu poder é limitado: o governo age dentro da lei e depende do consentimento dos governados. Se o governo viola esses direitos, a sociedade tem o direito de resistência. Essa herança está na nossa Constituição: o artigo 5º garante a inviolabilidade do direito à vida, à liberdade, à igualdade, à segurança e à propriedade.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Montesquieu, em O Espírito das Leis, de 1748, dá o passo seguinte: para que não se abuse do poder, é preciso que o poder freie o poder. Daí a separação em três: o Executivo governa e administra, o Legislativo faz as leis e fiscaliza, e o Judiciário julga conforme as leis. Essa ideia está viva na nossa Constituição. O artigo 2º diz: “São Poderes da União, independentes e harmônicos entre si, o Legislativo, o Executivo e o Judiciário.” No município, a Câmara fiscaliza o prefeito exatamente nessa 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Chegamos a Adam Smith e A Riqueza das Nações, de 1776, obra fundadora da economia política. Para Smith, a riqueza vem do trabalho e da sua produtividade, e não do acúmulo de ouro, como pensavam os mercantilistas. A divisão do trabalho multiplica essa produtividade. A famosa mão invisível diz que o interesse próprio, coordenado pelos preços e pela concorrência, acaba promovendo o bem comum. E o exemplo clássico: não é da benevolência do açougueiro que esperamos o nosso jantar, mas do interesse dele no próprio ganho.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exemplo mais famoso de Smith: a fábrica de alfinetes. [Apontar para as barras.] Smith descreve uma pequena fábrica em que dez operários, cada um responsável por uma etapa, produziam cerca de 48 mil alfinetes por dia: 4.800 por trabalhador. Trabalhando sozinho, fazendo todas as etapas, cada um faria no máximo 20, talvez nem um. A diferença é enorme, e é daí que Smith conclui que a riqueza das nações nasce da produtividade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 é o papel do Estado para Smith? Ele o resume em três deveres do soberano. Primeiro, a defesa: proteger a sociedade contra agressões externas. Segundo, a justiça: proteger cada cidadão contra a injustiça de outros. Terceiro, as obras públicas: manter obras e instituições úteis à sociedade, mas que não dão lucro ao particular. Fora disso, vale o laissez-faire, laissez-passer. É o chamado Estado “guarda-noturno”.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dever de Smith continua atual. Rodovias, saneamento e hospitais dependem do Estado, que pode agir de três formas. Pela execução direta: o governo licita e paga a obra com recursos do orçamento. Pela concessão, regulada pela Lei 8.987, de 1995: a empresa constrói ou opera o serviço e é remunerada por tarifas, como o pedágio. E pela parceria público-privada, a PPP, da Lei 11.079, de 2004, em que a remuneração combina tarifa e pagamento do poder público. Escolher entre elas é uma decisão típica do gestor público.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outros clássicos completam a matriz liberal. David Ricardo, em 1817, formula a teoria das vantagens comparativas: se Portugal produz vinho e a Inglaterra produz tecidos com menor custo relativo, especializar-se e trocar faz os dois países ganharem. Daí a defesa do livre comércio. Jean-Baptiste Say formula a lei de Say: a oferta cria a sua própria procura, porque toda produção gera a renda necessária para comprá-la. Se isso fosse verdade, não haveria crise geral por falta de demanda. Guarde essa ideia: ela será criticada por Keynes em 1936, como veremos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o Estado mínimo do século XIX teve limites claros. Jornadas de 14 a 16 horas, inclusive de crianças. Pobreza urbana, em cidades industriais sem saneamento nem moradia digna. E crises periódicas de superprodução e desemprego. Essas condições alimentam a crítica marxista e as reformas sociais do final do século XIX, tema da Unidade 3. É o pêndulo começando a se mover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Atividades da Unidade 2. A partir de 19 de outubro, assista a esta videoaula e faça a leitura. Até 25 de outubro, faça os Exercícios de fixação 1, que não valem nota, mas são um ótimo treino, e a Avaliação A1: um questionário no SIGAA sobre as Unidades 1 e 2, até as 23h55. Não deixe para o último minuto. E anote: na segunda-feira, 26 de outubro, das 19h às 20h30, teremos o nosso único encontro síncrono, pelo Google Meet, com presença obrigatória. Na próxima unidade, a matriz marxista e as mudanças do final do século XIX.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Hora do quiz da Unidade 2: cinco perguntas. Pause o vídeo a cada pergunta, responda e confira no slide seguinte. É um bom aquecimento para a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Para Hobbes, como é a vida no estado de natureza, antes do Estado? Letra a: Harmoniosa e cooperativa. Letra b: Uma guerra de todos contra todos. Letra c: Organizada pelo mercado. Letra d: Governada pela vontade geral.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Uma guerra de todos contra todos. Sem um poder comum, cada um ameaça o outro. Para obter segurança, os indivíduos transferem o poder a um soberano (o Leviatã).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Os direitos naturais à vida, à liberdade e à propriedade são a base do pensamento de: Letra a: John Locke. Letra b: Thomas Hobbes. Letra c: Karl Marx. Letra d: John Maynard Keynes.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John Locke. Locke funda o liberalismo político: o governo existe para proteger esses direitos e tem poder limitado.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A ideia de que “o poder deve frear o poder”, base da separação dos poderes, é de: Letra a: Rousseau. Letra b: Adam Smith. Letra c: Montesquieu. Letra d: Jean-Baptiste Say.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Montesquieu. Montesquieu, em O Espírito das Leis (1748). A Constituição de 1988 adota a separação no art. 2º.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Pela teoria das vantagens comparativas de Ricardo, os países ganham ao: Letra a: Produzir tudo internamente. Letra b: Especializar-se no que produzem com menor custo relativo e trocar. Letra c: Proibir importações. Letra d: Acumular ouro e prata.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Especializar-se no que produzem com menor custo relativo e trocar. A especialização e o livre comércio aumentam a produção total e beneficiam os países que trocam.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Por que o pêndulo entre Estado e mercado se move? Letra a: Cada extremo gera problemas que levam a correções no sentido oposto. Letra b: O Estado sempre cresce. Letra c: O mercado sempre vence no longo prazo. Letra d: Depende apenas do resultado das eleições.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Cada extremo gera problemas que levam a correções no sentido oposto. Falhas de mercado (crises, desigualdade) pedem mais Estado; falhas de governo (crise fiscal, ineficiência) pedem mais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2, vamos recapitular. [Apontar para o quadro da esquerda.] No tópico 3, vimos a dinâmica pendular: ora a sociedade pede mais mercado, ora mais Estado, porque cada extremo gera problemas que impulsionam o movimento de volta. Percorremos os marcos, do liberalismo do século XIX à crise de 1929, aos anos dourados, à estagflação, ao neoliberalismo e às crises de 2008 e 2020, e vimos como o pêndulo se moveu no Brasil. [Apontar para o quadro da direita.] No tópico 4, estudamos a matriz liberal, uma reação ao absolutismo e ao mercantilismo. Locke defendeu os direitos naturais e o governo limitado; Montesquieu, a separação dos poderes; Smith, a divisão do trabalho, a mão invisível e um Estado mínimo com três deveres; Ricardo, o livre comércio; e Say, a ideia de que a oferta cria a sua própria procura. Vimos também os limites desse Estado mínimo no século XIX. Na próxima unidade, a matriz marxista. Boa prova na A1, e nos vemos no encontro síncrono de segunda-feira, 26 de outubro, às 19h!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Slide-14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· A dinâmica pendular e a matriz liberal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a 25/10/2026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2 · Leitura: COELHO (2014), dinâmica pendular e matriz liberal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3 e 4 do sumário · A1 até 25/10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3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 entre Estado e mercado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mercado, mais Estado: um movimento histórico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entre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impulsionam o movimento de volta</a:t>
            </a:r>
            <a:endParaRPr lang="en-US" sz="1400" dirty="0"/>
          </a:p>
        </p:txBody>
      </p:sp>
      <p:pic>
        <p:nvPicPr>
          <p:cNvPr id="4" name="Image 0" descr="/tmp/claude-0/-home-user-zero-claude/d7e33190-c541-582c-a7cc-1156817732ce/scratchpad/deck/assets/pendu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7498080" cy="25328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3886200"/>
            <a:ext cx="7498080" cy="502920"/>
          </a:xfrm>
          <a:prstGeom prst="roundRect">
            <a:avLst>
              <a:gd name="adj" fmla="val 1454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debate atual não é “Estado ou mercado”, mas que Estado e que mercado.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se move?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MERCADO AVANÇA DEMAIS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 e desemprego (1929)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Desigualdade e pobreza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Monopólios e abusos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sociedade pede mais Estado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2377440"/>
          </a:xfrm>
          <a:prstGeom prst="roundRect">
            <a:avLst>
              <a:gd name="adj" fmla="val 230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ESTADO AVANÇA DEMAIS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fiscal e inflação (anos 1970–80)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 e burocracia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por interesses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 sociedade pede mais mercado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033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falhas de mercado e as falhas de governo alimentam, alternadamente, o movimento do pêndulo.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do tempo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SÉC. XVIII–XIX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substitui o mercantilismo.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1929–1945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Depressão e guerra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Laissez-faire desacreditado: surgem Keynes e o New Deal.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dourados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Auge do Estado de bem-estar.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1973–1979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Petróleo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 e crise fiscal.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343656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1979–2000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 e desregulamentação.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001512" y="2788920"/>
            <a:ext cx="245668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 / 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financeira e pandemia: retorno do Estado.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desenvolvimentista: Vargas, JK e regime militar criam estatais e bancos públicos.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mercado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Privatizações, abertura comercial, agências reguladoras e Lei de Responsabilidade Fiscal.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 EM DIANTE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Programas sociais ampliados, bancos públicos ativos em crises e concessões e PPPs.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33756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percurso é aprofundado na disciplina Desenvolvimento e Mudanças no Estado Brasileiro.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3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4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liberal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social à mão invisível: Locke, Montesquieu, Smith, Ricardo e Say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origens do liberalismo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o absolutismo e o mercantilismo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MERCANTILISMO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controla o comércio, concede monopólios e busca acumular metais preciosos.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poder do monarca não tem limites legais.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98448"/>
            <a:ext cx="3794760" cy="2926080"/>
          </a:xfrm>
          <a:prstGeom prst="roundRect">
            <a:avLst>
              <a:gd name="adj" fmla="val 187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Liberdade individual, propriedade, governo limitado pela lei e livre iniciativa econômica.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Revoluções Inglesa (1688), Americana (1776) e Francesa (1789) põem essas ideias em prática.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contratualistas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os indivíduos criam o Estado?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LEVIATÃ, 1651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estado de natureza há “guerra de todos contra todos”. Para ter segurança, os indivíduos entregam o poder a um soberano forte.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TRATADOS, 1689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indivíduos têm direitos naturais: vida, liberdade e propriedade. O governo existe para protegê-los e tem poder limitado.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3444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CONTRATO SOCIAL, 1762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J.-J. Rousseau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soberania pertence ao povo e se expressa na vontade geral.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é o fundador do liberalismo político: governo limitado e direito de resistência contra a tirania.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liberalismo político: John Locke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1632–1704 · Dois Tratados sobre o Governo (1689)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188720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261872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naturais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Vida, liberdade e propriedade existem antes do Estado.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709160" y="1188720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FileContra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261872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social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nasce de um acordo para proteger esses direitos.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685800" y="2212848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368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alanceSca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468880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286000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limitado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governo age dentro da lei e depende do consentimento.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4709160" y="2212848"/>
            <a:ext cx="374904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3682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HandPap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468880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286000"/>
            <a:ext cx="2971800" cy="7498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 de resistência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governo viola os direitos, a sociedade pode resistir.</a:t>
            </a:r>
            <a:endParaRPr lang="en-US" sz="1450" dirty="0"/>
          </a:p>
        </p:txBody>
      </p:sp>
      <p:sp>
        <p:nvSpPr>
          <p:cNvPr id="20" name="Shape 14"/>
          <p:cNvSpPr/>
          <p:nvPr/>
        </p:nvSpPr>
        <p:spPr>
          <a:xfrm>
            <a:off x="685800" y="3218688"/>
            <a:ext cx="7772400" cy="1188720"/>
          </a:xfrm>
          <a:prstGeom prst="roundRect">
            <a:avLst>
              <a:gd name="adj" fmla="val 6154"/>
            </a:avLst>
          </a:prstGeom>
          <a:solidFill>
            <a:srgbClr val="FBF4DC"/>
          </a:solidFill>
          <a:ln/>
        </p:spPr>
      </p:sp>
      <p:sp>
        <p:nvSpPr>
          <p:cNvPr id="21" name="Shape 15"/>
          <p:cNvSpPr/>
          <p:nvPr/>
        </p:nvSpPr>
        <p:spPr>
          <a:xfrm>
            <a:off x="850392" y="33832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22" name="Image 4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" y="3483864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17320" y="3328416"/>
            <a:ext cx="6903720" cy="9692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1988, art. 5º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Garante a inviolabilidade do direito à vida, à liberdade, à igualdade, à segurança e à propriedade: herança do liberalismo político.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Montesquieu: a separação dos poderes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Espírito das Leis (1748)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188720"/>
            <a:ext cx="7498080" cy="822960"/>
          </a:xfrm>
          <a:prstGeom prst="roundRect">
            <a:avLst>
              <a:gd name="adj" fmla="val 888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7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não se possa abusar do poder, é preciso que, pela disposição das coisas, o poder freie o poder.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35915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 e administra.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43656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80816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235915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29456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Legislativo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as leis e fiscaliza.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001512" y="2103120"/>
            <a:ext cx="245668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138672" y="22585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5" name="Image 2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2359152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87312" y="2176272"/>
            <a:ext cx="1679448" cy="7680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Judiciário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Julga conforme as leis.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685800" y="3154680"/>
            <a:ext cx="7772400" cy="1261872"/>
          </a:xfrm>
          <a:prstGeom prst="roundRect">
            <a:avLst>
              <a:gd name="adj" fmla="val 5797"/>
            </a:avLst>
          </a:prstGeom>
          <a:solidFill>
            <a:srgbClr val="FBF4DC"/>
          </a:solidFill>
          <a:ln/>
        </p:spPr>
      </p:sp>
      <p:sp>
        <p:nvSpPr>
          <p:cNvPr id="18" name="Shape 13"/>
          <p:cNvSpPr/>
          <p:nvPr/>
        </p:nvSpPr>
        <p:spPr>
          <a:xfrm>
            <a:off x="850392" y="33192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19" name="Image 3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341985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17320" y="3264408"/>
            <a:ext cx="6903720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1988, art. 2º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“São Poderes da União, independentes e harmônicos entre si, o Legislativo, o Executivo e o Judiciário.”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Smith: A Riqueza das Nações (1776)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amm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riqueza vem do trabalho e da sua produtividade, não do ouro.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o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do 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fábrica de alfinetes, dividir tarefas multiplica a produção de cada trabalhador.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Pap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invisível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interesse próprio, coordenado pelos preços e pela concorrência, promove o bem comum.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Interesse próprio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Nosso jantar não vem da benevolência do açougueiro, e sim do interesse dele no próprio ganho.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fábrica de alfinetes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exemplo de Smith sobre a divisão do trabalho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Alfinetes produzidos por trabalhador em um dia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operários, cada um numa etapa, faziam cerca de 48 mil alfinetes por dia.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Sozinho, cada um faria, no máximo, 20.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Smith, a riqueza nasce da produtividade do trabalho.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SMITH, Adam. A Riqueza das Nações (1776), Livro I, cap. 1.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mínimo segundo Smith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deveres do soberano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Shiel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81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a sociedade contra agressões externas.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Gav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81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Justiça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cada cidadão contra a injustiça de outros.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325880"/>
            <a:ext cx="2456688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819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99032"/>
            <a:ext cx="1679448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DEVER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Manter obras e instituições que não dão lucro ao particular.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29184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Laissez-faire, laissez-passer: o Estado “guarda-noturno”.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terceiro dever de Smith hoje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325880"/>
          </a:xfrm>
          <a:prstGeom prst="roundRect">
            <a:avLst>
              <a:gd name="adj" fmla="val 5517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11064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Rodovias, saneamento, hospitais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de grande porte continuam dependendo do Estado, que pode executá-las diretamente ou contratá-las com a iniciativa privada.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direta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governo licita e paga a obra com recursos do orçamento.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343656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8.987/1995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constrói ou opera e é remunerada por tarifas (ex.: pedágio).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001512" y="2651760"/>
            <a:ext cx="2456688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11.079/2004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PPP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Parceria público-privada: tarifa e/ou pagamento do poder público.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e Say: a economia política clássica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RICARDO (1817)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comparativas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Portugal produz vinho e a Inglaterra, tecidos, com menor custo relativo. Especializando-se e trocando, os dois países ganham.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defesa do livre comércio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188720"/>
            <a:ext cx="379476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de Say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oferta cria sua própria procura”: toda produção gera renda suficiente para comprá-la.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não haveria crise geral de demanda (ideia criticada por Keynes em 1936)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limites do Estado mínimo no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Jornadas longas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de 14 a 16 horas, inclusive de crianças.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it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Pobreza urbana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Cidades industriais sem saneamento nem moradia digna.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234440"/>
            <a:ext cx="2456688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307592"/>
            <a:ext cx="1679448" cy="1499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 periódicas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Ciclos de superprodução e desemprego.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85800" y="3108960"/>
            <a:ext cx="7772400" cy="822960"/>
          </a:xfrm>
          <a:prstGeom prst="roundRect">
            <a:avLst>
              <a:gd name="adj" fmla="val 888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Essas condições alimentam a crítica marxista e as reformas sociais do final do século XIX: tema da Unidade 3.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 · Tópico 4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2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1 (não avaliativos)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25/10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A1: questionário no SIGAA (Unidades 1 e 2),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Encontro síncrono único (Google Meet), 19h–20h30: presença obrigatória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matriz marxista e as mudanças do final do século XIX.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Hobbes, como é a vida no estado de natureza, antes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Harmoniosa e cooperativa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guerra de todos contra todos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pelo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Governada pela vontade geral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Hobbes, como é a vida no estado de natureza, antes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Harmoniosa e cooperativa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guerra de todos contra todos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Organizada pelo mercado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Governada pela vontade geral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um poder comum, cada um ameaça o outro. Para obter segurança, os indivíduos transferem o poder a um soberano (o Leviatã).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direitos naturais à vida, à liberdade e à propriedade são a base do pensamento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Maynard Keynes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direitos naturais à vida, à liberdade e à propriedade são a base do pensamento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Locke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Hobbes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Maynard Keynes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 funda o liberalismo político: o governo existe para proteger esses direitos e tem poder limitado.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“o poder deve frear o poder”, base da separação dos poderes, é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Rousseau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ideia de que “o poder deve frear o poder”, base da separação dos poderes, é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Rousseau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Smith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Jean-Baptiste Say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Montesquieu, em O Espírito das Leis (1748). A Constituição de 1988 adota a separação no art. 2º.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teoria das vantagens comparativas de Ricardo, os países ganham ao: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tudo internamente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Especializar-se no que produzem com menor custo relativo e trocar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Proibir importações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Acumular ouro e prata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 teoria das vantagens comparativas de Ricardo, os países ganham ao: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Produzir tudo internamente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Especializar-se no que produzem com menor custo relativo e trocar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Proibir importações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Acumular ouro e prata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especialização e o livre comércio aumentam a produção total e beneficiam os países que trocam.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entre Estado e mercado se move?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levam a correções no sentido oposto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sempre cresce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sempre vence no longo prazo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apenas do resultado das eleições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2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pêndulo entre Estado e mercado se move?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extremo gera problemas que levam a correções no sentido oposto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sempre cresce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sempre vence no longo prazo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apenas do resultado das eleições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Falhas de mercado (crises, desigualdade) pedem mais Estado; falhas de governo (crise fiscal, ineficiência) pedem mais mercado.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 mais mercado, ora mais Estado: cada extremo gera problemas que impulsionam a volta.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Marcos: liberalismo, 1929, anos dourados, estagflação, neoliberalismo, 2008 e 2020.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Brasil: desenvolvimentismo, reformas dos anos 1990 e combinação a partir de 2003.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atual: que Estado e que mercado?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liberal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Reação ao absolutismo e ao mercantilismo.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Locke: direitos naturais e governo limitado; Montesquieu: separação dos poderes.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Smith: trabalho, divisão do trabalho, mão invisível e os três deveres do Estado mínimo.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(livre comércio) e Say (a oferta cria a procura).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do Estado mínimo no século XIX.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a matriz marxista e as mudanças do final do século XIX.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2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2: A dinâmica pendular e a matriz liberal</dc:title>
  <dc:subject>PptxGenJS Presentation</dc:subject>
  <dc:creator>Prof. Dr. Cleiton Franco</dc:creator>
  <cp:lastModifiedBy>Prof. Dr. Cleiton Franco</cp:lastModifiedBy>
  <cp:revision>1</cp:revision>
  <dcterms:created xsi:type="dcterms:W3CDTF">2026-09-28T20:52:10Z</dcterms:created>
  <dcterms:modified xsi:type="dcterms:W3CDTF">2026-09-28T20:52:10Z</dcterms:modified>
</cp:coreProperties>
</file>