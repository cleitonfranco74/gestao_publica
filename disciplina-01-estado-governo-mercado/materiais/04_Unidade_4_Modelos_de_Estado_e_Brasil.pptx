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0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Renda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1ª</c:v>
                  </c:pt>
                  <c:pt idx="1">
                    <c:v>2ª</c:v>
                  </c:pt>
                  <c:pt idx="2">
                    <c:v>3ª</c:v>
                  </c:pt>
                  <c:pt idx="3">
                    <c:v>4ª</c:v>
                  </c:pt>
                  <c:pt idx="4">
                    <c:v>5ª</c:v>
                  </c:pt>
                  <c:pt idx="5">
                    <c:v>6ª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64</c:v>
                </c:pt>
                <c:pt idx="3">
                  <c:v>51</c:v>
                </c:pt>
                <c:pt idx="4">
                  <c:v>41</c:v>
                </c:pt>
                <c:pt idx="5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social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Alemanha (conservador)</c:v>
                  </c:pt>
                  <c:pt idx="1">
                    <c:v>Suécia (social-democrata)</c:v>
                  </c:pt>
                  <c:pt idx="2">
                    <c:v>Reino Unido (liberal)</c:v>
                  </c:pt>
                  <c:pt idx="3">
                    <c:v>Estados Unidos (liberal)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25.9</c:v>
                </c:pt>
                <c:pt idx="1">
                  <c:v>25.5</c:v>
                </c:pt>
                <c:pt idx="2">
                  <c:v>20.6</c:v>
                </c:pt>
                <c:pt idx="3">
                  <c:v>18.7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tributária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1947</c:v>
                  </c:pt>
                  <c:pt idx="1">
                    <c:v>1960</c:v>
                  </c:pt>
                  <c:pt idx="2">
                    <c:v>1970</c:v>
                  </c:pt>
                  <c:pt idx="3">
                    <c:v>1980</c:v>
                  </c:pt>
                  <c:pt idx="4">
                    <c:v>1990</c:v>
                  </c:pt>
                  <c:pt idx="5">
                    <c:v>2000</c:v>
                  </c:pt>
                  <c:pt idx="6">
                    <c:v>2010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17</c:v>
                </c:pt>
                <c:pt idx="2">
                  <c:v>26</c:v>
                </c:pt>
                <c:pt idx="3">
                  <c:v>25</c:v>
                </c:pt>
                <c:pt idx="4">
                  <c:v>29</c:v>
                </c:pt>
                <c:pt idx="5">
                  <c:v>30</c:v>
                </c:pt>
                <c:pt idx="6">
                  <c:v>32</c:v>
                </c:pt>
                <c:pt idx="7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2004</c:v>
                  </c:pt>
                  <c:pt idx="1">
                    <c:v>2006</c:v>
                  </c:pt>
                  <c:pt idx="2">
                    <c:v>2010</c:v>
                  </c:pt>
                  <c:pt idx="3">
                    <c:v>2014</c:v>
                  </c:pt>
                  <c:pt idx="4">
                    <c:v>2019</c:v>
                  </c:pt>
                  <c:pt idx="5">
                    <c:v>2023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</c:v>
                </c:pt>
                <c:pt idx="1">
                  <c:v>11</c:v>
                </c:pt>
                <c:pt idx="2">
                  <c:v>12.8</c:v>
                </c:pt>
                <c:pt idx="3">
                  <c:v>14</c:v>
                </c:pt>
                <c:pt idx="4">
                  <c:v>13.2</c:v>
                </c:pt>
                <c:pt idx="5">
                  <c:v>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4, a última da disciplina: os modelos de Estado e o Estado brasileiro. Aqui juntamos tudo o que vimos, as falhas de mercado, o pêndulo e as matrizes liberal e marxista, para entender os grandes modelos de Estado do século XX e a trajetória do Estado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 a 15 de novembro. A leitura é o livro de Coelho e o texto de Leite Júnior, de 2009, junto com os tópicos 7 e 8 do sumário da página de conteúdos. Dois prazos importantes: a A2, até 8 de novembro, e a A3, até 15 de novembro, sempre às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7 do sumário: os modelos de Estado no século XX. Vamos estudar quatro: o liberal, o socialista, o de bem-estar social e o neoliberal.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liberal, herdado do século XIX, tinha quatro marcas: Estado mínimo, orçamento equilibrado, padrão-ouro com livre comércio e pouca proteção social. Esse modelo entra em crise em 1929, com a Grande Depressão: a quebra da Bolsa de Nova York, falências em cadeia e desemprego em massa. A confiança na autorregulação do mercado é profundamente abalada, e o pêndulo começa a ir em direção ao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modelo alternativo é o Estado socialista, de 1917 a 1991. Suas características: a Revolução Russa de 1917, a propriedade estatal, o planejamento central, com os planos quinquenais a partir de 1928, e o partido único. Entre os resultados, uma industrialização acelerada da União Soviética. Mas também limites graves: ineficiência, escassez de bens de consumo e falta de liberdades. O modelo entra em colapso com a queda do Muro de Berlim, em 1989, e o fim da URSS, em 1991.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segundo modelo é o Estado de bem-estar social, cujo auge vai de 1945 a 1973, os anos dourados. Três referências o constroem. O New Deal, nos Estados Unidos, a partir de 1933, com obras públicas, regulação bancária e seguridade social. Keynes, com a Teoria Geral do Emprego, do Juro e da Moeda, de 1936, que explica o desemprego pela falta de demanda efetiva e defende que o Estado gaste e invista, mesmo com déficit. E o Relatório Beveridge, de 1942, no Reino Unido, com a proteção social universal “do berço ao túmulo”. O resultado, nos países centrais, foi crescimento, pleno emprego, direitos sociais universais, como saúde, educação e previdência, e um pacto entre capital 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melhor o raciocínio de Keynes. A demanda agregada é a soma do consumo, do investimento, do gasto do governo e das exportações líquidas. Numa recessão, o consumo e o investimento caem: as empresas vendem menos e demitem. O papel do governo é compensar essa queda com mais gasto, sustentando a produção e o emprego. E há o multiplicador: cada real gasto vira renda de alguém, que também gasta, e a renda total cresce mais que o gasto inicial. Um exemplo recente é o auxílio emergencial de 2020, que sustentou o consumo das famílias na pandemia. Repare que Keynes contesta diretamente a lei de Say, que vimos na Unidade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multiplicador em ação. [Apontar para as barras, da primeira à última.] O governo gasta 100 milhões de reais. Quem recebe esse dinheiro gasta 80% e poupa 20%: são 80 milhões de nova renda na segunda rodada. Quem recebe esses 80 gasta 64, depois 51, e assim por diante. Somando todas as rodadas, a renda cresce até 500 milhões, ou seja, 100 dividido por 1 menos 0,8. O multiplicador é 5. É um exemplo simplificado, mas mostra por que o gasto público pode ter um efeito maior do que o valor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 todo Estado de bem-estar é igual. Gøsta Esping-Andersen, em 1990, identificou três regimes. O liberal, como nos Estados Unidos e no Reino Unido, com benefícios focalizados nos mais pobres e um forte papel do mercado, como os planos privados. O conservador-corporativo, como na Alemanha e na França, com seguros sociais ligados ao emprego e às contribuições. E o social-democrata, como na Suécia e na Dinamarca, com direitos universais financiados por impostos. O Brasil combina traços dos três: a previdência é contributiva, como no corporativo; o SUS é universal, como no social-democrata; e programas como o Bolsa Família são focalizados, como no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compara o gasto social público de quatro países da OCDE, em proporção do PIB, em 2019. [Apontar para as barras.] Alemanha e Suécia gastam cerca de 25% a 26% do PIB; Reino Unido e Estados Unidos, os dois de regime liberal, gastam menos, entre 19% e 21%, e deixam mais espaço para o mercado. Mas atenção: o volume não diz tudo. Alemanha e Suécia gastam parecido, mas de formas diferentes: na Suécia, o acesso é universal; na Alemanha, está mais ligado às contribuições.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Estado de bem-estar entrou em crise nos anos 1970? Primeiro, os choques do petróleo, em 1973 e 1979, que fizeram custos e preços dispararem. Segundo, a estagflação: estagnação e inflação ao mesmo tempo, algo que o receituário keynesiano não conseguia resolver. Terceiro, a crise fiscal: os gastos cresciam mais do que a arrecadação, e a dívida aumentava. E quarto, a globalização: com o capital mais móvel, ficou mais difícil para cada país manter impostos e regulações elevados.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crise nasce o Estado neoliberal. As ideias vêm de Hayek, com O Caminho da Servidão, de 1944, e de Milton Friedman, com o monetarismo. Os governos que as aplicam são os de Margaret Thatcher, no Reino Unido, a partir de 1979, e de Ronald Reagan, nos Estados Unidos, a partir de 1981. Em 1989, o Consenso de Washington resume a agenda: disciplina fiscal, reforma tributária, privatizações, desregulamentação, abertura comercial e financeira e respeito à propriedade. A síntese é esta: o Estado passa de produtor a regulador.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conhecer melhor as ideias por trás do neoliberalismo. Friedrich Hayek, em O Caminho da Servidão, de 1944, argumenta que o planejamento estatal ameaça a liberdade; em 1947, ele fundou a Sociedade Mont Pèlerin, que reuniu os críticos do intervencionismo. Milton Friedman, com o monetarismo, defende que a inflação é um fenômeno monetário, e que o Estado deve se limitar a regras estáveis, como o controle da quantidade de moeda. Na prática, isso significou privatizações, desregulamentação, abertura comercial e financeira, flexibilização do trabalho e redução do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os quatro modelos. O liberal, do século XIX até 1929, com um Estado mínimo que garante segurança, justiça e contratos, inspirado em Locke e Smith. O socialista, de 1917 a 1991, com o Estado proprietário e planejador central, inspirado em Marx e Lênin. O de bem-estar, de 1945 a 1973, com o Estado indutor da demanda e provedor de direitos, inspirado em Keynes e Beveridge. E o neoliberal, de 1979 a 2008, com o Estado regulador e enxuto, inspirado em Hayek e Friedman. Sugiro copiar este quadro no caderno: é um excelente resumo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8 do sumário: Estado e capital no Brasil e no século XXI. Vamos ver como esses modelos aparecem na nossa história, do desenvolvimentismo às reformas, à proteção social e aos desafios atuais.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Brasil, de 1930 a 1980, predomina o Estado desenvolvimentista: Vargas, Juscelino e o regime militar criam estatais como a CSN, a Petrobras e a Eletrobras, o BNDE, em 1952, e o Plano de Metas. Em 1988, a Constituição Cidadã cria a seguridade social universal, com o SUS, a previdência e a assistência social. E entre 1990 e 2000 vêm as reformas do Estado: desestatização, o Plano Diretor de 1995, as agências reguladoras e a Lei de Responsabilidade Fiscal, em 2000.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forma de medir o tamanho do Estado é a carga tributária, ou seja, a arrecadação em proporção do PIB. [Apontar para as colunas.] Ela mais que dobrou entre 1947 e 1970, no auge do Estado desenvolvimentista. Depois de 1988, cresceu de novo, para financiar a seguridade social criada pela Constituição, e passou dos 30% do PIB. Um detalhe interessante: as reformas dos anos 1990 mudaram o papel do Estado, de produtor para regulador, mas não reduziram a arrecadação. Os valores são aproximados e servem para mostrar a tendência.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chegamos às reformas dos anos 1990? Nos anos 1980, a crise da dívida externa e a hiperinflação abriram esse caminho. E aqui aparece uma tensão importante. De um lado, a Constituição de 1988, com uma seguridade social universalista, o SUS, a previdência e a assistência, que aproxima o Brasil do modelo de bem-estar. De outro, as reformas dos anos 1990: a desestatização, o Plano Diretor de Bresser-Pereira, de 1995, com as agências reguladoras e o incentivo ao setor público não estatal, e a Lei de Responsabilidade Fiscal, de 2000. A gestão pública brasileira convive até hoje com a tensão entre esses dois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Diretor da Reforma do Aparelho do Estado, de 1995, identificou três modelos de administração pública. O patrimonialista, em que o público e o privado se confundem e os cargos são distribuídos como favor, típico do Brasil colonial, imperial e da República Velha. O burocrático, baseado no mérito, na impessoalidade, em normas e no controle de procedimentos, que chega com o DASP, em 1938, na Era Vargas. E o gerencial, com foco em resultados, eficiência e no cidadão, proposto pelo Plano Diretor e pela Emenda Constitucional 19, de 1998. Na prática, os três convivem até hoje. O desafio é superar o patrimonialismo sem perder os controles da burocracia.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anos 1990 constroem o Estado regulador brasileiro. Em 1990, o Programa Nacional de Desestatização. Entre 1996 e 1997, as agências reguladoras: a ANEEL, para energia, a ANATEL, para telecomunicações, e a ANP, para petróleo. Em 1998, a Emenda Constitucional 19, com a reforma administrativa e o princípio da eficiência. E em 2000, a Lei de Responsabilidade Fiscal, com limites para o gasto com pessoal e para a dívida. Um exemplo do dia a dia: na conta de luz, a distribuidora é privada, mas a tarifa e a qualidade são reguladas pela ANEEL. O Estado deixa de produzir e passa a 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mesmo tempo, depois de 1988, o Brasil constrói uma ampla rede de proteção social. O SUS, pela Lei 8.080, de 1990, com saúde universal e gratuita, direito de todos e dever do Estado. O BPC, criado pela LOAS em 1993, que paga um salário mínimo a idosos e pessoas com deficiência de baixa renda. O Bolsa Família, em 2003, com transferência de renda e condicionalidades em saúde e educação. E o auxílio emergencial, em 2020, que mostrou o Estado cumprindo a função estabilizadora na pandemia.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expansão do Bolsa Família em número de famílias atendidas. [Apontar para as colunas.] O programa começou com cerca de 6,6 milhões de famílias em 2004 e cresceu rapidamente, passando de 12 milhões em 2010. Em 2023, o novo Bolsa Família absorveu o público do Auxílio Brasil e chegou a cerca de 21 milhões de famílias. Um ponto importante para quem trabalha no município: todo esse público passa pelo CadÚnico, que é operado pelas prefeituras.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século XXI? A crise financeira de 2008 trouxe resgates bancários e estímulos fiscais em vários países. A pandemia de 2020 trouxe o auxílio emergencial e mostrou a importância do SUS. Os dois episódios mostraram que o Estado continua indispensável para estabilizar a economia. A pergunta atual não é mais “Estado ou mercado”, mas que Estado e que mercado, e como articulá-los com transparência, eficiência e justiça social. Deixo uma reflexão: escolha uma política pública do seu município, como transporte, saneamento ou saúde. Que falha de mercado ela corrige? Qual das funções de Musgrave ela cumpre? E como um liberal e um marxista a avaliariam? Se você conseguir responder a essas perguntas, terá dominado o essencial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finais. A partir de 2 de novembro, esta videoaula e a leitura. Até 8 de novembro, os Exercícios de fixação 2 e a Avaliação A2, sobre as Unidades 3 e 4. De 9 a 15 de novembro, a semana de revisão, com o fórum de dúvidas e a gravação do encontro síncrono. E até 15 de novembro, a A3: dez questões objetivas e um estudo de caso, sobre todo o conteúdo. Lembre que a nota final é a média de A1 e A2 com peso 0,4, mais a A3 com peso 0,6, e que a aprovação exige nota 7,0.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encerrar, o último quiz: cinco perguntas sobre a Unidade 4. Pause, responda e confira. Depois, é só revisar e fazer as avaliações com calma.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Numa recessão, o que Keynes recomendaria ao governo? Letra a: Cortar gastos para equilibrar o orçamento. Letra b: Aumentar o gasto e o investimento para compensar a queda da demanda. Letra c: Elevar os juros para conter o consumo. Letra d: Não intervir e esperar o ajuste do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Aumentar o gasto e o investimento para compensar a queda da demanda. Para Keynes, a crise vem da falta de demanda efetiva; o gasto público (G) sustenta a produção e, pelo multiplicador, 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Direitos universais financiados por impostos, como na Suécia, caracterizam o regime de bem-estar: Letra a: Liberal. Letra b: Conservador-corporativo. Letra c: Social-democrata. Letra d: Neoliberal.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Social-democrata. No regime social-democrata (Esping-Andersen), a proteção é universal e financiada por 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O que é estagflação? Letra a: Crescimento com preços estáveis. Letra b: Estagnação econômica com inflação alta. Letra c: Queda de preços com pleno emprego. Letra d: Crescimento acelerado com desemprego zero.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Estagnação econômica com inflação alta. Nos anos 1970, estagnação e inflação ocorreram juntas, o que abalou o receituário keynesiano e abriu espaço ao neoliberalismo.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 Plano Diretor da Reforma do Aparelho do Estado (1995) propôs a passagem da administração: Letra a: Gerencial para patrimonialista. Letra b: Patrimonialista para socialista. Letra c: Gerencial para burocrática. Letra d: Burocrática para gerencial.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Burocrática para gerencial. A reforma de 1995 (Bresser-Pereira) buscou a administração gerencial, com foco em resultados e no cidadão.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A criação da ANEEL, da ANATEL e da ANP, nos anos 1990, expressa qual papel do Estado? Letra a: Estado regulador. Letra b: Estado produtor. Letra c: Planejamento central. Letra d: Estado mínimo guarda-noturno.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Estado regulador. Com as privatizações e concessões, o Estado deixa de produzir diretamente e passa a regular os serviços por meio de agências.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4 e a disciplina, vamos recapitular. [Apontar para o quadro da esquerda.] No tópico 7, vimos os quatro modelos de Estado do século XX: o liberal, que entrou em crise em 1929; o socialista, com planejamento central, de 1917 a 1991; o de bem-estar social, com Keynes, o New Deal, Beveridge e os três regimes de Esping-Andersen; e, depois da crise dos anos 1970, o neoliberal, com Hayek, Friedman e o Consenso de Washington. [Apontar para o quadro da direita.] No tópico 8, vimos o Estado desenvolvimentista brasileiro, de 1930 a 1980, e a tensão entre a Constituição de 1988, com a seguridade universal, e as reformas dos anos 1990, com o Estado gerencial, as agências reguladoras e a LRF. Vimos também que patrimonialismo, burocracia e gerencialismo ainda convivem, e que, no século XXI, a pergunta é que Estado e que mercado queremos. Lembre: A2 até 8 de novembro e A3 até 15 de novembro, às 23h55. Obrigado pela dedicação ao longo destas semanas. Bons estudos, boas avaliações e até a próxima disciplina!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7 e 8 do sumário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social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 · TEORIA GERAL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países centrais: crescimento, pleno emprego, direitos sociais universais (saúde, educação, previdência) e um pacto entre capital e trabalho.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multiplicador keynesiano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gasto público inicial de R$ 100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renda gerada em cada rodada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 gasta 80% e poupa 20%.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rodada gera nova renda para outras pessoas.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todas, a renda cresce até R$ 500 milhões: 100 ÷ (1 − 0,8).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Propensão marginal a consumir = 0,8.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regime gasta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em países da OCDE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(% do PIB), 2019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regimes liberais gastam menos e deixam mais espaço ao mercado.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não diz tudo: na Suécia o acesso é universal; na Alemanha, ligado às contribuições.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OCDE, Social Expenditure Database (SOCX). Valores aproximados.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ideias do neoliberalismo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e Friedman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DA SERVIDÃO, 1944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Hayek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planejamento estatal ameaça a liberdade. Em 1947, fundou a Sociedade Mont Pèlerin, que reuniu os críticos do intervencionismo.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Milton Friedman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é um fenômeno monetário. O Estado deve se limitar a regras estáveis, como o controle da quantidade de moeda.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0040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privatizações, desregulamentação, abertura comercial e financeira, flexibilização do trabalho e redução do Estado.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reformas, à proteção social e aos desafios atuais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Petrobras, Eletrobras),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Estado brasileiro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ao longo do tempo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(% do PIB)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mais que dobrou entre 1947 e 1970, no Estado desenvolvimentista.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1988, cresceu para financiar a seguridade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reformas dos anos 1990 mudaram o papel do Estado (de produtor a regulador), não o tamanho da arrecadação.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e Receita Federal. Valores aproximados e arredondados,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projetos em tensão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crise dos anos 1980 à gestão pública atual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1980: crise da dívida externa e hiperinflação abrem caminho para as reformas.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Inspiração de bem-estar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universalista: SUS, previdência e assistência social.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DOS ANOS 1990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gerencial e regulador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 (1990), Plano Diretor de Bresser-Pereira (1995), agências reguladoras, setor público não estatal e LRF (2000).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pública brasileira convive até hoje com a tensão entre esses dois projetos.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do Bolsa Família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atendidas pelo programa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beneficiárias (milhões)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ampliou-se rapidamente nos primeiros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2023, o novo Bolsa Família absorveu o público do Auxílio Brasil.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cadastro passa pelo CadÚnico, operado pelos municípios.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Ministério do Desenvolvimento Social (MDS). Valores aproximados, posição de dezembro.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Estado e que mercado, com transparência, eficiência e justiça social?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 (transporte, saneamento, saúde). Que falha de mercado ela corrige? Qual das funções de Musgrave cumpre? Como um liberal e um marxista a avaliariam?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liberal e a crise de 1929.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socialista: planejamento central (1917–1991).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Bem-estar: Keynes, New Deal, Beveridge; três regimes (Esping-Andersen).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dos anos 1970 e Estado neoliberal: Hayek, Friedman e Consenso de Washington.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 (1930–1980).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 (seguridade universal) × reformas dos anos 1990 (gerencial, regulador, LRF).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Patrimonialismo, burocracia e gerencialismo ainda convivem.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2008 e a pandemia; que Estado e que mercado?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Avaliações: A2 até 08/11 e A3 até 15/11, às 23h55. Bons estudos!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2026-09-28T20:52:10Z</dcterms:created>
  <dcterms:modified xsi:type="dcterms:W3CDTF">2026-09-28T20:52:10Z</dcterms:modified>
</cp:coreProperties>
</file>