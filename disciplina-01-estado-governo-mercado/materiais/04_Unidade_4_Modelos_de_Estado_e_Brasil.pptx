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zero-claude/d7e33190-c541-582c-a7cc-1156817732ce/scratchpad/deck/assets/bras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02336"/>
            <a:ext cx="1243584" cy="1325880"/>
          </a:xfrm>
          <a:prstGeom prst="rect">
            <a:avLst/>
          </a:prstGeom>
        </p:spPr>
      </p:pic>
      <p:pic>
        <p:nvPicPr>
          <p:cNvPr id="3" name="Image 1" descr="/tmp/claude-0/-home-user-zero-claude/d7e33190-c541-582c-a7cc-1156817732ce/scratchpad/deck/assets/unem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548640"/>
            <a:ext cx="2743200" cy="1060704"/>
          </a:xfrm>
          <a:prstGeom prst="rect">
            <a:avLst/>
          </a:prstGeom>
        </p:spPr>
      </p:pic>
      <p:pic>
        <p:nvPicPr>
          <p:cNvPr id="4" name="Image 2" descr="/tmp/claude-0/-home-user-zero-claude/d7e33190-c541-582c-a7cc-1156817732ce/scratchpad/deck/assets/dead_apr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576072"/>
            <a:ext cx="3063240" cy="101041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887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</a:t>
            </a:r>
            <a:endParaRPr lang="en-US" sz="4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Pública</a:t>
            </a:r>
            <a:endParaRPr lang="en-US" sz="4600" dirty="0"/>
          </a:p>
        </p:txBody>
      </p:sp>
      <p:sp>
        <p:nvSpPr>
          <p:cNvPr id="6" name="Text 1"/>
          <p:cNvSpPr txBox="1"/>
          <p:nvPr/>
        </p:nvSpPr>
        <p:spPr>
          <a:xfrm>
            <a:off x="1243584" y="3456432"/>
            <a:ext cx="3017520" cy="420624"/>
          </a:xfrm>
          <a:prstGeom prst="roundRect">
            <a:avLst>
              <a:gd name="adj" fmla="val 21739"/>
            </a:avLst>
          </a:prstGeom>
          <a:solidFill>
            <a:srgbClr val="E9C8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· UAB · Turma 2026/2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4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920240" y="969264"/>
            <a:ext cx="5303520" cy="402336"/>
          </a:xfrm>
          <a:prstGeom prst="roundRect">
            <a:avLst>
              <a:gd name="adj" fmla="val 22727"/>
            </a:avLst>
          </a:prstGeom>
          <a:solidFill>
            <a:srgbClr val="2A8C8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modelos de Estado e o Estado brasileiro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379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 (Lato Sensu)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45152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9744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83794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9824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Regente: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Cleiton Franco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4672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Calendar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2549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44752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&amp; Semestre: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2026/2 · 1º bloco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645152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09744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8" name="Image 3" descr="/tmp/claude-0/-home-user-zero-claude/d7e33190-c541-582c-a7cc-1156817732ce/scratchpad/deck/assets/icon_Fa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8254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49824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da unidade: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02/11 a 15/11/2026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547872"/>
            <a:ext cx="7863840" cy="676656"/>
          </a:xfrm>
          <a:prstGeom prst="roundRect">
            <a:avLst>
              <a:gd name="adj" fmla="val 8108"/>
            </a:avLst>
          </a:prstGeom>
          <a:solidFill>
            <a:srgbClr val="EAF3F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Videoaula 4 · Leitura: COELHO (2014) e LEITE JÚNIOR (2009)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conteúdos: Unidades 7 e 8 · Webaulas: 04/11 e 11/11 · A2 até 08/11 · A3 até 15/11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liberal e a crise de 1929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356616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mínimo</a:t>
            </a:r>
            <a:endParaRPr lang="en-US" sz="170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equilibrado</a:t>
            </a:r>
            <a:endParaRPr lang="en-US" sz="170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Padrão-ouro e livre comércio</a:t>
            </a:r>
            <a:endParaRPr lang="en-US" sz="170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proteção social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4480560" y="1280160"/>
            <a:ext cx="3977640" cy="2743200"/>
          </a:xfrm>
          <a:prstGeom prst="roundRect">
            <a:avLst>
              <a:gd name="adj" fmla="val 2000"/>
            </a:avLst>
          </a:prstGeom>
          <a:solidFill>
            <a:srgbClr val="FBF4DC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1929: A GRANDE DEPRESSÃO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da Bolsa de Nova York, falências e desemprego em massa.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confiança na autorregulação do mercado é abalada.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socialista (1917–1991)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245668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central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Revolução Russa (1917), propriedade estatal, planos quinquenais (1928), partido único.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343656" y="1280160"/>
            <a:ext cx="245668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Industrialização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Industrialização acelerada da URSS.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001512" y="1280160"/>
            <a:ext cx="245668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 FIM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Ineficiência, escassez e falta de liberdades. Muro de Berlim (1989) e fim da URSS (1991).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de bem-estar social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1945–1973: os anos dourados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245668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1936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Keynes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desemprego vem da falta de demanda efetiva. O Estado deve gastar e investir, mesmo com déficit.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343656" y="1280160"/>
            <a:ext cx="245668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1933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Deal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 públicas, regulação bancária e seguridade social nos EUA.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01512" y="1280160"/>
            <a:ext cx="245668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1942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Beveridge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social universal “do berço ao túmulo”.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383280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Crescimento, pleno emprego e direitos sociais universais nos países centrais.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neoliberal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34440"/>
            <a:ext cx="3840480" cy="3017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Crise: </a:t>
            </a:r>
            <a:pPr algn="l" indent="0" marL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choques do petróleo (1973 e 1979), estagflação e crise fiscal.</a:t>
            </a:r>
            <a:endParaRPr lang="en-US" sz="1600" dirty="0"/>
          </a:p>
          <a:p>
            <a:pPr algn="l" indent="0" marL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Ideias: </a:t>
            </a:r>
            <a:pPr algn="l" indent="0" marL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Hayek (O Caminho da Servidão, 1944) e Friedman (monetarismo).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Governos: </a:t>
            </a:r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Thatcher (1979) e Reagan (1981).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709160" y="1234440"/>
            <a:ext cx="3749040" cy="3017520"/>
          </a:xfrm>
          <a:prstGeom prst="roundRect">
            <a:avLst>
              <a:gd name="adj" fmla="val 1818"/>
            </a:avLst>
          </a:prstGeom>
          <a:solidFill>
            <a:srgbClr val="E6F2F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CONSENSO DE WASHINGTON (1989)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fiscal, privatizações, desregulamentação e abertura comercial e financeira.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passa de produtor a regulador.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modelos de Estado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00200"/>
                <a:gridCol w="2834640"/>
                <a:gridCol w="1783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 do Estado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Liberal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Séc. XIX – 1929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Mínimo: segurança, justiça, contratos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Locke, Smith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Socialista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1917 – 1991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Proprietário e planejador central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Marx, Lênin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Bem-estar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1945 – 1973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Indutor da demanda, provedor de direitos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Keynes, Beveridge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Neoliberal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1979 – 2008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Regulador e enxuto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Hayek, Friedman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pêndulo no Brasil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245668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1930–1980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desenvolvimentista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Vargas, JK e regime militar: estatais (CSN, Petrobras), BNDE (1952) e Plano de Metas.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343656" y="1280160"/>
            <a:ext cx="245668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1988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Constituição Cidadã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Seguridade social universal: SUS, previdência e assistência social.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001512" y="1280160"/>
            <a:ext cx="245668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1990–2000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Reformas do Estado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Desestatização, Plano Diretor (1995), agências reguladoras e LRF (2000).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Século XXI: Estado e mercado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atual: que Estado e que mercado?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749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89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Univers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9047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307592"/>
            <a:ext cx="2971800" cy="10424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de 2008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Resgates bancários e estímulos fiscais.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09160" y="1234440"/>
            <a:ext cx="3749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389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Heartb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49047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307592"/>
            <a:ext cx="2971800" cy="10424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Pandemia de 2020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Auxílio emergencial e o papel do SUS.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651760"/>
            <a:ext cx="7772400" cy="1463040"/>
          </a:xfrm>
          <a:prstGeom prst="roundRect">
            <a:avLst>
              <a:gd name="adj" fmla="val 3750"/>
            </a:avLst>
          </a:prstGeom>
          <a:solidFill>
            <a:srgbClr val="FBF4DC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refletir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uma política pública do seu município. Que falha de mercado ela corrige? Qual função do Estado cumpre? Em qual modelo de Estado ela se inspira?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da Unidade 4 e encerramento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e prazos da unidade (todas as entregas até 23h55)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25880"/>
          <a:ext cx="74980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806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02/11 (seg)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Videoaula 4 e leitura da unidade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04/11 (qua)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4ª webaula, às 19h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08/11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Exercícios de fixação 2 e Avaliação A2 no SIGAA (Unidades 3 e 4), 23h55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11/11 (qua)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5ª webaula: revisão para a A3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15/11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 A3: 10 objetivas + estudo de caso (todo o conteúdo), 23h55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3840480"/>
            <a:ext cx="7498080" cy="548640"/>
          </a:xfrm>
          <a:prstGeom prst="roundRect">
            <a:avLst>
              <a:gd name="adj" fmla="val 13333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final = (((A1 + A2) / 2) × 0,4) + (A3 × 0,6) · aprovação com 7,0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UNEMAT / DEAD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Estado, Governo e Mercado – Unidade 4: Os modelos de Estado e o Estado brasileiro</dc:title>
  <dc:subject>PptxGenJS Presentation</dc:subject>
  <dc:creator>Prof. Dr. Cleiton Franco</dc:creator>
  <cp:lastModifiedBy>Prof. Dr. Cleiton Franco</cp:lastModifiedBy>
  <cp:revision>1</cp:revision>
  <dcterms:created xsi:type="dcterms:W3CDTF">2026-09-26T15:52:33Z</dcterms:created>
  <dcterms:modified xsi:type="dcterms:W3CDTF">2026-09-26T15:52:33Z</dcterms:modified>
</cp:coreProperties>
</file>