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9.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Renda</c:v>
                </c:pt>
              </c:strCache>
            </c:strRef>
          </c:tx>
          <c:spPr>
            <a:solidFill>
              <a:srgbClr val="13294B"/>
            </a:solidFill>
            <a:effectLst/>
          </c:spPr>
          <c:invertIfNegative val="0"/>
          <c:dLbls>
            <c:numFmt formatCode="0" sourceLinked="0"/>
            <c:txPr>
              <a:bodyPr/>
              <a:lstStyle/>
              <a:p>
                <a:pPr>
                  <a:defRPr b="0" i="0" strike="noStrike" sz="1050" u="none">
                    <a:solidFill>
                      <a:srgbClr val="1F2A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1ª</c:v>
                  </c:pt>
                  <c:pt idx="1">
                    <c:v>2ª</c:v>
                  </c:pt>
                  <c:pt idx="2">
                    <c:v>3ª</c:v>
                  </c:pt>
                  <c:pt idx="3">
                    <c:v>4ª</c:v>
                  </c:pt>
                  <c:pt idx="4">
                    <c:v>5ª</c:v>
                  </c:pt>
                  <c:pt idx="5">
                    <c:v>6ª</c:v>
                  </c:pt>
                </c:lvl>
              </c:multiLvlStrCache>
            </c:multiLvlStrRef>
          </c:cat>
          <c:val>
            <c:numRef>
              <c:f>Sheet1!$B$2:$B$7</c:f>
              <c:numCache>
                <c:formatCode>General</c:formatCode>
                <c:ptCount val="6"/>
                <c:pt idx="0">
                  <c:v>100</c:v>
                </c:pt>
                <c:pt idx="1">
                  <c:v>80</c:v>
                </c:pt>
                <c:pt idx="2">
                  <c:v>64</c:v>
                </c:pt>
                <c:pt idx="3">
                  <c:v>51</c:v>
                </c:pt>
                <c:pt idx="4">
                  <c:v>41</c:v>
                </c:pt>
                <c:pt idx="5">
                  <c:v>33</c:v>
                </c:pt>
              </c:numCache>
            </c:numRef>
          </c:val>
        </c:ser>
        <c:dLbls>
          <c:numFmt formatCode="0" sourceLinked="0"/>
          <c:txPr>
            <a:bodyPr/>
            <a:lstStyle/>
            <a:p>
              <a:pPr>
                <a:defRPr b="0" i="0" strike="noStrike" sz="1050" u="none">
                  <a:solidFill>
                    <a:srgbClr val="1F2A37"/>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A37"/>
                </a:solidFill>
                <a:latin typeface="Calibri"/>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B67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Gasto social</c:v>
                </c:pt>
              </c:strCache>
            </c:strRef>
          </c:tx>
          <c:spPr>
            <a:solidFill>
              <a:srgbClr val="2A8C85"/>
            </a:solidFill>
            <a:effectLst/>
          </c:spPr>
          <c:invertIfNegative val="0"/>
          <c:dLbls>
            <c:numFmt formatCode="0.0" sourceLinked="0"/>
            <c:txPr>
              <a:bodyPr/>
              <a:lstStyle/>
              <a:p>
                <a:pPr>
                  <a:defRPr b="0" i="0" strike="noStrike" sz="1050" u="none">
                    <a:solidFill>
                      <a:srgbClr val="1F2A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Alemanha (conservador)</c:v>
                  </c:pt>
                  <c:pt idx="1">
                    <c:v>Suécia (social-democrata)</c:v>
                  </c:pt>
                  <c:pt idx="2">
                    <c:v>Reino Unido (liberal)</c:v>
                  </c:pt>
                  <c:pt idx="3">
                    <c:v>Estados Unidos (liberal)</c:v>
                  </c:pt>
                </c:lvl>
              </c:multiLvlStrCache>
            </c:multiLvlStrRef>
          </c:cat>
          <c:val>
            <c:numRef>
              <c:f>Sheet1!$B$2:$B$5</c:f>
              <c:numCache>
                <c:formatCode>General</c:formatCode>
                <c:ptCount val="4"/>
                <c:pt idx="0">
                  <c:v>25.9</c:v>
                </c:pt>
                <c:pt idx="1">
                  <c:v>25.5</c:v>
                </c:pt>
                <c:pt idx="2">
                  <c:v>20.6</c:v>
                </c:pt>
                <c:pt idx="3">
                  <c:v>18.7</c:v>
                </c:pt>
              </c:numCache>
            </c:numRef>
          </c:val>
        </c:ser>
        <c:dLbls>
          <c:numFmt formatCode="0.0" sourceLinked="0"/>
          <c:txPr>
            <a:bodyPr/>
            <a:lstStyle/>
            <a:p>
              <a:pPr>
                <a:defRPr b="0" i="0" strike="noStrike" sz="1050" u="none">
                  <a:solidFill>
                    <a:srgbClr val="1F2A37"/>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A37"/>
                </a:solidFill>
                <a:latin typeface="Calibri"/>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6350" cap="flat">
              <a:solidFill>
                <a:srgbClr val="E3E3E3"/>
              </a:solidFill>
              <a:prstDash val="solid"/>
              <a:round/>
            </a:ln>
          </c:spPr>
        </c:majorGridlines>
        <c:numFmt formatCode="0.0" sourceLinked="0"/>
        <c:majorTickMark val="out"/>
        <c:minorTickMark val="none"/>
        <c:tickLblPos val="low"/>
        <c:spPr>
          <a:ln w="12700" cap="flat">
            <a:noFill/>
            <a:prstDash val="solid"/>
            <a:round/>
          </a:ln>
        </c:spPr>
        <c:txPr>
          <a:bodyPr/>
          <a:lstStyle/>
          <a:p>
            <a:pPr>
              <a:defRPr sz="1000" b="0" i="0" u="none" strike="noStrike">
                <a:solidFill>
                  <a:srgbClr val="5B67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Carga tributária</c:v>
                </c:pt>
              </c:strCache>
            </c:strRef>
          </c:tx>
          <c:spPr>
            <a:solidFill>
              <a:srgbClr val="13294B"/>
            </a:solidFill>
            <a:effectLst/>
          </c:spPr>
          <c:invertIfNegative val="0"/>
          <c:dLbls>
            <c:numFmt formatCode="0" sourceLinked="0"/>
            <c:txPr>
              <a:bodyPr/>
              <a:lstStyle/>
              <a:p>
                <a:pPr>
                  <a:defRPr b="0" i="0" strike="noStrike" sz="1050" u="none">
                    <a:solidFill>
                      <a:srgbClr val="1F2A37"/>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1947</c:v>
                  </c:pt>
                  <c:pt idx="1">
                    <c:v>1960</c:v>
                  </c:pt>
                  <c:pt idx="2">
                    <c:v>1970</c:v>
                  </c:pt>
                  <c:pt idx="3">
                    <c:v>1980</c:v>
                  </c:pt>
                  <c:pt idx="4">
                    <c:v>1990</c:v>
                  </c:pt>
                  <c:pt idx="5">
                    <c:v>2000</c:v>
                  </c:pt>
                  <c:pt idx="6">
                    <c:v>2010</c:v>
                  </c:pt>
                  <c:pt idx="7">
                    <c:v>2020</c:v>
                  </c:pt>
                </c:lvl>
              </c:multiLvlStrCache>
            </c:multiLvlStrRef>
          </c:cat>
          <c:val>
            <c:numRef>
              <c:f>Sheet1!$B$2:$B$9</c:f>
              <c:numCache>
                <c:formatCode>General</c:formatCode>
                <c:ptCount val="8"/>
                <c:pt idx="0">
                  <c:v>14</c:v>
                </c:pt>
                <c:pt idx="1">
                  <c:v>17</c:v>
                </c:pt>
                <c:pt idx="2">
                  <c:v>26</c:v>
                </c:pt>
                <c:pt idx="3">
                  <c:v>25</c:v>
                </c:pt>
                <c:pt idx="4">
                  <c:v>29</c:v>
                </c:pt>
                <c:pt idx="5">
                  <c:v>30</c:v>
                </c:pt>
                <c:pt idx="6">
                  <c:v>32</c:v>
                </c:pt>
                <c:pt idx="7">
                  <c:v>32</c:v>
                </c:pt>
              </c:numCache>
            </c:numRef>
          </c:val>
        </c:ser>
        <c:dLbls>
          <c:numFmt formatCode="0" sourceLinked="0"/>
          <c:txPr>
            <a:bodyPr/>
            <a:lstStyle/>
            <a:p>
              <a:pPr>
                <a:defRPr b="0" i="0" strike="noStrike" sz="1050" u="none">
                  <a:solidFill>
                    <a:srgbClr val="1F2A37"/>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A37"/>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B67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Famílias</c:v>
                </c:pt>
              </c:strCache>
            </c:strRef>
          </c:tx>
          <c:spPr>
            <a:solidFill>
              <a:srgbClr val="2A8C85"/>
            </a:solidFill>
            <a:effectLst/>
          </c:spPr>
          <c:invertIfNegative val="0"/>
          <c:dLbls>
            <c:numFmt formatCode="0.0" sourceLinked="0"/>
            <c:txPr>
              <a:bodyPr/>
              <a:lstStyle/>
              <a:p>
                <a:pPr>
                  <a:defRPr b="0" i="0" strike="noStrike" sz="1050" u="none">
                    <a:solidFill>
                      <a:srgbClr val="1F2A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2004</c:v>
                  </c:pt>
                  <c:pt idx="1">
                    <c:v>2006</c:v>
                  </c:pt>
                  <c:pt idx="2">
                    <c:v>2010</c:v>
                  </c:pt>
                  <c:pt idx="3">
                    <c:v>2014</c:v>
                  </c:pt>
                  <c:pt idx="4">
                    <c:v>2019</c:v>
                  </c:pt>
                  <c:pt idx="5">
                    <c:v>2023</c:v>
                  </c:pt>
                </c:lvl>
              </c:multiLvlStrCache>
            </c:multiLvlStrRef>
          </c:cat>
          <c:val>
            <c:numRef>
              <c:f>Sheet1!$B$2:$B$7</c:f>
              <c:numCache>
                <c:formatCode>General</c:formatCode>
                <c:ptCount val="6"/>
                <c:pt idx="0">
                  <c:v>6.6</c:v>
                </c:pt>
                <c:pt idx="1">
                  <c:v>11</c:v>
                </c:pt>
                <c:pt idx="2">
                  <c:v>12.8</c:v>
                </c:pt>
                <c:pt idx="3">
                  <c:v>14</c:v>
                </c:pt>
                <c:pt idx="4">
                  <c:v>13.2</c:v>
                </c:pt>
                <c:pt idx="5">
                  <c:v>21</c:v>
                </c:pt>
              </c:numCache>
            </c:numRef>
          </c:val>
        </c:ser>
        <c:dLbls>
          <c:numFmt formatCode="0.0" sourceLinked="0"/>
          <c:txPr>
            <a:bodyPr/>
            <a:lstStyle/>
            <a:p>
              <a:pPr>
                <a:defRPr b="0" i="0" strike="noStrike" sz="1050" u="none">
                  <a:solidFill>
                    <a:srgbClr val="1F2A37"/>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A37"/>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5B67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Olá, turma! Chegamos à Unidade 4, a última da disciplina: os modelos de Estado e o Estado brasileiro. Aqui juntamos tudo o que vimos, as falhas de mercado, o pêndulo e as matrizes liberal e marxista, para entender os grandes modelos de Estado do século XX e a trajetória do Estado no Brasil.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unidade vai de 2 a 15 de novembro. A leitura é o livro de Coelho e o texto de Leite Júnior, de 2009, junto com as Unidades 7 e 8 da página de conteúdos. Dois prazos importantes: a A2, até 8 de novembro, e a A3, até 15 de novembro, sempre às 23h55.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 1: os modelos de Estado no século XX. Vamos estudar quatro: o liberal, o socialista, o de bem-estar e o neoliberal.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Estado liberal, herdado do século XIX, tinha quatro marcas: Estado mínimo, orçamento equilibrado, padrão-ouro com livre comércio e pouca proteção social. Esse modelo entra em crise em 1929, com a Grande Depressão: a quebra da Bolsa de Nova York, falências em cadeia e desemprego em massa. A confiança na autorregulação do mercado é profundamente abalada, e o pêndulo começa a ir em direção ao Estado.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primeiro modelo alternativo é o Estado socialista, de 1917 a 1991. Suas características: a Revolução Russa de 1917, a propriedade estatal, o planejamento central, com os planos quinquenais a partir de 1928, e o partido único. Entre os resultados, uma industrialização acelerada da União Soviética. Mas também limites graves: ineficiência, escassez de bens de consumo e falta de liberdades. O modelo entra em colapso com a queda do Muro de Berlim, em 1989, e o fim da URSS, em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segundo modelo é o Estado de bem-estar social, cujo auge vai de 1945 a 1973, os anos dourados. Três referências o constroem. O New Deal, nos Estados Unidos, a partir de 1933, com obras públicas, regulação bancária e seguridade social. Keynes, em 1936, que explica o desemprego pela falta de demanda efetiva e defende que o Estado gaste e invista, mesmo com déficit. E o Relatório Beveridge, de 1942, no Reino Unido, com a proteção social universal “do berço ao túmulo”. O resultado, nos países centrais, foi crescimento, pleno emprego e direitos sociais universais.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entender melhor o raciocínio de Keynes. A demanda agregada é a soma do consumo, do investimento, do gasto do governo e das exportações líquidas. Numa recessão, o consumo e o investimento caem: as empresas vendem menos e demitem. O papel do governo é compensar essa queda com mais gasto, sustentando a produção e o emprego. E há o multiplicador: cada real gasto vira renda de alguém, que também gasta, e a renda total cresce mais que o gasto inicial. Um exemplo recente é o auxílio emergencial de 2020, que sustentou o consumo das famílias na pandemia. Repare que Keynes contesta diretamente a lei de Say, que vimos na Unidade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gráfico mostra o multiplicador em ação. [Apontar para as barras, da primeira à última.] O governo gasta 100 milhões de reais. Quem recebe esse dinheiro gasta 80% e poupa 20%: são 80 milhões de nova renda na segunda rodada. Quem recebe esses 80 gasta 64, depois 51, e assim por diante. Somando todas as rodadas, a renda cresce até 500 milhões, ou seja, 100 dividido por 1 menos 0,8. O multiplicador é 5. É um exemplo simplificado, mas mostra por que o gasto público pode ter um efeito maior do que o valor inicial.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 todo Estado de bem-estar é igual. Gøsta Esping-Andersen, em 1990, identificou três regimes. O liberal, como nos Estados Unidos e no Reino Unido, com benefícios focalizados nos mais pobres e um forte papel do mercado, como os planos privados. O conservador-corporativo, como na Alemanha e na França, com seguros sociais ligados ao emprego e às contribuições. E o social-democrata, como na Suécia e na Dinamarca, com direitos universais financiados por impostos. O Brasil combina traços dos três: a previdência é contributiva, como no corporativo; o SUS é universal, como no social-democrata; e programas como o Bolsa Família são focalizados, como no liberal.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gráfico compara o gasto social público de quatro países da OCDE, em proporção do PIB, em 2019. [Apontar para as barras.] Alemanha e Suécia gastam cerca de 25% a 26% do PIB; Reino Unido e Estados Unidos, os dois de regime liberal, gastam menos, entre 19% e 21%, e deixam mais espaço para o mercado. Mas atenção: o volume não diz tudo. Alemanha e Suécia gastam parecido, mas de formas diferentes: na Suécia, o acesso é universal; na Alemanha, está mais ligado às contribuições. Os valores são aproximados.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que o Estado de bem-estar entrou em crise nos anos 1970? Primeiro, os choques do petróleo, em 1973 e 1979, que fizeram custos e preços dispararem. Segundo, a estagflação: estagnação e inflação ao mesmo tempo, algo que o receituário keynesiano não conseguia resolver. Terceiro, a crise fiscal: os gastos cresciam mais do que a arrecadação, e a dívida aumentava. E quarto, a globalização: com o capital mais móvel, ficou mais difícil para cada país manter impostos e regulações elevados.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 crise nasce o Estado neoliberal. As ideias vêm de Hayek, com O Caminho da Servidão, de 1944, e de Milton Friedman, com o monetarismo. Os governos que as aplicam são os de Margaret Thatcher, no Reino Unido, a partir de 1979, e de Ronald Reagan, nos Estados Unidos, a partir de 1981. Em 1989, o Consenso de Washington resume a agenda: disciplina fiscal, reforma tributária, privatizações, desregulamentação, abertura comercial e financeira e respeito à propriedade. A síntese é esta: o Estado passa de produtor a regulador.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quadro resume os quatro modelos. O liberal, do século XIX até 1929, com um Estado mínimo que garante segurança, justiça e contratos, inspirado em Locke e Smith. O socialista, de 1917 a 1991, com o Estado proprietário e planejador central, inspirado em Marx e Lênin. O de bem-estar, de 1945 a 1973, com o Estado indutor da demanda e provedor de direitos, inspirado em Keynes e Beveridge. E o neoliberal, de 1979 a 2008, com o Estado regulador e enxuto, inspirado em Hayek e Friedman. Sugiro copiar este quadro no caderno: é um excelente resumo da disciplina.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 2: o Estado brasileiro. Vamos ver como esses modelos aparecem na nossa história, do desenvolvimentismo às reformas e à proteção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Brasil, de 1930 a 1980, predomina o Estado desenvolvimentista: Vargas, Juscelino e o regime militar criam estatais como a CSN e a Petrobras, o BNDE, em 1952, e o Plano de Metas. Em 1988, a Constituição Cidadã cria a seguridade social universal, com o SUS, a previdência e a assistência social. E entre 1990 e 2000 vêm as reformas do Estado: desestatização, o Plano Diretor de 1995, as agências reguladoras e a Lei de Responsabilidade Fiscal, em 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forma de medir o tamanho do Estado é a carga tributária, ou seja, a arrecadação em proporção do PIB. [Apontar para as colunas.] Ela mais que dobrou entre 1947 e 1970, no auge do Estado desenvolvimentista. Depois de 1988, cresceu de novo, para financiar a seguridade social criada pela Constituição, e passou dos 30% do PIB. Um detalhe interessante: as reformas dos anos 1990 mudaram o papel do Estado, de produtor para regulador, mas não reduziram a arrecadação. Os valores são aproximados e servem para mostrar a tendência.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Plano Diretor da Reforma do Aparelho do Estado, de 1995, identificou três modelos de administração pública. O patrimonialista, em que o público e o privado se confundem e os cargos são distribuídos como favor, típico do Brasil colonial, imperial e da República Velha. O burocrático, baseado no mérito, na impessoalidade, em normas e no controle de procedimentos, que chega com o DASP, em 1938, na Era Vargas. E o gerencial, com foco em resultados, eficiência e no cidadão, proposto pelo Plano Diretor e pela Emenda Constitucional 19, de 1998. Na prática, os três convivem até hoje. O desafio é superar o patrimonialismo sem perder os controles da burocracia.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anos 1990 constroem o Estado regulador brasileiro. Em 1990, o Programa Nacional de Desestatização. Entre 1996 e 1997, as agências reguladoras: a ANEEL, para energia, a ANATEL, para telecomunicações, e a ANP, para petróleo. Em 1998, a Emenda Constitucional 19, com a reforma administrativa e o princípio da eficiência. E em 2000, a Lei de Responsabilidade Fiscal, com limites para o gasto com pessoal e para a dívida. Um exemplo do dia a dia: na conta de luz, a distribuidora é privada, mas a tarifa e a qualidade são reguladas pela ANEEL. O Estado deixa de produzir e passa a 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 mesmo tempo, depois de 1988, o Brasil constrói uma ampla rede de proteção social. O SUS, pela Lei 8.080, de 1990, com saúde universal e gratuita, direito de todos e dever do Estado. O BPC, criado pela LOAS em 1993, que paga um salário mínimo a idosos e pessoas com deficiência de baixa renda. O Bolsa Família, em 2003, com transferência de renda e condicionalidades em saúde e educação. E o auxílio emergencial, em 2020, que mostrou o Estado cumprindo a função estabilizadora na pandemia.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gráfico mostra a expansão do Bolsa Família em número de famílias atendidas. [Apontar para as colunas.] O programa começou com cerca de 6,6 milhões de famílias em 2004 e cresceu rapidamente, passando de 12 milhões em 2010. Em 2023, o novo Bolsa Família absorveu o público do Auxílio Brasil e chegou a cerca de 21 milhões de famílias. Um ponto importante para quem trabalha no município: todo esse público passa pelo CadÚnico, que é operado pelas prefeituras. Os valores são aproximados.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no século XXI? A crise de 2008 trouxe resgates bancários e estímulos fiscais em vários países. A pandemia de 2020 trouxe o auxílio emergencial e mostrou a importância do SUS. A pergunta atual não é mais “Estado ou mercado”, mas que Estado e que mercado. Deixo uma reflexão: escolha uma política pública do seu município. Que falha de mercado ela corrige? Que função do Estado ela cumpre? Em qual modelo de Estado ela se inspira? Se você conseguir responder a essas três perguntas, terá dominado o essencial da disciplina.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às atividades finais. A partir de 2 de novembro, esta videoaula e a leitura. Até 8 de novembro, os Exercícios de fixação 2 e a Avaliação A2, sobre as Unidades 3 e 4. De 9 a 15 de novembro, a semana de revisão, com o fórum de dúvidas e a gravação do encontro síncrono. E até 15 de novembro, a A3: dez questões objetivas e um estudo de caso, sobre todo o conteúdo. Lembre que a nota final é a média de A1 e A2 com peso 0,4, mais a A3 com peso 0,6, e que a aprovação exige nota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encerrar, o último quiz: cinco perguntas sobre a Unidade 4. Pause, responda e confira. Depois, é só revisar e fazer as avaliações com calma.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1. Numa recessão, o que Keynes recomendaria ao governo? Letra a: Cortar gastos para equilibrar o orçamento. Letra b: Aumentar o gasto e o investimento para compensar a queda da demanda. Letra c: Elevar os juros para conter o consumo. Letra d: Não intervir e esperar o ajuste do mercado. Pause o vídeo e escolha a sua resposta.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resposta correta é a letra b: Aumentar o gasto e o investimento para compensar a queda da demanda. Para Keynes, a crise vem da falta de demanda efetiva; o gasto público (G) sustenta a produção e, pelo multiplicador, a renda.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2. Direitos universais financiados por impostos, como na Suécia, caracterizam o regime de bem-estar: Letra a: Liberal. Letra b: Conservador-corporativo. Letra c: Social-democrata. Letra d: Neoliberal. Pause o vídeo e escolha a sua resposta.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resposta correta é a letra c: Social-democrata. No regime social-democrata (Esping-Andersen), a proteção é universal e financiada por tributos.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3. O que é estagflação? Letra a: Crescimento com preços estáveis. Letra b: Estagnação econômica com inflação alta. Letra c: Queda de preços com pleno emprego. Letra d: Crescimento acelerado com desemprego zero. Pause o vídeo e escolha a sua resposta.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resposta correta é a letra b: Estagnação econômica com inflação alta. Nos anos 1970, estagnação e inflação ocorreram juntas, o que abalou o receituário keynesiano e abriu espaço ao neoliberalismo.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4. O Plano Diretor da Reforma do Aparelho do Estado (1995) propôs a passagem da administração: Letra a: Gerencial para patrimonialista. Letra b: Patrimonialista para socialista. Letra c: Gerencial para burocrática. Letra d: Burocrática para gerencial. Pause o vídeo e escolha a sua resposta.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resposta correta é a letra d: Burocrática para gerencial. A reforma de 1995 (Bresser-Pereira) buscou a administração gerencial, com foco em resultados e no cidadão.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5. A criação da ANEEL, da ANATEL e da ANP, nos anos 1990, expressa qual papel do Estado? Letra a: Estado regulador. Letra b: Estado produtor. Letra c: Planejamento central. Letra d: Estado mínimo guarda-noturno. Pause o vídeo e escolha a sua resposta.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resposta correta é a letra a: Estado regulador. Com as privatizações e concessões, o Estado deixa de produzir diretamente e passa a regular os serviços por meio de agências. Com isso, encerramos a Unidade 4 e a disciplina Estado, Governo e Mercado. Obrigado pela dedicação ao longo destas semanas. Bons estudos, boas avaliações e até a próxima disciplina!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Slide-8-image-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7.xml"/><Relationship Id="rId1" Type="http://schemas.openxmlformats.org/officeDocument/2006/relationships/image" Target="../media/Slide-10-image-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Slide-16-image-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Slide-20-image-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zero-claude/d7e33190-c541-582c-a7cc-1156817732ce/scratchpad/deck/assets/brasao.png">    </p:cNvPr>
          <p:cNvPicPr>
            <a:picLocks noChangeAspect="1"/>
          </p:cNvPicPr>
          <p:nvPr/>
        </p:nvPicPr>
        <p:blipFill>
          <a:blip r:embed="rId2"/>
          <a:stretch>
            <a:fillRect/>
          </a:stretch>
        </p:blipFill>
        <p:spPr>
          <a:xfrm>
            <a:off x="758952" y="402336"/>
            <a:ext cx="1243584" cy="1325880"/>
          </a:xfrm>
          <a:prstGeom prst="rect">
            <a:avLst/>
          </a:prstGeom>
        </p:spPr>
      </p:pic>
      <p:pic>
        <p:nvPicPr>
          <p:cNvPr id="3" name="Image 1" descr="/tmp/claude-0/-home-user-zero-claude/d7e33190-c541-582c-a7cc-1156817732ce/scratchpad/deck/assets/unemat.png">    </p:cNvPr>
          <p:cNvPicPr>
            <a:picLocks noChangeAspect="1"/>
          </p:cNvPicPr>
          <p:nvPr/>
        </p:nvPicPr>
        <p:blipFill>
          <a:blip r:embed="rId3"/>
          <a:stretch>
            <a:fillRect/>
          </a:stretch>
        </p:blipFill>
        <p:spPr>
          <a:xfrm>
            <a:off x="2212848" y="548640"/>
            <a:ext cx="2743200" cy="1060704"/>
          </a:xfrm>
          <a:prstGeom prst="rect">
            <a:avLst/>
          </a:prstGeom>
        </p:spPr>
      </p:pic>
      <p:pic>
        <p:nvPicPr>
          <p:cNvPr id="4" name="Image 2" descr="/tmp/claude-0/-home-user-zero-claude/d7e33190-c541-582c-a7cc-1156817732ce/scratchpad/deck/assets/dead_apres.png">    </p:cNvPr>
          <p:cNvPicPr>
            <a:picLocks noChangeAspect="1"/>
          </p:cNvPicPr>
          <p:nvPr/>
        </p:nvPicPr>
        <p:blipFill>
          <a:blip r:embed="rId4"/>
          <a:stretch>
            <a:fillRect/>
          </a:stretch>
        </p:blipFill>
        <p:spPr>
          <a:xfrm>
            <a:off x="5349240" y="576072"/>
            <a:ext cx="3063240" cy="1010412"/>
          </a:xfrm>
          <a:prstGeom prst="rect">
            <a:avLst/>
          </a:prstGeom>
        </p:spPr>
      </p:pic>
      <p:sp>
        <p:nvSpPr>
          <p:cNvPr id="5" name="Text 0"/>
          <p:cNvSpPr txBox="1"/>
          <p:nvPr/>
        </p:nvSpPr>
        <p:spPr>
          <a:xfrm>
            <a:off x="1188720" y="1810512"/>
            <a:ext cx="7223760" cy="365760"/>
          </a:xfrm>
          <a:prstGeom prst="rect">
            <a:avLst/>
          </a:prstGeom>
          <a:noFill/>
          <a:ln/>
        </p:spPr>
        <p:txBody>
          <a:bodyPr wrap="square" lIns="0" tIns="0" rIns="0" bIns="0" rtlCol="0" anchor="ctr"/>
          <a:lstStyle/>
          <a:p>
            <a:pPr algn="l" indent="0" marL="0">
              <a:lnSpc>
                <a:spcPct val="100000"/>
              </a:lnSpc>
              <a:buNone/>
            </a:pPr>
            <a:r>
              <a:rPr lang="en-US" sz="2000" b="1" dirty="0">
                <a:solidFill>
                  <a:srgbClr val="2A8C85"/>
                </a:solidFill>
                <a:latin typeface="Calibri" pitchFamily="34" charset="0"/>
                <a:ea typeface="Calibri" pitchFamily="34" charset="-122"/>
                <a:cs typeface="Calibri" pitchFamily="34" charset="-120"/>
              </a:rPr>
              <a:t>Especialização em Gestão Pública</a:t>
            </a:r>
            <a:endParaRPr lang="en-US" sz="2000" dirty="0"/>
          </a:p>
        </p:txBody>
      </p:sp>
      <p:sp>
        <p:nvSpPr>
          <p:cNvPr id="6" name="Text 1"/>
          <p:cNvSpPr txBox="1"/>
          <p:nvPr/>
        </p:nvSpPr>
        <p:spPr>
          <a:xfrm>
            <a:off x="1188720" y="2157984"/>
            <a:ext cx="7223760" cy="786384"/>
          </a:xfrm>
          <a:prstGeom prst="rect">
            <a:avLst/>
          </a:prstGeom>
          <a:noFill/>
          <a:ln/>
        </p:spPr>
        <p:txBody>
          <a:bodyPr wrap="square" lIns="0" tIns="0" rIns="0" bIns="0" rtlCol="0" anchor="ctr"/>
          <a:lstStyle/>
          <a:p>
            <a:pPr algn="l" indent="0" marL="0">
              <a:lnSpc>
                <a:spcPct val="100000"/>
              </a:lnSpc>
              <a:buNone/>
            </a:pPr>
            <a:r>
              <a:rPr lang="en-US" sz="4800" b="1" dirty="0">
                <a:solidFill>
                  <a:srgbClr val="13294B"/>
                </a:solidFill>
                <a:latin typeface="Calibri" pitchFamily="34" charset="0"/>
                <a:ea typeface="Calibri" pitchFamily="34" charset="-122"/>
                <a:cs typeface="Calibri" pitchFamily="34" charset="-120"/>
              </a:rPr>
              <a:t>Estado, Governo e Mercado</a:t>
            </a:r>
            <a:endParaRPr lang="en-US" sz="4800" dirty="0"/>
          </a:p>
        </p:txBody>
      </p:sp>
      <p:sp>
        <p:nvSpPr>
          <p:cNvPr id="7" name="Text 2"/>
          <p:cNvSpPr txBox="1"/>
          <p:nvPr/>
        </p:nvSpPr>
        <p:spPr>
          <a:xfrm>
            <a:off x="1188720" y="2926080"/>
            <a:ext cx="7223760" cy="384048"/>
          </a:xfrm>
          <a:prstGeom prst="rect">
            <a:avLst/>
          </a:prstGeom>
          <a:noFill/>
          <a:ln/>
        </p:spPr>
        <p:txBody>
          <a:bodyPr wrap="square" lIns="0" tIns="0" rIns="0" bIns="0" rtlCol="0" anchor="ctr"/>
          <a:lstStyle/>
          <a:p>
            <a:pPr algn="l" indent="0" marL="0">
              <a:lnSpc>
                <a:spcPct val="100000"/>
              </a:lnSpc>
              <a:buNone/>
            </a:pPr>
            <a:r>
              <a:rPr lang="en-US" sz="1900" dirty="0">
                <a:solidFill>
                  <a:srgbClr val="1F2A37"/>
                </a:solidFill>
                <a:latin typeface="Calibri" pitchFamily="34" charset="0"/>
                <a:ea typeface="Calibri" pitchFamily="34" charset="-122"/>
                <a:cs typeface="Calibri" pitchFamily="34" charset="-120"/>
              </a:rPr>
              <a:t>Unidade 4 · Os modelos de Estado e o Estado brasileiro</a:t>
            </a:r>
            <a:endParaRPr lang="en-US" sz="1900" dirty="0"/>
          </a:p>
        </p:txBody>
      </p:sp>
      <p:sp>
        <p:nvSpPr>
          <p:cNvPr id="8" name="Text 3"/>
          <p:cNvSpPr txBox="1"/>
          <p:nvPr/>
        </p:nvSpPr>
        <p:spPr>
          <a:xfrm>
            <a:off x="1243584" y="3474720"/>
            <a:ext cx="4937760" cy="420624"/>
          </a:xfrm>
          <a:prstGeom prst="roundRect">
            <a:avLst>
              <a:gd name="adj" fmla="val 21739"/>
            </a:avLst>
          </a:prstGeom>
          <a:solidFill>
            <a:srgbClr val="E9C85C"/>
          </a:solidFill>
          <a:ln/>
        </p:spPr>
        <p:txBody>
          <a:bodyPr wrap="square" lIns="50800" tIns="50800" rIns="50800" bIns="50800" rtlCol="0" anchor="ctr"/>
          <a:lstStyle/>
          <a:p>
            <a:pPr algn="ctr" indent="0" marL="0">
              <a:lnSpc>
                <a:spcPct val="100000"/>
              </a:lnSpc>
              <a:buNone/>
            </a:pPr>
            <a:r>
              <a:rPr lang="en-US" sz="1500" b="1" dirty="0">
                <a:solidFill>
                  <a:srgbClr val="13294B"/>
                </a:solidFill>
                <a:latin typeface="Calibri" pitchFamily="34" charset="0"/>
                <a:ea typeface="Calibri" pitchFamily="34" charset="-122"/>
                <a:cs typeface="Calibri" pitchFamily="34" charset="-120"/>
              </a:rPr>
              <a:t>DEAD · UAB · Turma 2026/2 · Prof. Dr. Cleiton Franco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621792"/>
          </a:xfrm>
          <a:prstGeom prst="rect">
            <a:avLst/>
          </a:prstGeom>
          <a:noFill/>
          <a:ln/>
        </p:spPr>
        <p:txBody>
          <a:bodyPr wrap="square" lIns="0" tIns="0" rIns="0" bIns="0" rtlCol="0" anchor="ctr"/>
          <a:lstStyle/>
          <a:p>
            <a:pPr algn="ctr" indent="0" marL="0">
              <a:lnSpc>
                <a:spcPct val="100000"/>
              </a:lnSpc>
              <a:buNone/>
            </a:pPr>
            <a:r>
              <a:rPr lang="en-US" sz="3200" b="1" dirty="0">
                <a:solidFill>
                  <a:srgbClr val="13294B"/>
                </a:solidFill>
                <a:latin typeface="Calibri" pitchFamily="34" charset="0"/>
                <a:ea typeface="Calibri" pitchFamily="34" charset="-122"/>
                <a:cs typeface="Calibri" pitchFamily="34" charset="-120"/>
              </a:rPr>
              <a:t>Estado, Governo e Mercado</a:t>
            </a:r>
            <a:endParaRPr lang="en-US" sz="3200" dirty="0"/>
          </a:p>
        </p:txBody>
      </p:sp>
      <p:sp>
        <p:nvSpPr>
          <p:cNvPr id="3" name="Text 1"/>
          <p:cNvSpPr txBox="1"/>
          <p:nvPr/>
        </p:nvSpPr>
        <p:spPr>
          <a:xfrm>
            <a:off x="1371600" y="969264"/>
            <a:ext cx="6400800" cy="402336"/>
          </a:xfrm>
          <a:prstGeom prst="roundRect">
            <a:avLst>
              <a:gd name="adj" fmla="val 22727"/>
            </a:avLst>
          </a:prstGeom>
          <a:solidFill>
            <a:srgbClr val="2A8C85"/>
          </a:solidFill>
          <a:ln/>
        </p:spPr>
        <p:txBody>
          <a:bodyPr wrap="square" lIns="50800" tIns="50800" rIns="50800" bIns="50800" rtlCol="0" anchor="ctr"/>
          <a:lstStyle/>
          <a:p>
            <a:pPr algn="ctr" indent="0" marL="0">
              <a:lnSpc>
                <a:spcPct val="100000"/>
              </a:lnSpc>
              <a:buNone/>
            </a:pPr>
            <a:r>
              <a:rPr lang="en-US" sz="1500" dirty="0">
                <a:solidFill>
                  <a:srgbClr val="FFFFFF"/>
                </a:solidFill>
                <a:latin typeface="Calibri" pitchFamily="34" charset="0"/>
                <a:ea typeface="Calibri" pitchFamily="34" charset="-122"/>
                <a:cs typeface="Calibri" pitchFamily="34" charset="-120"/>
              </a:rPr>
              <a:t>Unidade 4 · Os modelos de Estado e o Estado brasileiro</a:t>
            </a:r>
            <a:endParaRPr lang="en-US" sz="1500" dirty="0"/>
          </a:p>
        </p:txBody>
      </p:sp>
      <p:sp>
        <p:nvSpPr>
          <p:cNvPr id="4" name="Shape 2"/>
          <p:cNvSpPr/>
          <p:nvPr/>
        </p:nvSpPr>
        <p:spPr>
          <a:xfrm>
            <a:off x="640080" y="1554480"/>
            <a:ext cx="3858768" cy="859536"/>
          </a:xfrm>
          <a:prstGeom prst="roundRect">
            <a:avLst>
              <a:gd name="adj" fmla="val 6383"/>
            </a:avLst>
          </a:prstGeom>
          <a:solidFill>
            <a:srgbClr val="FFFFFF"/>
          </a:solidFill>
          <a:ln w="12700">
            <a:solidFill>
              <a:srgbClr val="DCD5C1"/>
            </a:solidFill>
            <a:prstDash val="solid"/>
          </a:ln>
        </p:spPr>
      </p:sp>
      <p:sp>
        <p:nvSpPr>
          <p:cNvPr id="5" name="Shape 3"/>
          <p:cNvSpPr/>
          <p:nvPr/>
        </p:nvSpPr>
        <p:spPr>
          <a:xfrm>
            <a:off x="804672" y="1728216"/>
            <a:ext cx="512064" cy="512064"/>
          </a:xfrm>
          <a:prstGeom prst="roundRect">
            <a:avLst>
              <a:gd name="adj" fmla="val 14286"/>
            </a:avLst>
          </a:prstGeom>
          <a:solidFill>
            <a:srgbClr val="13294B"/>
          </a:solidFill>
          <a:ln/>
        </p:spPr>
      </p:sp>
      <p:pic>
        <p:nvPicPr>
          <p:cNvPr id="6" name="Image 0" descr="/tmp/claude-0/-home-user-zero-claude/d7e33190-c541-582c-a7cc-1156817732ce/scratchpad/deck/assets/icon_FaGraduationCap.png">    </p:cNvPr>
          <p:cNvPicPr>
            <a:picLocks noChangeAspect="1"/>
          </p:cNvPicPr>
          <p:nvPr/>
        </p:nvPicPr>
        <p:blipFill>
          <a:blip r:embed="rId2"/>
          <a:stretch>
            <a:fillRect/>
          </a:stretch>
        </p:blipFill>
        <p:spPr>
          <a:xfrm>
            <a:off x="914400" y="1837944"/>
            <a:ext cx="292608" cy="292608"/>
          </a:xfrm>
          <a:prstGeom prst="rect">
            <a:avLst/>
          </a:prstGeom>
        </p:spPr>
      </p:pic>
      <p:sp>
        <p:nvSpPr>
          <p:cNvPr id="7" name="Text 4"/>
          <p:cNvSpPr txBox="1"/>
          <p:nvPr/>
        </p:nvSpPr>
        <p:spPr>
          <a:xfrm>
            <a:off x="1444752" y="1627632"/>
            <a:ext cx="2971800" cy="713232"/>
          </a:xfrm>
          <a:prstGeom prst="rect">
            <a:avLst/>
          </a:prstGeom>
          <a:noFill/>
          <a:ln/>
        </p:spPr>
        <p:txBody>
          <a:bodyPr wrap="square" lIns="25400" tIns="25400" rIns="25400" bIns="25400" rtlCol="0" anchor="ctr"/>
          <a:lstStyle/>
          <a:p>
            <a:pPr algn="l" indent="0" marL="0">
              <a:lnSpc>
                <a:spcPct val="100000"/>
              </a:lnSpc>
              <a:buNone/>
            </a:pPr>
            <a:r>
              <a:rPr lang="en-US" sz="1500" b="1" dirty="0">
                <a:solidFill>
                  <a:srgbClr val="13294B"/>
                </a:solidFill>
                <a:latin typeface="Calibri" pitchFamily="34" charset="0"/>
                <a:ea typeface="Calibri" pitchFamily="34" charset="-122"/>
                <a:cs typeface="Calibri" pitchFamily="34" charset="-120"/>
              </a:rPr>
              <a:t>Curso:</a:t>
            </a:r>
            <a:endParaRPr lang="en-US" sz="15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Especialização em Gestão Pública (Lato Sensu)</a:t>
            </a:r>
            <a:endParaRPr lang="en-US" sz="1500" dirty="0"/>
          </a:p>
        </p:txBody>
      </p:sp>
      <p:sp>
        <p:nvSpPr>
          <p:cNvPr id="8" name="Shape 5"/>
          <p:cNvSpPr/>
          <p:nvPr/>
        </p:nvSpPr>
        <p:spPr>
          <a:xfrm>
            <a:off x="4645152" y="1554480"/>
            <a:ext cx="3858768" cy="859536"/>
          </a:xfrm>
          <a:prstGeom prst="roundRect">
            <a:avLst>
              <a:gd name="adj" fmla="val 6383"/>
            </a:avLst>
          </a:prstGeom>
          <a:solidFill>
            <a:srgbClr val="FFFFFF"/>
          </a:solidFill>
          <a:ln w="12700">
            <a:solidFill>
              <a:srgbClr val="DCD5C1"/>
            </a:solidFill>
            <a:prstDash val="solid"/>
          </a:ln>
        </p:spPr>
      </p:sp>
      <p:sp>
        <p:nvSpPr>
          <p:cNvPr id="9" name="Shape 6"/>
          <p:cNvSpPr/>
          <p:nvPr/>
        </p:nvSpPr>
        <p:spPr>
          <a:xfrm>
            <a:off x="4809744" y="1728216"/>
            <a:ext cx="512064" cy="512064"/>
          </a:xfrm>
          <a:prstGeom prst="roundRect">
            <a:avLst>
              <a:gd name="adj" fmla="val 14286"/>
            </a:avLst>
          </a:prstGeom>
          <a:solidFill>
            <a:srgbClr val="13294B"/>
          </a:solidFill>
          <a:ln/>
        </p:spPr>
      </p:sp>
      <p:pic>
        <p:nvPicPr>
          <p:cNvPr id="10" name="Image 1" descr="/tmp/claude-0/-home-user-zero-claude/d7e33190-c541-582c-a7cc-1156817732ce/scratchpad/deck/assets/icon_FaUserTie.png">    </p:cNvPr>
          <p:cNvPicPr>
            <a:picLocks noChangeAspect="1"/>
          </p:cNvPicPr>
          <p:nvPr/>
        </p:nvPicPr>
        <p:blipFill>
          <a:blip r:embed="rId3"/>
          <a:stretch>
            <a:fillRect/>
          </a:stretch>
        </p:blipFill>
        <p:spPr>
          <a:xfrm>
            <a:off x="4919472" y="1837944"/>
            <a:ext cx="292608" cy="292608"/>
          </a:xfrm>
          <a:prstGeom prst="rect">
            <a:avLst/>
          </a:prstGeom>
        </p:spPr>
      </p:pic>
      <p:sp>
        <p:nvSpPr>
          <p:cNvPr id="11" name="Text 7"/>
          <p:cNvSpPr txBox="1"/>
          <p:nvPr/>
        </p:nvSpPr>
        <p:spPr>
          <a:xfrm>
            <a:off x="5449824" y="1627632"/>
            <a:ext cx="2971800" cy="713232"/>
          </a:xfrm>
          <a:prstGeom prst="rect">
            <a:avLst/>
          </a:prstGeom>
          <a:noFill/>
          <a:ln/>
        </p:spPr>
        <p:txBody>
          <a:bodyPr wrap="square" lIns="25400" tIns="25400" rIns="25400" bIns="25400" rtlCol="0" anchor="ctr"/>
          <a:lstStyle/>
          <a:p>
            <a:pPr algn="l" indent="0" marL="0">
              <a:lnSpc>
                <a:spcPct val="100000"/>
              </a:lnSpc>
              <a:buNone/>
            </a:pPr>
            <a:r>
              <a:rPr lang="en-US" sz="1500" b="1" dirty="0">
                <a:solidFill>
                  <a:srgbClr val="13294B"/>
                </a:solidFill>
                <a:latin typeface="Calibri" pitchFamily="34" charset="0"/>
                <a:ea typeface="Calibri" pitchFamily="34" charset="-122"/>
                <a:cs typeface="Calibri" pitchFamily="34" charset="-120"/>
              </a:rPr>
              <a:t>Professor Regente:</a:t>
            </a:r>
            <a:endParaRPr lang="en-US" sz="15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Prof. Dr. Cleiton Franco</a:t>
            </a:r>
            <a:endParaRPr lang="en-US" sz="1500" dirty="0"/>
          </a:p>
        </p:txBody>
      </p:sp>
      <p:sp>
        <p:nvSpPr>
          <p:cNvPr id="12" name="Shape 8"/>
          <p:cNvSpPr/>
          <p:nvPr/>
        </p:nvSpPr>
        <p:spPr>
          <a:xfrm>
            <a:off x="640080" y="2542032"/>
            <a:ext cx="3858768" cy="859536"/>
          </a:xfrm>
          <a:prstGeom prst="roundRect">
            <a:avLst>
              <a:gd name="adj" fmla="val 6383"/>
            </a:avLst>
          </a:prstGeom>
          <a:solidFill>
            <a:srgbClr val="FFFFFF"/>
          </a:solidFill>
          <a:ln w="12700">
            <a:solidFill>
              <a:srgbClr val="DCD5C1"/>
            </a:solidFill>
            <a:prstDash val="solid"/>
          </a:ln>
        </p:spPr>
      </p:sp>
      <p:sp>
        <p:nvSpPr>
          <p:cNvPr id="13" name="Shape 9"/>
          <p:cNvSpPr/>
          <p:nvPr/>
        </p:nvSpPr>
        <p:spPr>
          <a:xfrm>
            <a:off x="804672" y="2715768"/>
            <a:ext cx="512064" cy="512064"/>
          </a:xfrm>
          <a:prstGeom prst="roundRect">
            <a:avLst>
              <a:gd name="adj" fmla="val 14286"/>
            </a:avLst>
          </a:prstGeom>
          <a:solidFill>
            <a:srgbClr val="13294B"/>
          </a:solidFill>
          <a:ln/>
        </p:spPr>
      </p:sp>
      <p:pic>
        <p:nvPicPr>
          <p:cNvPr id="14" name="Image 2" descr="/tmp/claude-0/-home-user-zero-claude/d7e33190-c541-582c-a7cc-1156817732ce/scratchpad/deck/assets/icon_FaCalendarAlt.png">    </p:cNvPr>
          <p:cNvPicPr>
            <a:picLocks noChangeAspect="1"/>
          </p:cNvPicPr>
          <p:nvPr/>
        </p:nvPicPr>
        <p:blipFill>
          <a:blip r:embed="rId4"/>
          <a:stretch>
            <a:fillRect/>
          </a:stretch>
        </p:blipFill>
        <p:spPr>
          <a:xfrm>
            <a:off x="914400" y="2825496"/>
            <a:ext cx="292608" cy="292608"/>
          </a:xfrm>
          <a:prstGeom prst="rect">
            <a:avLst/>
          </a:prstGeom>
        </p:spPr>
      </p:pic>
      <p:sp>
        <p:nvSpPr>
          <p:cNvPr id="15" name="Text 10"/>
          <p:cNvSpPr txBox="1"/>
          <p:nvPr/>
        </p:nvSpPr>
        <p:spPr>
          <a:xfrm>
            <a:off x="1444752" y="2615184"/>
            <a:ext cx="2971800" cy="713232"/>
          </a:xfrm>
          <a:prstGeom prst="rect">
            <a:avLst/>
          </a:prstGeom>
          <a:noFill/>
          <a:ln/>
        </p:spPr>
        <p:txBody>
          <a:bodyPr wrap="square" lIns="25400" tIns="25400" rIns="25400" bIns="25400" rtlCol="0" anchor="ctr"/>
          <a:lstStyle/>
          <a:p>
            <a:pPr algn="l" indent="0" marL="0">
              <a:lnSpc>
                <a:spcPct val="100000"/>
              </a:lnSpc>
              <a:buNone/>
            </a:pPr>
            <a:r>
              <a:rPr lang="en-US" sz="1500" b="1" dirty="0">
                <a:solidFill>
                  <a:srgbClr val="13294B"/>
                </a:solidFill>
                <a:latin typeface="Calibri" pitchFamily="34" charset="0"/>
                <a:ea typeface="Calibri" pitchFamily="34" charset="-122"/>
                <a:cs typeface="Calibri" pitchFamily="34" charset="-120"/>
              </a:rPr>
              <a:t>Turma &amp; Semestre:</a:t>
            </a:r>
            <a:endParaRPr lang="en-US" sz="15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2026/2 · 1º bloco</a:t>
            </a:r>
            <a:endParaRPr lang="en-US" sz="1500" dirty="0"/>
          </a:p>
        </p:txBody>
      </p:sp>
      <p:sp>
        <p:nvSpPr>
          <p:cNvPr id="16" name="Shape 11"/>
          <p:cNvSpPr/>
          <p:nvPr/>
        </p:nvSpPr>
        <p:spPr>
          <a:xfrm>
            <a:off x="4645152" y="2542032"/>
            <a:ext cx="3858768" cy="859536"/>
          </a:xfrm>
          <a:prstGeom prst="roundRect">
            <a:avLst>
              <a:gd name="adj" fmla="val 6383"/>
            </a:avLst>
          </a:prstGeom>
          <a:solidFill>
            <a:srgbClr val="FFFFFF"/>
          </a:solidFill>
          <a:ln w="12700">
            <a:solidFill>
              <a:srgbClr val="DCD5C1"/>
            </a:solidFill>
            <a:prstDash val="solid"/>
          </a:ln>
        </p:spPr>
      </p:sp>
      <p:sp>
        <p:nvSpPr>
          <p:cNvPr id="17" name="Shape 12"/>
          <p:cNvSpPr/>
          <p:nvPr/>
        </p:nvSpPr>
        <p:spPr>
          <a:xfrm>
            <a:off x="4809744" y="2715768"/>
            <a:ext cx="512064" cy="512064"/>
          </a:xfrm>
          <a:prstGeom prst="roundRect">
            <a:avLst>
              <a:gd name="adj" fmla="val 14286"/>
            </a:avLst>
          </a:prstGeom>
          <a:solidFill>
            <a:srgbClr val="13294B"/>
          </a:solidFill>
          <a:ln/>
        </p:spPr>
      </p:sp>
      <p:pic>
        <p:nvPicPr>
          <p:cNvPr id="18" name="Image 3" descr="/tmp/claude-0/-home-user-zero-claude/d7e33190-c541-582c-a7cc-1156817732ce/scratchpad/deck/assets/icon_FaClock.png">    </p:cNvPr>
          <p:cNvPicPr>
            <a:picLocks noChangeAspect="1"/>
          </p:cNvPicPr>
          <p:nvPr/>
        </p:nvPicPr>
        <p:blipFill>
          <a:blip r:embed="rId5"/>
          <a:stretch>
            <a:fillRect/>
          </a:stretch>
        </p:blipFill>
        <p:spPr>
          <a:xfrm>
            <a:off x="4919472" y="2825496"/>
            <a:ext cx="292608" cy="292608"/>
          </a:xfrm>
          <a:prstGeom prst="rect">
            <a:avLst/>
          </a:prstGeom>
        </p:spPr>
      </p:pic>
      <p:sp>
        <p:nvSpPr>
          <p:cNvPr id="19" name="Text 13"/>
          <p:cNvSpPr txBox="1"/>
          <p:nvPr/>
        </p:nvSpPr>
        <p:spPr>
          <a:xfrm>
            <a:off x="5449824" y="2615184"/>
            <a:ext cx="2971800" cy="713232"/>
          </a:xfrm>
          <a:prstGeom prst="rect">
            <a:avLst/>
          </a:prstGeom>
          <a:noFill/>
          <a:ln/>
        </p:spPr>
        <p:txBody>
          <a:bodyPr wrap="square" lIns="25400" tIns="25400" rIns="25400" bIns="25400" rtlCol="0" anchor="ctr"/>
          <a:lstStyle/>
          <a:p>
            <a:pPr algn="l" indent="0" marL="0">
              <a:lnSpc>
                <a:spcPct val="100000"/>
              </a:lnSpc>
              <a:buNone/>
            </a:pPr>
            <a:r>
              <a:rPr lang="en-US" sz="1500" b="1" dirty="0">
                <a:solidFill>
                  <a:srgbClr val="13294B"/>
                </a:solidFill>
                <a:latin typeface="Calibri" pitchFamily="34" charset="0"/>
                <a:ea typeface="Calibri" pitchFamily="34" charset="-122"/>
                <a:cs typeface="Calibri" pitchFamily="34" charset="-120"/>
              </a:rPr>
              <a:t>Período da unidade:</a:t>
            </a:r>
            <a:endParaRPr lang="en-US" sz="15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02/11 a 15/11/2026</a:t>
            </a:r>
            <a:endParaRPr lang="en-US" sz="1500" dirty="0"/>
          </a:p>
        </p:txBody>
      </p:sp>
      <p:sp>
        <p:nvSpPr>
          <p:cNvPr id="20" name="Text 14"/>
          <p:cNvSpPr txBox="1"/>
          <p:nvPr/>
        </p:nvSpPr>
        <p:spPr>
          <a:xfrm>
            <a:off x="640080" y="3547872"/>
            <a:ext cx="7863840" cy="676656"/>
          </a:xfrm>
          <a:prstGeom prst="roundRect">
            <a:avLst>
              <a:gd name="adj" fmla="val 8108"/>
            </a:avLst>
          </a:prstGeom>
          <a:solidFill>
            <a:srgbClr val="EAF3F1"/>
          </a:solidFill>
          <a:ln/>
        </p:spPr>
        <p:txBody>
          <a:bodyPr wrap="square" lIns="50800" tIns="50800" rIns="50800" bIns="50800" rtlCol="0" anchor="ctr"/>
          <a:lstStyle/>
          <a:p>
            <a:pPr algn="ctr" indent="0" marL="0">
              <a:lnSpc>
                <a:spcPct val="100000"/>
              </a:lnSpc>
              <a:buNone/>
            </a:pPr>
            <a:r>
              <a:rPr lang="en-US" sz="1500" b="1" dirty="0">
                <a:solidFill>
                  <a:srgbClr val="13294B"/>
                </a:solidFill>
                <a:latin typeface="Calibri" pitchFamily="34" charset="0"/>
                <a:ea typeface="Calibri" pitchFamily="34" charset="-122"/>
                <a:cs typeface="Calibri" pitchFamily="34" charset="-120"/>
              </a:rPr>
              <a:t>Videoaula 4 · Leitura: COELHO (2014) e LEITE JÚNIOR (2009)</a:t>
            </a:r>
            <a:endParaRPr lang="en-US" sz="1500" dirty="0"/>
          </a:p>
          <a:p>
            <a:pPr algn="ctr" indent="0" marL="0">
              <a:lnSpc>
                <a:spcPct val="100000"/>
              </a:lnSpc>
              <a:buNone/>
            </a:pPr>
            <a:r>
              <a:rPr lang="en-US" sz="1250" dirty="0">
                <a:solidFill>
                  <a:srgbClr val="5B6770"/>
                </a:solidFill>
                <a:latin typeface="Calibri" pitchFamily="34" charset="0"/>
                <a:ea typeface="Calibri" pitchFamily="34" charset="-122"/>
                <a:cs typeface="Calibri" pitchFamily="34" charset="-120"/>
              </a:rPr>
              <a:t>Página de conteúdos: Unidades 7 e 8 · A2 até 08/11 · A3 até 15/11</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417320"/>
            <a:ext cx="7680960" cy="457200"/>
          </a:xfrm>
          <a:prstGeom prst="rect">
            <a:avLst/>
          </a:prstGeom>
          <a:noFill/>
          <a:ln/>
        </p:spPr>
        <p:txBody>
          <a:bodyPr wrap="square" lIns="0" tIns="0" rIns="0" bIns="0" rtlCol="0" anchor="ctr"/>
          <a:lstStyle/>
          <a:p>
            <a:pPr algn="ctr" indent="0" marL="0">
              <a:lnSpc>
                <a:spcPct val="100000"/>
              </a:lnSpc>
              <a:buNone/>
            </a:pPr>
            <a:r>
              <a:rPr lang="en-US" sz="1600" b="1" dirty="0">
                <a:solidFill>
                  <a:srgbClr val="2A8C85"/>
                </a:solidFill>
                <a:latin typeface="Calibri" pitchFamily="34" charset="0"/>
                <a:ea typeface="Calibri" pitchFamily="34" charset="-122"/>
                <a:cs typeface="Calibri" pitchFamily="34" charset="-120"/>
              </a:rPr>
              <a:t>PARTE 1</a:t>
            </a:r>
            <a:endParaRPr lang="en-US" sz="1600" dirty="0"/>
          </a:p>
        </p:txBody>
      </p:sp>
      <p:sp>
        <p:nvSpPr>
          <p:cNvPr id="3" name="Text 1"/>
          <p:cNvSpPr txBox="1"/>
          <p:nvPr/>
        </p:nvSpPr>
        <p:spPr>
          <a:xfrm>
            <a:off x="731520" y="1874520"/>
            <a:ext cx="7680960" cy="822960"/>
          </a:xfrm>
          <a:prstGeom prst="rect">
            <a:avLst/>
          </a:prstGeom>
          <a:noFill/>
          <a:ln/>
        </p:spPr>
        <p:txBody>
          <a:bodyPr wrap="square" lIns="0" tIns="0" rIns="0" bIns="0" rtlCol="0" anchor="ctr"/>
          <a:lstStyle/>
          <a:p>
            <a:pPr algn="ctr" indent="0" marL="0">
              <a:lnSpc>
                <a:spcPct val="100000"/>
              </a:lnSpc>
              <a:buNone/>
            </a:pPr>
            <a:r>
              <a:rPr lang="en-US" sz="3600" b="1" dirty="0">
                <a:solidFill>
                  <a:srgbClr val="13294B"/>
                </a:solidFill>
                <a:latin typeface="Calibri" pitchFamily="34" charset="0"/>
                <a:ea typeface="Calibri" pitchFamily="34" charset="-122"/>
                <a:cs typeface="Calibri" pitchFamily="34" charset="-120"/>
              </a:rPr>
              <a:t>Os modelos de Estado no século XX</a:t>
            </a:r>
            <a:endParaRPr lang="en-US" sz="3600" dirty="0"/>
          </a:p>
        </p:txBody>
      </p:sp>
      <p:sp>
        <p:nvSpPr>
          <p:cNvPr id="4" name="Text 2"/>
          <p:cNvSpPr txBox="1"/>
          <p:nvPr/>
        </p:nvSpPr>
        <p:spPr>
          <a:xfrm>
            <a:off x="1188720" y="2697480"/>
            <a:ext cx="6766560" cy="457200"/>
          </a:xfrm>
          <a:prstGeom prst="rect">
            <a:avLst/>
          </a:prstGeom>
          <a:noFill/>
          <a:ln/>
        </p:spPr>
        <p:txBody>
          <a:bodyPr wrap="square" lIns="0" tIns="0" rIns="0" bIns="0" rtlCol="0" anchor="ctr"/>
          <a:lstStyle/>
          <a:p>
            <a:pPr algn="ctr" indent="0" marL="0">
              <a:lnSpc>
                <a:spcPct val="100000"/>
              </a:lnSpc>
              <a:buNone/>
            </a:pPr>
            <a:r>
              <a:rPr lang="en-US" sz="1600" dirty="0">
                <a:solidFill>
                  <a:srgbClr val="5B6770"/>
                </a:solidFill>
                <a:latin typeface="Calibri" pitchFamily="34" charset="0"/>
                <a:ea typeface="Calibri" pitchFamily="34" charset="-122"/>
                <a:cs typeface="Calibri" pitchFamily="34" charset="-120"/>
              </a:rPr>
              <a:t>Liberal, socialista, de bem-estar e neoliberal</a:t>
            </a:r>
            <a:endParaRPr lang="en-US" sz="1600" dirty="0"/>
          </a:p>
        </p:txBody>
      </p:sp>
      <p:sp>
        <p:nvSpPr>
          <p:cNvPr id="5" name="Text 3"/>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600" b="1" dirty="0">
                <a:solidFill>
                  <a:srgbClr val="13294B"/>
                </a:solidFill>
                <a:latin typeface="Calibri" pitchFamily="34" charset="0"/>
                <a:ea typeface="Calibri" pitchFamily="34" charset="-122"/>
                <a:cs typeface="Calibri" pitchFamily="34" charset="-120"/>
              </a:rPr>
              <a:t>O Estado liberal e a crise de 1929</a:t>
            </a:r>
            <a:endParaRPr lang="en-US" sz="2600" dirty="0"/>
          </a:p>
        </p:txBody>
      </p:sp>
      <p:sp>
        <p:nvSpPr>
          <p:cNvPr id="3" name="Text 1"/>
          <p:cNvSpPr txBox="1"/>
          <p:nvPr/>
        </p:nvSpPr>
        <p:spPr>
          <a:xfrm>
            <a:off x="685800" y="1280160"/>
            <a:ext cx="3566160" cy="2743200"/>
          </a:xfrm>
          <a:prstGeom prst="rect">
            <a:avLst/>
          </a:prstGeom>
          <a:noFill/>
          <a:ln/>
        </p:spPr>
        <p:txBody>
          <a:bodyPr wrap="square" lIns="50800" tIns="50800" rIns="50800" bIns="50800" rtlCol="0" anchor="t"/>
          <a:lstStyle/>
          <a:p>
            <a:pPr algn="l" marL="177800" indent="-177800">
              <a:lnSpc>
                <a:spcPct val="100000"/>
              </a:lnSpc>
              <a:spcAft>
                <a:spcPts val="600"/>
              </a:spcAft>
              <a:buSzPct val="100000"/>
              <a:buChar char="•"/>
            </a:pPr>
            <a:r>
              <a:rPr lang="en-US" sz="1700" dirty="0">
                <a:solidFill>
                  <a:srgbClr val="1F2A37"/>
                </a:solidFill>
                <a:latin typeface="Calibri" pitchFamily="34" charset="0"/>
                <a:ea typeface="Calibri" pitchFamily="34" charset="-122"/>
                <a:cs typeface="Calibri" pitchFamily="34" charset="-120"/>
              </a:rPr>
              <a:t>Estado mínimo</a:t>
            </a:r>
            <a:endParaRPr lang="en-US" sz="1700" dirty="0"/>
          </a:p>
          <a:p>
            <a:pPr algn="l" marL="177800" indent="-177800">
              <a:lnSpc>
                <a:spcPct val="100000"/>
              </a:lnSpc>
              <a:spcAft>
                <a:spcPts val="600"/>
              </a:spcAft>
              <a:buSzPct val="100000"/>
              <a:buChar char="•"/>
            </a:pPr>
            <a:r>
              <a:rPr lang="en-US" sz="1700" dirty="0">
                <a:solidFill>
                  <a:srgbClr val="1F2A37"/>
                </a:solidFill>
                <a:latin typeface="Calibri" pitchFamily="34" charset="0"/>
                <a:ea typeface="Calibri" pitchFamily="34" charset="-122"/>
                <a:cs typeface="Calibri" pitchFamily="34" charset="-120"/>
              </a:rPr>
              <a:t>Orçamento equilibrado</a:t>
            </a:r>
            <a:endParaRPr lang="en-US" sz="1700" dirty="0"/>
          </a:p>
          <a:p>
            <a:pPr algn="l" marL="177800" indent="-177800">
              <a:lnSpc>
                <a:spcPct val="100000"/>
              </a:lnSpc>
              <a:spcAft>
                <a:spcPts val="600"/>
              </a:spcAft>
              <a:buSzPct val="100000"/>
              <a:buChar char="•"/>
            </a:pPr>
            <a:r>
              <a:rPr lang="en-US" sz="1700" dirty="0">
                <a:solidFill>
                  <a:srgbClr val="1F2A37"/>
                </a:solidFill>
                <a:latin typeface="Calibri" pitchFamily="34" charset="0"/>
                <a:ea typeface="Calibri" pitchFamily="34" charset="-122"/>
                <a:cs typeface="Calibri" pitchFamily="34" charset="-120"/>
              </a:rPr>
              <a:t>Padrão-ouro e livre comércio</a:t>
            </a:r>
            <a:endParaRPr lang="en-US" sz="1700" dirty="0"/>
          </a:p>
          <a:p>
            <a:pPr algn="l" marL="177800" indent="-177800">
              <a:lnSpc>
                <a:spcPct val="100000"/>
              </a:lnSpc>
              <a:spcAft>
                <a:spcPts val="600"/>
              </a:spcAft>
              <a:buSzPct val="100000"/>
              <a:buChar char="•"/>
            </a:pPr>
            <a:r>
              <a:rPr lang="en-US" sz="1700" dirty="0">
                <a:solidFill>
                  <a:srgbClr val="1F2A37"/>
                </a:solidFill>
                <a:latin typeface="Calibri" pitchFamily="34" charset="0"/>
                <a:ea typeface="Calibri" pitchFamily="34" charset="-122"/>
                <a:cs typeface="Calibri" pitchFamily="34" charset="-120"/>
              </a:rPr>
              <a:t>Pouca proteção social</a:t>
            </a:r>
            <a:endParaRPr lang="en-US" sz="1700" dirty="0"/>
          </a:p>
        </p:txBody>
      </p:sp>
      <p:sp>
        <p:nvSpPr>
          <p:cNvPr id="4" name="Text 2"/>
          <p:cNvSpPr txBox="1"/>
          <p:nvPr/>
        </p:nvSpPr>
        <p:spPr>
          <a:xfrm>
            <a:off x="4480560" y="1280160"/>
            <a:ext cx="3977640" cy="2743200"/>
          </a:xfrm>
          <a:prstGeom prst="roundRect">
            <a:avLst>
              <a:gd name="adj" fmla="val 2000"/>
            </a:avLst>
          </a:prstGeom>
          <a:solidFill>
            <a:srgbClr val="FBF4DC"/>
          </a:solidFill>
          <a:ln/>
        </p:spPr>
        <p:txBody>
          <a:bodyPr wrap="square" lIns="152400" tIns="152400" rIns="152400" bIns="152400" rtlCol="0" anchor="ctr"/>
          <a:lstStyle/>
          <a:p>
            <a:pPr algn="l" indent="0" marL="0">
              <a:lnSpc>
                <a:spcPct val="100000"/>
              </a:lnSpc>
              <a:spcAft>
                <a:spcPts val="500"/>
              </a:spcAft>
              <a:buNone/>
            </a:pPr>
            <a:r>
              <a:rPr lang="en-US" sz="1200" b="1" dirty="0">
                <a:solidFill>
                  <a:srgbClr val="2A8C85"/>
                </a:solidFill>
                <a:latin typeface="Calibri" pitchFamily="34" charset="0"/>
                <a:ea typeface="Calibri" pitchFamily="34" charset="-122"/>
                <a:cs typeface="Calibri" pitchFamily="34" charset="-120"/>
              </a:rPr>
              <a:t>1929: A GRANDE DEPRESSÃO</a:t>
            </a:r>
            <a:endParaRPr lang="en-US" sz="1200" dirty="0"/>
          </a:p>
          <a:p>
            <a:pPr algn="l" indent="0" marL="0">
              <a:lnSpc>
                <a:spcPct val="100000"/>
              </a:lnSpc>
              <a:spcAft>
                <a:spcPts val="800"/>
              </a:spcAft>
              <a:buNone/>
            </a:pPr>
            <a:r>
              <a:rPr lang="en-US" sz="1600" dirty="0">
                <a:solidFill>
                  <a:srgbClr val="1F2A37"/>
                </a:solidFill>
                <a:latin typeface="Calibri" pitchFamily="34" charset="0"/>
                <a:ea typeface="Calibri" pitchFamily="34" charset="-122"/>
                <a:cs typeface="Calibri" pitchFamily="34" charset="-120"/>
              </a:rPr>
              <a:t>Quebra da Bolsa de Nova York, falências e desemprego em massa.</a:t>
            </a:r>
            <a:endParaRPr lang="en-US" sz="1200" dirty="0"/>
          </a:p>
          <a:p>
            <a:pPr algn="l" indent="0" marL="0">
              <a:lnSpc>
                <a:spcPct val="100000"/>
              </a:lnSpc>
              <a:buNone/>
            </a:pPr>
            <a:r>
              <a:rPr lang="en-US" sz="1600" b="1" dirty="0">
                <a:solidFill>
                  <a:srgbClr val="13294B"/>
                </a:solidFill>
                <a:latin typeface="Calibri" pitchFamily="34" charset="0"/>
                <a:ea typeface="Calibri" pitchFamily="34" charset="-122"/>
                <a:cs typeface="Calibri" pitchFamily="34" charset="-120"/>
              </a:rPr>
              <a:t>A confiança na autorregulação do mercado é abalada.</a:t>
            </a:r>
            <a:endParaRPr lang="en-US" sz="1200" dirty="0"/>
          </a:p>
        </p:txBody>
      </p:sp>
      <p:sp>
        <p:nvSpPr>
          <p:cNvPr id="5" name="Text 3"/>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O Estado socialista (1917–1991)</a:t>
            </a:r>
            <a:endParaRPr lang="en-US" sz="2800" dirty="0"/>
          </a:p>
        </p:txBody>
      </p:sp>
      <p:sp>
        <p:nvSpPr>
          <p:cNvPr id="3" name="Text 1"/>
          <p:cNvSpPr txBox="1"/>
          <p:nvPr/>
        </p:nvSpPr>
        <p:spPr>
          <a:xfrm>
            <a:off x="685800" y="1280160"/>
            <a:ext cx="2456688" cy="2103120"/>
          </a:xfrm>
          <a:prstGeom prst="roundRect">
            <a:avLst>
              <a:gd name="adj" fmla="val 2609"/>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CARACTERÍSTICAS</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Planejamento central</a:t>
            </a:r>
            <a:endParaRPr lang="en-US" sz="1100" dirty="0"/>
          </a:p>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Revolução Russa (1917), propriedade estatal, planos quinquenais (1928), partido único.</a:t>
            </a:r>
            <a:endParaRPr lang="en-US" sz="1100" dirty="0"/>
          </a:p>
        </p:txBody>
      </p:sp>
      <p:sp>
        <p:nvSpPr>
          <p:cNvPr id="4" name="Text 2"/>
          <p:cNvSpPr txBox="1"/>
          <p:nvPr/>
        </p:nvSpPr>
        <p:spPr>
          <a:xfrm>
            <a:off x="3343656" y="1280160"/>
            <a:ext cx="2456688" cy="2103120"/>
          </a:xfrm>
          <a:prstGeom prst="roundRect">
            <a:avLst>
              <a:gd name="adj" fmla="val 2609"/>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RESULTADOS</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Industrialização</a:t>
            </a:r>
            <a:endParaRPr lang="en-US" sz="1100" dirty="0"/>
          </a:p>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Industrialização acelerada da URSS.</a:t>
            </a:r>
            <a:endParaRPr lang="en-US" sz="1100" dirty="0"/>
          </a:p>
        </p:txBody>
      </p:sp>
      <p:sp>
        <p:nvSpPr>
          <p:cNvPr id="5" name="Text 3"/>
          <p:cNvSpPr txBox="1"/>
          <p:nvPr/>
        </p:nvSpPr>
        <p:spPr>
          <a:xfrm>
            <a:off x="6001512" y="1280160"/>
            <a:ext cx="2456688" cy="2103120"/>
          </a:xfrm>
          <a:prstGeom prst="roundRect">
            <a:avLst>
              <a:gd name="adj" fmla="val 2609"/>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LIMITES E FIM</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Colapso</a:t>
            </a:r>
            <a:endParaRPr lang="en-US" sz="1100" dirty="0"/>
          </a:p>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Ineficiência, escassez e falta de liberdades. Muro de Berlim (1989) e fim da URSS (1991).</a:t>
            </a:r>
            <a:endParaRPr lang="en-US" sz="1100" dirty="0"/>
          </a:p>
        </p:txBody>
      </p:sp>
      <p:sp>
        <p:nvSpPr>
          <p:cNvPr id="6" name="Text 4"/>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O Estado de bem-estar social</a:t>
            </a:r>
            <a:endParaRPr lang="en-US" sz="28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1945–1973: os anos dourados</a:t>
            </a:r>
            <a:endParaRPr lang="en-US" sz="1400" dirty="0"/>
          </a:p>
        </p:txBody>
      </p:sp>
      <p:sp>
        <p:nvSpPr>
          <p:cNvPr id="4" name="Text 2"/>
          <p:cNvSpPr txBox="1"/>
          <p:nvPr/>
        </p:nvSpPr>
        <p:spPr>
          <a:xfrm>
            <a:off x="685800" y="1280160"/>
            <a:ext cx="2456688" cy="1874520"/>
          </a:xfrm>
          <a:prstGeom prst="roundRect">
            <a:avLst>
              <a:gd name="adj" fmla="val 2927"/>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1936</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Keynes</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O desemprego vem da falta de demanda efetiva. O Estado deve gastar e investir, mesmo com déficit.</a:t>
            </a:r>
            <a:endParaRPr lang="en-US" sz="1100" dirty="0"/>
          </a:p>
        </p:txBody>
      </p:sp>
      <p:sp>
        <p:nvSpPr>
          <p:cNvPr id="5" name="Text 3"/>
          <p:cNvSpPr txBox="1"/>
          <p:nvPr/>
        </p:nvSpPr>
        <p:spPr>
          <a:xfrm>
            <a:off x="3343656" y="1280160"/>
            <a:ext cx="2456688" cy="1874520"/>
          </a:xfrm>
          <a:prstGeom prst="roundRect">
            <a:avLst>
              <a:gd name="adj" fmla="val 2927"/>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1933</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New Deal</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Obras públicas, regulação bancária e seguridade social nos EUA.</a:t>
            </a:r>
            <a:endParaRPr lang="en-US" sz="1100" dirty="0"/>
          </a:p>
        </p:txBody>
      </p:sp>
      <p:sp>
        <p:nvSpPr>
          <p:cNvPr id="6" name="Text 4"/>
          <p:cNvSpPr txBox="1"/>
          <p:nvPr/>
        </p:nvSpPr>
        <p:spPr>
          <a:xfrm>
            <a:off x="6001512" y="1280160"/>
            <a:ext cx="2456688" cy="1874520"/>
          </a:xfrm>
          <a:prstGeom prst="roundRect">
            <a:avLst>
              <a:gd name="adj" fmla="val 2927"/>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1942</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Beveridge</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Proteção social universal “do berço ao túmulo”.</a:t>
            </a:r>
            <a:endParaRPr lang="en-US" sz="1100" dirty="0"/>
          </a:p>
        </p:txBody>
      </p:sp>
      <p:sp>
        <p:nvSpPr>
          <p:cNvPr id="7" name="Text 5"/>
          <p:cNvSpPr txBox="1"/>
          <p:nvPr/>
        </p:nvSpPr>
        <p:spPr>
          <a:xfrm>
            <a:off x="685800" y="3383280"/>
            <a:ext cx="7772400" cy="640080"/>
          </a:xfrm>
          <a:prstGeom prst="roundRect">
            <a:avLst>
              <a:gd name="adj" fmla="val 11429"/>
            </a:avLst>
          </a:prstGeom>
          <a:solidFill>
            <a:srgbClr val="E6F2F0"/>
          </a:solidFill>
          <a:ln/>
        </p:spPr>
        <p:txBody>
          <a:bodyPr wrap="square" lIns="127000" tIns="127000" rIns="127000" bIns="127000" rtlCol="0" anchor="ctr"/>
          <a:lstStyle/>
          <a:p>
            <a:pPr algn="ctr" indent="0" marL="0">
              <a:lnSpc>
                <a:spcPct val="100000"/>
              </a:lnSpc>
              <a:buNone/>
            </a:pPr>
            <a:r>
              <a:rPr lang="en-US" sz="1500" dirty="0">
                <a:solidFill>
                  <a:srgbClr val="13294B"/>
                </a:solidFill>
                <a:latin typeface="Calibri" pitchFamily="34" charset="0"/>
                <a:ea typeface="Calibri" pitchFamily="34" charset="-122"/>
                <a:cs typeface="Calibri" pitchFamily="34" charset="-120"/>
              </a:rPr>
              <a:t>Crescimento, pleno emprego e direitos sociais universais nos países centrais.</a:t>
            </a:r>
            <a:endParaRPr lang="en-US" sz="1500" dirty="0"/>
          </a:p>
        </p:txBody>
      </p:sp>
      <p:sp>
        <p:nvSpPr>
          <p:cNvPr id="8" name="Text 6"/>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300" b="1" dirty="0">
                <a:solidFill>
                  <a:srgbClr val="13294B"/>
                </a:solidFill>
                <a:latin typeface="Calibri" pitchFamily="34" charset="0"/>
                <a:ea typeface="Calibri" pitchFamily="34" charset="-122"/>
                <a:cs typeface="Calibri" pitchFamily="34" charset="-120"/>
              </a:rPr>
              <a:t>Keynes: como o gasto público reage à crise</a:t>
            </a:r>
            <a:endParaRPr lang="en-US" sz="2300" dirty="0"/>
          </a:p>
        </p:txBody>
      </p:sp>
      <p:sp>
        <p:nvSpPr>
          <p:cNvPr id="3" name="Text 1"/>
          <p:cNvSpPr txBox="1"/>
          <p:nvPr/>
        </p:nvSpPr>
        <p:spPr>
          <a:xfrm>
            <a:off x="685800" y="1188720"/>
            <a:ext cx="7772400" cy="685800"/>
          </a:xfrm>
          <a:prstGeom prst="roundRect">
            <a:avLst>
              <a:gd name="adj" fmla="val 10667"/>
            </a:avLst>
          </a:prstGeom>
          <a:solidFill>
            <a:srgbClr val="E6F2F0"/>
          </a:solidFill>
          <a:ln/>
        </p:spPr>
        <p:txBody>
          <a:bodyPr wrap="square" lIns="50800" tIns="50800" rIns="50800" bIns="50800" rtlCol="0" anchor="ctr"/>
          <a:lstStyle/>
          <a:p>
            <a:pPr algn="ctr" indent="0" marL="0">
              <a:lnSpc>
                <a:spcPct val="100000"/>
              </a:lnSpc>
              <a:buNone/>
            </a:pPr>
            <a:r>
              <a:rPr lang="en-US" sz="2200" b="1" dirty="0">
                <a:solidFill>
                  <a:srgbClr val="13294B"/>
                </a:solidFill>
                <a:latin typeface="Calibri" pitchFamily="34" charset="0"/>
                <a:ea typeface="Calibri" pitchFamily="34" charset="-122"/>
                <a:cs typeface="Calibri" pitchFamily="34" charset="-120"/>
              </a:rPr>
              <a:t>Demanda agregada = C + I + G + (X − M)</a:t>
            </a:r>
            <a:endParaRPr lang="en-US" sz="2200" dirty="0"/>
          </a:p>
        </p:txBody>
      </p:sp>
      <p:sp>
        <p:nvSpPr>
          <p:cNvPr id="4" name="Text 2"/>
          <p:cNvSpPr txBox="1"/>
          <p:nvPr/>
        </p:nvSpPr>
        <p:spPr>
          <a:xfrm>
            <a:off x="685800" y="2011680"/>
            <a:ext cx="2456688" cy="1353312"/>
          </a:xfrm>
          <a:prstGeom prst="roundRect">
            <a:avLst>
              <a:gd name="adj" fmla="val 4054"/>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Na recessão</a:t>
            </a:r>
            <a:endParaRPr lang="en-US" sz="1600" dirty="0"/>
          </a:p>
          <a:p>
            <a:pPr algn="l" indent="0" marL="0">
              <a:lnSpc>
                <a:spcPct val="100000"/>
              </a:lnSpc>
              <a:buNone/>
            </a:pPr>
            <a:r>
              <a:rPr lang="en-US" sz="1300" dirty="0">
                <a:solidFill>
                  <a:srgbClr val="1F2A37"/>
                </a:solidFill>
                <a:latin typeface="Calibri" pitchFamily="34" charset="0"/>
                <a:ea typeface="Calibri" pitchFamily="34" charset="-122"/>
                <a:cs typeface="Calibri" pitchFamily="34" charset="-120"/>
              </a:rPr>
              <a:t>Consumo (C) e investimento (I) caem: as empresas vendem menos e demitem.</a:t>
            </a:r>
            <a:endParaRPr lang="en-US" sz="1600" dirty="0"/>
          </a:p>
        </p:txBody>
      </p:sp>
      <p:sp>
        <p:nvSpPr>
          <p:cNvPr id="5" name="Text 3"/>
          <p:cNvSpPr txBox="1"/>
          <p:nvPr/>
        </p:nvSpPr>
        <p:spPr>
          <a:xfrm>
            <a:off x="3343656" y="2011680"/>
            <a:ext cx="2456688" cy="1353312"/>
          </a:xfrm>
          <a:prstGeom prst="roundRect">
            <a:avLst>
              <a:gd name="adj" fmla="val 4054"/>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O papel de G</a:t>
            </a:r>
            <a:endParaRPr lang="en-US" sz="1600" dirty="0"/>
          </a:p>
          <a:p>
            <a:pPr algn="l" indent="0" marL="0">
              <a:lnSpc>
                <a:spcPct val="100000"/>
              </a:lnSpc>
              <a:buNone/>
            </a:pPr>
            <a:r>
              <a:rPr lang="en-US" sz="1300" dirty="0">
                <a:solidFill>
                  <a:srgbClr val="1F2A37"/>
                </a:solidFill>
                <a:latin typeface="Calibri" pitchFamily="34" charset="0"/>
                <a:ea typeface="Calibri" pitchFamily="34" charset="-122"/>
                <a:cs typeface="Calibri" pitchFamily="34" charset="-120"/>
              </a:rPr>
              <a:t>O gasto do governo (G) compensa a queda e sustenta a produção e o emprego.</a:t>
            </a:r>
            <a:endParaRPr lang="en-US" sz="1600" dirty="0"/>
          </a:p>
        </p:txBody>
      </p:sp>
      <p:sp>
        <p:nvSpPr>
          <p:cNvPr id="6" name="Text 4"/>
          <p:cNvSpPr txBox="1"/>
          <p:nvPr/>
        </p:nvSpPr>
        <p:spPr>
          <a:xfrm>
            <a:off x="6001512" y="2011680"/>
            <a:ext cx="2456688" cy="1353312"/>
          </a:xfrm>
          <a:prstGeom prst="roundRect">
            <a:avLst>
              <a:gd name="adj" fmla="val 4054"/>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Multiplicador</a:t>
            </a:r>
            <a:endParaRPr lang="en-US" sz="1600" dirty="0"/>
          </a:p>
          <a:p>
            <a:pPr algn="l" indent="0" marL="0">
              <a:lnSpc>
                <a:spcPct val="100000"/>
              </a:lnSpc>
              <a:buNone/>
            </a:pPr>
            <a:r>
              <a:rPr lang="en-US" sz="1300" dirty="0">
                <a:solidFill>
                  <a:srgbClr val="1F2A37"/>
                </a:solidFill>
                <a:latin typeface="Calibri" pitchFamily="34" charset="0"/>
                <a:ea typeface="Calibri" pitchFamily="34" charset="-122"/>
                <a:cs typeface="Calibri" pitchFamily="34" charset="-120"/>
              </a:rPr>
              <a:t>Cada real gasto vira renda de alguém, que também gasta: a renda total cresce mais que o gasto inicial.</a:t>
            </a:r>
            <a:endParaRPr lang="en-US" sz="1600" dirty="0"/>
          </a:p>
        </p:txBody>
      </p:sp>
      <p:sp>
        <p:nvSpPr>
          <p:cNvPr id="7" name="Shape 5"/>
          <p:cNvSpPr/>
          <p:nvPr/>
        </p:nvSpPr>
        <p:spPr>
          <a:xfrm>
            <a:off x="685800" y="3493008"/>
            <a:ext cx="7772400" cy="960120"/>
          </a:xfrm>
          <a:prstGeom prst="roundRect">
            <a:avLst>
              <a:gd name="adj" fmla="val 7619"/>
            </a:avLst>
          </a:prstGeom>
          <a:solidFill>
            <a:srgbClr val="FBF4DC"/>
          </a:solidFill>
          <a:ln/>
        </p:spPr>
      </p:sp>
      <p:sp>
        <p:nvSpPr>
          <p:cNvPr id="8" name="Shape 6"/>
          <p:cNvSpPr/>
          <p:nvPr/>
        </p:nvSpPr>
        <p:spPr>
          <a:xfrm>
            <a:off x="850392" y="3657600"/>
            <a:ext cx="457200" cy="457200"/>
          </a:xfrm>
          <a:prstGeom prst="roundRect">
            <a:avLst>
              <a:gd name="adj" fmla="val 16000"/>
            </a:avLst>
          </a:prstGeom>
          <a:solidFill>
            <a:srgbClr val="E9C85C"/>
          </a:solidFill>
          <a:ln/>
        </p:spPr>
      </p:sp>
      <p:pic>
        <p:nvPicPr>
          <p:cNvPr id="9" name="Image 0" descr="/tmp/claude-0/-home-user-zero-claude/d7e33190-c541-582c-a7cc-1156817732ce/scratchpad/deck/assets/icon_FaLightbulb.png">    </p:cNvPr>
          <p:cNvPicPr>
            <a:picLocks noChangeAspect="1"/>
          </p:cNvPicPr>
          <p:nvPr/>
        </p:nvPicPr>
        <p:blipFill>
          <a:blip r:embed="rId2"/>
          <a:stretch>
            <a:fillRect/>
          </a:stretch>
        </p:blipFill>
        <p:spPr>
          <a:xfrm>
            <a:off x="950976" y="3758184"/>
            <a:ext cx="256032" cy="256032"/>
          </a:xfrm>
          <a:prstGeom prst="rect">
            <a:avLst/>
          </a:prstGeom>
        </p:spPr>
      </p:pic>
      <p:sp>
        <p:nvSpPr>
          <p:cNvPr id="10" name="Text 7"/>
          <p:cNvSpPr txBox="1"/>
          <p:nvPr/>
        </p:nvSpPr>
        <p:spPr>
          <a:xfrm>
            <a:off x="1417320" y="3602736"/>
            <a:ext cx="6903720" cy="740664"/>
          </a:xfrm>
          <a:prstGeom prst="rect">
            <a:avLst/>
          </a:prstGeom>
          <a:noFill/>
          <a:ln/>
        </p:spPr>
        <p:txBody>
          <a:bodyPr wrap="square" lIns="25400" tIns="25400" rIns="25400" bIns="25400" rtlCol="0" anchor="t"/>
          <a:lstStyle/>
          <a:p>
            <a:pPr algn="l" indent="0" marL="0">
              <a:lnSpc>
                <a:spcPct val="100000"/>
              </a:lnSpc>
              <a:spcAft>
                <a:spcPts val="200"/>
              </a:spcAft>
              <a:buNone/>
            </a:pPr>
            <a:r>
              <a:rPr lang="en-US" sz="1100" b="1" dirty="0">
                <a:solidFill>
                  <a:srgbClr val="A8841A"/>
                </a:solidFill>
                <a:latin typeface="Calibri" pitchFamily="34" charset="0"/>
                <a:ea typeface="Calibri" pitchFamily="34" charset="-122"/>
                <a:cs typeface="Calibri" pitchFamily="34" charset="-120"/>
              </a:rPr>
              <a:t>EXEMPLO NA GESTÃO PÚBLICA</a:t>
            </a:r>
            <a:endParaRPr lang="en-US" sz="1100" dirty="0"/>
          </a:p>
          <a:p>
            <a:pPr algn="l" indent="0" marL="0">
              <a:lnSpc>
                <a:spcPct val="100000"/>
              </a:lnSpc>
              <a:spcAft>
                <a:spcPts val="300"/>
              </a:spcAft>
              <a:buNone/>
            </a:pPr>
            <a:r>
              <a:rPr lang="en-US" sz="1400" b="1" dirty="0">
                <a:solidFill>
                  <a:srgbClr val="13294B"/>
                </a:solidFill>
                <a:latin typeface="Calibri" pitchFamily="34" charset="0"/>
                <a:ea typeface="Calibri" pitchFamily="34" charset="-122"/>
                <a:cs typeface="Calibri" pitchFamily="34" charset="-120"/>
              </a:rPr>
              <a:t>Auxílio emergencial (2020)</a:t>
            </a:r>
            <a:endParaRPr lang="en-US" sz="1100" dirty="0"/>
          </a:p>
          <a:p>
            <a:pPr algn="l" indent="0" marL="0">
              <a:lnSpc>
                <a:spcPct val="100000"/>
              </a:lnSpc>
              <a:buNone/>
            </a:pPr>
            <a:r>
              <a:rPr lang="en-US" sz="1300" dirty="0">
                <a:solidFill>
                  <a:srgbClr val="1F2A37"/>
                </a:solidFill>
                <a:latin typeface="Calibri" pitchFamily="34" charset="0"/>
                <a:ea typeface="Calibri" pitchFamily="34" charset="-122"/>
                <a:cs typeface="Calibri" pitchFamily="34" charset="-120"/>
              </a:rPr>
              <a:t>Transferência de renda na pandemia que sustentou o consumo das famílias.</a:t>
            </a:r>
            <a:endParaRPr lang="en-US" sz="1100" dirty="0"/>
          </a:p>
        </p:txBody>
      </p:sp>
      <p:sp>
        <p:nvSpPr>
          <p:cNvPr id="11" name="Text 8"/>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O multiplicador keynesiano</a:t>
            </a:r>
            <a:endParaRPr lang="en-US" sz="28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Um gasto público inicial de R$ 100 milhões</a:t>
            </a:r>
            <a:endParaRPr lang="en-US" sz="1400" dirty="0"/>
          </a:p>
        </p:txBody>
      </p:sp>
      <p:sp>
        <p:nvSpPr>
          <p:cNvPr id="4" name="Shape 2"/>
          <p:cNvSpPr/>
          <p:nvPr/>
        </p:nvSpPr>
        <p:spPr>
          <a:xfrm>
            <a:off x="548640" y="1207008"/>
            <a:ext cx="5349240" cy="2953512"/>
          </a:xfrm>
          <a:prstGeom prst="roundRect">
            <a:avLst>
              <a:gd name="adj" fmla="val 1858"/>
            </a:avLst>
          </a:prstGeom>
          <a:solidFill>
            <a:srgbClr val="FFFFFF"/>
          </a:solidFill>
          <a:ln w="12700">
            <a:solidFill>
              <a:srgbClr val="DCD5C1"/>
            </a:solidFill>
            <a:prstDash val="solid"/>
          </a:ln>
        </p:spPr>
      </p:sp>
      <p:sp>
        <p:nvSpPr>
          <p:cNvPr id="5" name="Text 3"/>
          <p:cNvSpPr txBox="1"/>
          <p:nvPr/>
        </p:nvSpPr>
        <p:spPr>
          <a:xfrm>
            <a:off x="658368" y="1261872"/>
            <a:ext cx="5120640" cy="310896"/>
          </a:xfrm>
          <a:prstGeom prst="rect">
            <a:avLst/>
          </a:prstGeom>
          <a:noFill/>
          <a:ln/>
        </p:spPr>
        <p:txBody>
          <a:bodyPr wrap="square" lIns="0" tIns="0" rIns="0" bIns="0" rtlCol="0" anchor="ctr"/>
          <a:lstStyle/>
          <a:p>
            <a:pPr algn="l" indent="0" marL="0">
              <a:lnSpc>
                <a:spcPct val="100000"/>
              </a:lnSpc>
              <a:buNone/>
            </a:pPr>
            <a:r>
              <a:rPr lang="en-US" sz="1300" b="1" dirty="0">
                <a:solidFill>
                  <a:srgbClr val="13294B"/>
                </a:solidFill>
                <a:latin typeface="Calibri" pitchFamily="34" charset="0"/>
                <a:ea typeface="Calibri" pitchFamily="34" charset="-122"/>
                <a:cs typeface="Calibri" pitchFamily="34" charset="-120"/>
              </a:rPr>
              <a:t>Nova renda gerada em cada rodada (R$ milhões)</a:t>
            </a:r>
            <a:endParaRPr lang="en-US" sz="1300" dirty="0"/>
          </a:p>
        </p:txBody>
      </p:sp>
      <p:graphicFrame>
        <p:nvGraphicFramePr>
          <p:cNvPr id="6" name="Chart 0" descr=""/>
          <p:cNvGraphicFramePr/>
          <p:nvPr/>
        </p:nvGraphicFramePr>
        <p:xfrm>
          <a:off x="658368" y="1591056"/>
          <a:ext cx="5138928" cy="2496312"/>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6035040" y="1207008"/>
            <a:ext cx="2560320" cy="2953512"/>
          </a:xfrm>
          <a:prstGeom prst="roundRect">
            <a:avLst>
              <a:gd name="adj" fmla="val 2143"/>
            </a:avLst>
          </a:prstGeom>
          <a:solidFill>
            <a:srgbClr val="E6F2F0"/>
          </a:solidFill>
          <a:ln/>
        </p:spPr>
        <p:txBody>
          <a:bodyPr wrap="square" lIns="114300" tIns="114300" rIns="114300" bIns="114300" rtlCol="0" anchor="t"/>
          <a:lstStyle/>
          <a:p>
            <a:pPr algn="l" indent="0" marL="0">
              <a:lnSpc>
                <a:spcPct val="100000"/>
              </a:lnSpc>
              <a:spcAft>
                <a:spcPts val="400"/>
              </a:spcAft>
              <a:buNone/>
            </a:pPr>
            <a:r>
              <a:rPr lang="en-US" sz="1100" b="1" dirty="0">
                <a:solidFill>
                  <a:srgbClr val="2A8C85"/>
                </a:solidFill>
                <a:latin typeface="Calibri" pitchFamily="34" charset="0"/>
                <a:ea typeface="Calibri" pitchFamily="34" charset="-122"/>
                <a:cs typeface="Calibri" pitchFamily="34" charset="-120"/>
              </a:rPr>
              <a:t>COMO LER O GRÁFICO</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Quem recebe gasta 80% e poupa 20%.</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Cada rodada gera nova renda para outras pessoas.</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Somando todas, a renda cresce até R$ 500 milhões: 100 ÷ (1 − 0,8).</a:t>
            </a:r>
            <a:endParaRPr lang="en-US" sz="1100" dirty="0"/>
          </a:p>
        </p:txBody>
      </p:sp>
      <p:sp>
        <p:nvSpPr>
          <p:cNvPr id="8" name="Text 5"/>
          <p:cNvSpPr txBox="1"/>
          <p:nvPr/>
        </p:nvSpPr>
        <p:spPr>
          <a:xfrm>
            <a:off x="548640" y="4206240"/>
            <a:ext cx="8046720" cy="274320"/>
          </a:xfrm>
          <a:prstGeom prst="rect">
            <a:avLst/>
          </a:prstGeom>
          <a:noFill/>
          <a:ln/>
        </p:spPr>
        <p:txBody>
          <a:bodyPr wrap="square" lIns="0" tIns="0" rIns="0" bIns="0" rtlCol="0" anchor="ctr"/>
          <a:lstStyle/>
          <a:p>
            <a:pPr algn="l" indent="0" marL="0">
              <a:lnSpc>
                <a:spcPct val="100000"/>
              </a:lnSpc>
              <a:buNone/>
            </a:pPr>
            <a:r>
              <a:rPr lang="en-US" sz="1000" i="1" dirty="0">
                <a:solidFill>
                  <a:srgbClr val="5B6770"/>
                </a:solidFill>
                <a:latin typeface="Calibri" pitchFamily="34" charset="0"/>
                <a:ea typeface="Calibri" pitchFamily="34" charset="-122"/>
                <a:cs typeface="Calibri" pitchFamily="34" charset="-120"/>
              </a:rPr>
              <a:t>Dados hipotéticos, para fins didáticos. Propensão marginal a consumir = 0,8.</a:t>
            </a:r>
            <a:endParaRPr lang="en-US" sz="1000" dirty="0"/>
          </a:p>
        </p:txBody>
      </p:sp>
      <p:sp>
        <p:nvSpPr>
          <p:cNvPr id="9" name="Text 6"/>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Três regimes de bem-estar</a:t>
            </a:r>
            <a:endParaRPr lang="en-US" sz="28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Classificação de Esping-Andersen (1990)</a:t>
            </a:r>
            <a:endParaRPr lang="en-US" sz="1400" dirty="0"/>
          </a:p>
        </p:txBody>
      </p:sp>
      <p:sp>
        <p:nvSpPr>
          <p:cNvPr id="4" name="Text 2"/>
          <p:cNvSpPr txBox="1"/>
          <p:nvPr/>
        </p:nvSpPr>
        <p:spPr>
          <a:xfrm>
            <a:off x="685800" y="1280160"/>
            <a:ext cx="2456688" cy="1874520"/>
          </a:xfrm>
          <a:prstGeom prst="roundRect">
            <a:avLst>
              <a:gd name="adj" fmla="val 2927"/>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EX.: EUA, REINO UNIDO</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Liberal</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Benefícios focalizados nos mais pobres; forte papel do mercado (planos privados).</a:t>
            </a:r>
            <a:endParaRPr lang="en-US" sz="1100" dirty="0"/>
          </a:p>
        </p:txBody>
      </p:sp>
      <p:sp>
        <p:nvSpPr>
          <p:cNvPr id="5" name="Text 3"/>
          <p:cNvSpPr txBox="1"/>
          <p:nvPr/>
        </p:nvSpPr>
        <p:spPr>
          <a:xfrm>
            <a:off x="3343656" y="1280160"/>
            <a:ext cx="2456688" cy="1874520"/>
          </a:xfrm>
          <a:prstGeom prst="roundRect">
            <a:avLst>
              <a:gd name="adj" fmla="val 2927"/>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EX.: ALEMANHA, FRANÇA</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Conservador-corporativo</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Seguros sociais ligados ao emprego e às contribuições do trabalhador.</a:t>
            </a:r>
            <a:endParaRPr lang="en-US" sz="1100" dirty="0"/>
          </a:p>
        </p:txBody>
      </p:sp>
      <p:sp>
        <p:nvSpPr>
          <p:cNvPr id="6" name="Text 4"/>
          <p:cNvSpPr txBox="1"/>
          <p:nvPr/>
        </p:nvSpPr>
        <p:spPr>
          <a:xfrm>
            <a:off x="6001512" y="1280160"/>
            <a:ext cx="2456688" cy="1874520"/>
          </a:xfrm>
          <a:prstGeom prst="roundRect">
            <a:avLst>
              <a:gd name="adj" fmla="val 2927"/>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EX.: SUÉCIA, DINAMARCA</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Social-democrata</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Direitos universais financiados por impostos, para todos os cidadãos.</a:t>
            </a:r>
            <a:endParaRPr lang="en-US" sz="1100" dirty="0"/>
          </a:p>
        </p:txBody>
      </p:sp>
      <p:sp>
        <p:nvSpPr>
          <p:cNvPr id="7" name="Text 5"/>
          <p:cNvSpPr txBox="1"/>
          <p:nvPr/>
        </p:nvSpPr>
        <p:spPr>
          <a:xfrm>
            <a:off x="685800" y="3383280"/>
            <a:ext cx="7772400" cy="731520"/>
          </a:xfrm>
          <a:prstGeom prst="roundRect">
            <a:avLst>
              <a:gd name="adj" fmla="val 10000"/>
            </a:avLst>
          </a:prstGeom>
          <a:solidFill>
            <a:srgbClr val="E6F2F0"/>
          </a:solidFill>
          <a:ln/>
        </p:spPr>
        <p:txBody>
          <a:bodyPr wrap="square" lIns="127000" tIns="127000" rIns="127000" bIns="127000" rtlCol="0" anchor="ctr"/>
          <a:lstStyle/>
          <a:p>
            <a:pPr algn="ctr" indent="0" marL="0">
              <a:lnSpc>
                <a:spcPct val="100000"/>
              </a:lnSpc>
              <a:buNone/>
            </a:pPr>
            <a:r>
              <a:rPr lang="en-US" sz="1350" dirty="0">
                <a:solidFill>
                  <a:srgbClr val="13294B"/>
                </a:solidFill>
                <a:latin typeface="Calibri" pitchFamily="34" charset="0"/>
                <a:ea typeface="Calibri" pitchFamily="34" charset="-122"/>
                <a:cs typeface="Calibri" pitchFamily="34" charset="-120"/>
              </a:rPr>
              <a:t>O Brasil combina traços: previdência contributiva (corporativo), SUS universal (social-democrata) e programas focalizados (liberal).</a:t>
            </a:r>
            <a:endParaRPr lang="en-US" sz="1350" dirty="0"/>
          </a:p>
        </p:txBody>
      </p:sp>
      <p:sp>
        <p:nvSpPr>
          <p:cNvPr id="8" name="Text 6"/>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Quanto cada regime gasta</a:t>
            </a:r>
            <a:endParaRPr lang="en-US" sz="28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Gasto social público em países da OCDE</a:t>
            </a:r>
            <a:endParaRPr lang="en-US" sz="1400" dirty="0"/>
          </a:p>
        </p:txBody>
      </p:sp>
      <p:sp>
        <p:nvSpPr>
          <p:cNvPr id="4" name="Shape 2"/>
          <p:cNvSpPr/>
          <p:nvPr/>
        </p:nvSpPr>
        <p:spPr>
          <a:xfrm>
            <a:off x="548640" y="1207008"/>
            <a:ext cx="5349240" cy="2953512"/>
          </a:xfrm>
          <a:prstGeom prst="roundRect">
            <a:avLst>
              <a:gd name="adj" fmla="val 1858"/>
            </a:avLst>
          </a:prstGeom>
          <a:solidFill>
            <a:srgbClr val="FFFFFF"/>
          </a:solidFill>
          <a:ln w="12700">
            <a:solidFill>
              <a:srgbClr val="DCD5C1"/>
            </a:solidFill>
            <a:prstDash val="solid"/>
          </a:ln>
        </p:spPr>
      </p:sp>
      <p:sp>
        <p:nvSpPr>
          <p:cNvPr id="5" name="Text 3"/>
          <p:cNvSpPr txBox="1"/>
          <p:nvPr/>
        </p:nvSpPr>
        <p:spPr>
          <a:xfrm>
            <a:off x="658368" y="1261872"/>
            <a:ext cx="5120640" cy="310896"/>
          </a:xfrm>
          <a:prstGeom prst="rect">
            <a:avLst/>
          </a:prstGeom>
          <a:noFill/>
          <a:ln/>
        </p:spPr>
        <p:txBody>
          <a:bodyPr wrap="square" lIns="0" tIns="0" rIns="0" bIns="0" rtlCol="0" anchor="ctr"/>
          <a:lstStyle/>
          <a:p>
            <a:pPr algn="l" indent="0" marL="0">
              <a:lnSpc>
                <a:spcPct val="100000"/>
              </a:lnSpc>
              <a:buNone/>
            </a:pPr>
            <a:r>
              <a:rPr lang="en-US" sz="1300" b="1" dirty="0">
                <a:solidFill>
                  <a:srgbClr val="13294B"/>
                </a:solidFill>
                <a:latin typeface="Calibri" pitchFamily="34" charset="0"/>
                <a:ea typeface="Calibri" pitchFamily="34" charset="-122"/>
                <a:cs typeface="Calibri" pitchFamily="34" charset="-120"/>
              </a:rPr>
              <a:t>Gasto social público (% do PIB), 2019</a:t>
            </a:r>
            <a:endParaRPr lang="en-US" sz="1300" dirty="0"/>
          </a:p>
        </p:txBody>
      </p:sp>
      <p:graphicFrame>
        <p:nvGraphicFramePr>
          <p:cNvPr id="6" name="Chart 0" descr=""/>
          <p:cNvGraphicFramePr/>
          <p:nvPr/>
        </p:nvGraphicFramePr>
        <p:xfrm>
          <a:off x="658368" y="1591056"/>
          <a:ext cx="5138928" cy="2496312"/>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6035040" y="1207008"/>
            <a:ext cx="2560320" cy="2953512"/>
          </a:xfrm>
          <a:prstGeom prst="roundRect">
            <a:avLst>
              <a:gd name="adj" fmla="val 2143"/>
            </a:avLst>
          </a:prstGeom>
          <a:solidFill>
            <a:srgbClr val="E6F2F0"/>
          </a:solidFill>
          <a:ln/>
        </p:spPr>
        <p:txBody>
          <a:bodyPr wrap="square" lIns="114300" tIns="114300" rIns="114300" bIns="114300" rtlCol="0" anchor="t"/>
          <a:lstStyle/>
          <a:p>
            <a:pPr algn="l" indent="0" marL="0">
              <a:lnSpc>
                <a:spcPct val="100000"/>
              </a:lnSpc>
              <a:spcAft>
                <a:spcPts val="400"/>
              </a:spcAft>
              <a:buNone/>
            </a:pPr>
            <a:r>
              <a:rPr lang="en-US" sz="1100" b="1" dirty="0">
                <a:solidFill>
                  <a:srgbClr val="2A8C85"/>
                </a:solidFill>
                <a:latin typeface="Calibri" pitchFamily="34" charset="0"/>
                <a:ea typeface="Calibri" pitchFamily="34" charset="-122"/>
                <a:cs typeface="Calibri" pitchFamily="34" charset="-120"/>
              </a:rPr>
              <a:t>COMO LER O GRÁFICO</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Os regimes liberais gastam menos e deixam mais espaço ao mercado.</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O volume não diz tudo: na Suécia o acesso é universal; na Alemanha, ligado às contribuições.</a:t>
            </a:r>
            <a:endParaRPr lang="en-US" sz="1100" dirty="0"/>
          </a:p>
        </p:txBody>
      </p:sp>
      <p:sp>
        <p:nvSpPr>
          <p:cNvPr id="8" name="Text 5"/>
          <p:cNvSpPr txBox="1"/>
          <p:nvPr/>
        </p:nvSpPr>
        <p:spPr>
          <a:xfrm>
            <a:off x="548640" y="4206240"/>
            <a:ext cx="8046720" cy="274320"/>
          </a:xfrm>
          <a:prstGeom prst="rect">
            <a:avLst/>
          </a:prstGeom>
          <a:noFill/>
          <a:ln/>
        </p:spPr>
        <p:txBody>
          <a:bodyPr wrap="square" lIns="0" tIns="0" rIns="0" bIns="0" rtlCol="0" anchor="ctr"/>
          <a:lstStyle/>
          <a:p>
            <a:pPr algn="l" indent="0" marL="0">
              <a:lnSpc>
                <a:spcPct val="100000"/>
              </a:lnSpc>
              <a:buNone/>
            </a:pPr>
            <a:r>
              <a:rPr lang="en-US" sz="1000" i="1" dirty="0">
                <a:solidFill>
                  <a:srgbClr val="5B6770"/>
                </a:solidFill>
                <a:latin typeface="Calibri" pitchFamily="34" charset="0"/>
                <a:ea typeface="Calibri" pitchFamily="34" charset="-122"/>
                <a:cs typeface="Calibri" pitchFamily="34" charset="-120"/>
              </a:rPr>
              <a:t>Fonte: OCDE, Social Expenditure Database (SOCX). Valores aproximados.</a:t>
            </a:r>
            <a:endParaRPr lang="en-US" sz="1000" dirty="0"/>
          </a:p>
        </p:txBody>
      </p:sp>
      <p:sp>
        <p:nvSpPr>
          <p:cNvPr id="9" name="Text 6"/>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600" b="1" dirty="0">
                <a:solidFill>
                  <a:srgbClr val="13294B"/>
                </a:solidFill>
                <a:latin typeface="Calibri" pitchFamily="34" charset="0"/>
                <a:ea typeface="Calibri" pitchFamily="34" charset="-122"/>
                <a:cs typeface="Calibri" pitchFamily="34" charset="-120"/>
              </a:rPr>
              <a:t>Por que o bem-estar entrou em crise?</a:t>
            </a:r>
            <a:endParaRPr lang="en-US" sz="26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Anos 1970</a:t>
            </a:r>
            <a:endParaRPr lang="en-US" sz="1400" dirty="0"/>
          </a:p>
        </p:txBody>
      </p:sp>
      <p:sp>
        <p:nvSpPr>
          <p:cNvPr id="4" name="Shape 2"/>
          <p:cNvSpPr/>
          <p:nvPr/>
        </p:nvSpPr>
        <p:spPr>
          <a:xfrm>
            <a:off x="685800" y="1234440"/>
            <a:ext cx="3749040" cy="1280160"/>
          </a:xfrm>
          <a:prstGeom prst="roundRect">
            <a:avLst>
              <a:gd name="adj" fmla="val 4286"/>
            </a:avLst>
          </a:prstGeom>
          <a:solidFill>
            <a:srgbClr val="FFFFFF"/>
          </a:solidFill>
          <a:ln w="12700">
            <a:solidFill>
              <a:srgbClr val="DCD5C1"/>
            </a:solidFill>
            <a:prstDash val="solid"/>
          </a:ln>
        </p:spPr>
      </p:sp>
      <p:sp>
        <p:nvSpPr>
          <p:cNvPr id="5" name="Shape 3"/>
          <p:cNvSpPr/>
          <p:nvPr/>
        </p:nvSpPr>
        <p:spPr>
          <a:xfrm>
            <a:off x="822960" y="1389888"/>
            <a:ext cx="457200" cy="457200"/>
          </a:xfrm>
          <a:prstGeom prst="roundRect">
            <a:avLst>
              <a:gd name="adj" fmla="val 16000"/>
            </a:avLst>
          </a:prstGeom>
          <a:solidFill>
            <a:srgbClr val="13294B"/>
          </a:solidFill>
          <a:ln/>
        </p:spPr>
      </p:sp>
      <p:pic>
        <p:nvPicPr>
          <p:cNvPr id="6" name="Image 0" descr="/tmp/claude-0/-home-user-zero-claude/d7e33190-c541-582c-a7cc-1156817732ce/scratchpad/deck/assets/icon_FaGasPump.png">    </p:cNvPr>
          <p:cNvPicPr>
            <a:picLocks noChangeAspect="1"/>
          </p:cNvPicPr>
          <p:nvPr/>
        </p:nvPicPr>
        <p:blipFill>
          <a:blip r:embed="rId2"/>
          <a:stretch>
            <a:fillRect/>
          </a:stretch>
        </p:blipFill>
        <p:spPr>
          <a:xfrm>
            <a:off x="923544" y="1490472"/>
            <a:ext cx="256032" cy="256032"/>
          </a:xfrm>
          <a:prstGeom prst="rect">
            <a:avLst/>
          </a:prstGeom>
        </p:spPr>
      </p:pic>
      <p:sp>
        <p:nvSpPr>
          <p:cNvPr id="7" name="Text 4"/>
          <p:cNvSpPr txBox="1"/>
          <p:nvPr/>
        </p:nvSpPr>
        <p:spPr>
          <a:xfrm>
            <a:off x="1371600" y="1307592"/>
            <a:ext cx="2971800" cy="1133856"/>
          </a:xfrm>
          <a:prstGeom prst="rect">
            <a:avLst/>
          </a:prstGeom>
          <a:noFill/>
          <a:ln/>
        </p:spPr>
        <p:txBody>
          <a:bodyPr wrap="square" lIns="38100" tIns="38100" rIns="38100" bIns="38100" rtlCol="0" anchor="t"/>
          <a:lstStyle/>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Choques do petróleo</a:t>
            </a:r>
            <a:endParaRPr lang="en-US" sz="16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1973 e 1979: custos e preços disparam.</a:t>
            </a:r>
            <a:endParaRPr lang="en-US" sz="1600" dirty="0"/>
          </a:p>
        </p:txBody>
      </p:sp>
      <p:sp>
        <p:nvSpPr>
          <p:cNvPr id="8" name="Shape 5"/>
          <p:cNvSpPr/>
          <p:nvPr/>
        </p:nvSpPr>
        <p:spPr>
          <a:xfrm>
            <a:off x="4709160" y="1234440"/>
            <a:ext cx="3749040" cy="1280160"/>
          </a:xfrm>
          <a:prstGeom prst="roundRect">
            <a:avLst>
              <a:gd name="adj" fmla="val 4286"/>
            </a:avLst>
          </a:prstGeom>
          <a:solidFill>
            <a:srgbClr val="FFFFFF"/>
          </a:solidFill>
          <a:ln w="12700">
            <a:solidFill>
              <a:srgbClr val="DCD5C1"/>
            </a:solidFill>
            <a:prstDash val="solid"/>
          </a:ln>
        </p:spPr>
      </p:sp>
      <p:sp>
        <p:nvSpPr>
          <p:cNvPr id="9" name="Shape 6"/>
          <p:cNvSpPr/>
          <p:nvPr/>
        </p:nvSpPr>
        <p:spPr>
          <a:xfrm>
            <a:off x="4846320" y="1389888"/>
            <a:ext cx="457200" cy="457200"/>
          </a:xfrm>
          <a:prstGeom prst="roundRect">
            <a:avLst>
              <a:gd name="adj" fmla="val 16000"/>
            </a:avLst>
          </a:prstGeom>
          <a:solidFill>
            <a:srgbClr val="13294B"/>
          </a:solidFill>
          <a:ln/>
        </p:spPr>
      </p:sp>
      <p:pic>
        <p:nvPicPr>
          <p:cNvPr id="10" name="Image 1" descr="/tmp/claude-0/-home-user-zero-claude/d7e33190-c541-582c-a7cc-1156817732ce/scratchpad/deck/assets/icon_FaChartLine.png">    </p:cNvPr>
          <p:cNvPicPr>
            <a:picLocks noChangeAspect="1"/>
          </p:cNvPicPr>
          <p:nvPr/>
        </p:nvPicPr>
        <p:blipFill>
          <a:blip r:embed="rId3"/>
          <a:stretch>
            <a:fillRect/>
          </a:stretch>
        </p:blipFill>
        <p:spPr>
          <a:xfrm>
            <a:off x="4946904" y="1490472"/>
            <a:ext cx="256032" cy="256032"/>
          </a:xfrm>
          <a:prstGeom prst="rect">
            <a:avLst/>
          </a:prstGeom>
        </p:spPr>
      </p:pic>
      <p:sp>
        <p:nvSpPr>
          <p:cNvPr id="11" name="Text 7"/>
          <p:cNvSpPr txBox="1"/>
          <p:nvPr/>
        </p:nvSpPr>
        <p:spPr>
          <a:xfrm>
            <a:off x="5394960" y="1307592"/>
            <a:ext cx="2971800" cy="1133856"/>
          </a:xfrm>
          <a:prstGeom prst="rect">
            <a:avLst/>
          </a:prstGeom>
          <a:noFill/>
          <a:ln/>
        </p:spPr>
        <p:txBody>
          <a:bodyPr wrap="square" lIns="38100" tIns="38100" rIns="38100" bIns="38100" rtlCol="0" anchor="t"/>
          <a:lstStyle/>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Estagflação</a:t>
            </a:r>
            <a:endParaRPr lang="en-US" sz="16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Estagnação com inflação: o remédio keynesiano deixa de funcionar.</a:t>
            </a:r>
            <a:endParaRPr lang="en-US" sz="1600" dirty="0"/>
          </a:p>
        </p:txBody>
      </p:sp>
      <p:sp>
        <p:nvSpPr>
          <p:cNvPr id="12" name="Shape 8"/>
          <p:cNvSpPr/>
          <p:nvPr/>
        </p:nvSpPr>
        <p:spPr>
          <a:xfrm>
            <a:off x="685800" y="2697480"/>
            <a:ext cx="3749040" cy="1280160"/>
          </a:xfrm>
          <a:prstGeom prst="roundRect">
            <a:avLst>
              <a:gd name="adj" fmla="val 4286"/>
            </a:avLst>
          </a:prstGeom>
          <a:solidFill>
            <a:srgbClr val="FFFFFF"/>
          </a:solidFill>
          <a:ln w="12700">
            <a:solidFill>
              <a:srgbClr val="DCD5C1"/>
            </a:solidFill>
            <a:prstDash val="solid"/>
          </a:ln>
        </p:spPr>
      </p:sp>
      <p:sp>
        <p:nvSpPr>
          <p:cNvPr id="13" name="Shape 9"/>
          <p:cNvSpPr/>
          <p:nvPr/>
        </p:nvSpPr>
        <p:spPr>
          <a:xfrm>
            <a:off x="822960" y="2852928"/>
            <a:ext cx="457200" cy="457200"/>
          </a:xfrm>
          <a:prstGeom prst="roundRect">
            <a:avLst>
              <a:gd name="adj" fmla="val 16000"/>
            </a:avLst>
          </a:prstGeom>
          <a:solidFill>
            <a:srgbClr val="13294B"/>
          </a:solidFill>
          <a:ln/>
        </p:spPr>
      </p:sp>
      <p:pic>
        <p:nvPicPr>
          <p:cNvPr id="14" name="Image 2" descr="/tmp/claude-0/-home-user-zero-claude/d7e33190-c541-582c-a7cc-1156817732ce/scratchpad/deck/assets/icon_FaFileInvoiceDollar.png">    </p:cNvPr>
          <p:cNvPicPr>
            <a:picLocks noChangeAspect="1"/>
          </p:cNvPicPr>
          <p:nvPr/>
        </p:nvPicPr>
        <p:blipFill>
          <a:blip r:embed="rId4"/>
          <a:stretch>
            <a:fillRect/>
          </a:stretch>
        </p:blipFill>
        <p:spPr>
          <a:xfrm>
            <a:off x="923544" y="2953512"/>
            <a:ext cx="256032" cy="256032"/>
          </a:xfrm>
          <a:prstGeom prst="rect">
            <a:avLst/>
          </a:prstGeom>
        </p:spPr>
      </p:pic>
      <p:sp>
        <p:nvSpPr>
          <p:cNvPr id="15" name="Text 10"/>
          <p:cNvSpPr txBox="1"/>
          <p:nvPr/>
        </p:nvSpPr>
        <p:spPr>
          <a:xfrm>
            <a:off x="1371600" y="2770632"/>
            <a:ext cx="2971800" cy="1133856"/>
          </a:xfrm>
          <a:prstGeom prst="rect">
            <a:avLst/>
          </a:prstGeom>
          <a:noFill/>
          <a:ln/>
        </p:spPr>
        <p:txBody>
          <a:bodyPr wrap="square" lIns="38100" tIns="38100" rIns="38100" bIns="38100" rtlCol="0" anchor="t"/>
          <a:lstStyle/>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Crise fiscal</a:t>
            </a:r>
            <a:endParaRPr lang="en-US" sz="16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Gastos crescem mais que a arrecadação; a dívida aumenta.</a:t>
            </a:r>
            <a:endParaRPr lang="en-US" sz="1600" dirty="0"/>
          </a:p>
        </p:txBody>
      </p:sp>
      <p:sp>
        <p:nvSpPr>
          <p:cNvPr id="16" name="Shape 11"/>
          <p:cNvSpPr/>
          <p:nvPr/>
        </p:nvSpPr>
        <p:spPr>
          <a:xfrm>
            <a:off x="4709160" y="2697480"/>
            <a:ext cx="3749040" cy="1280160"/>
          </a:xfrm>
          <a:prstGeom prst="roundRect">
            <a:avLst>
              <a:gd name="adj" fmla="val 4286"/>
            </a:avLst>
          </a:prstGeom>
          <a:solidFill>
            <a:srgbClr val="FFFFFF"/>
          </a:solidFill>
          <a:ln w="12700">
            <a:solidFill>
              <a:srgbClr val="DCD5C1"/>
            </a:solidFill>
            <a:prstDash val="solid"/>
          </a:ln>
        </p:spPr>
      </p:sp>
      <p:sp>
        <p:nvSpPr>
          <p:cNvPr id="17" name="Shape 12"/>
          <p:cNvSpPr/>
          <p:nvPr/>
        </p:nvSpPr>
        <p:spPr>
          <a:xfrm>
            <a:off x="4846320" y="2852928"/>
            <a:ext cx="457200" cy="457200"/>
          </a:xfrm>
          <a:prstGeom prst="roundRect">
            <a:avLst>
              <a:gd name="adj" fmla="val 16000"/>
            </a:avLst>
          </a:prstGeom>
          <a:solidFill>
            <a:srgbClr val="13294B"/>
          </a:solidFill>
          <a:ln/>
        </p:spPr>
      </p:sp>
      <p:pic>
        <p:nvPicPr>
          <p:cNvPr id="18" name="Image 3" descr="/tmp/claude-0/-home-user-zero-claude/d7e33190-c541-582c-a7cc-1156817732ce/scratchpad/deck/assets/icon_FaGlobeAmericas.png">    </p:cNvPr>
          <p:cNvPicPr>
            <a:picLocks noChangeAspect="1"/>
          </p:cNvPicPr>
          <p:nvPr/>
        </p:nvPicPr>
        <p:blipFill>
          <a:blip r:embed="rId5"/>
          <a:stretch>
            <a:fillRect/>
          </a:stretch>
        </p:blipFill>
        <p:spPr>
          <a:xfrm>
            <a:off x="4946904" y="2953512"/>
            <a:ext cx="256032" cy="256032"/>
          </a:xfrm>
          <a:prstGeom prst="rect">
            <a:avLst/>
          </a:prstGeom>
        </p:spPr>
      </p:pic>
      <p:sp>
        <p:nvSpPr>
          <p:cNvPr id="19" name="Text 13"/>
          <p:cNvSpPr txBox="1"/>
          <p:nvPr/>
        </p:nvSpPr>
        <p:spPr>
          <a:xfrm>
            <a:off x="5394960" y="2770632"/>
            <a:ext cx="2971800" cy="1133856"/>
          </a:xfrm>
          <a:prstGeom prst="rect">
            <a:avLst/>
          </a:prstGeom>
          <a:noFill/>
          <a:ln/>
        </p:spPr>
        <p:txBody>
          <a:bodyPr wrap="square" lIns="38100" tIns="38100" rIns="38100" bIns="38100" rtlCol="0" anchor="t"/>
          <a:lstStyle/>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Globalização</a:t>
            </a:r>
            <a:endParaRPr lang="en-US" sz="16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Capital móvel pressiona impostos e regulações nacionais.</a:t>
            </a:r>
            <a:endParaRPr lang="en-US" sz="1600" dirty="0"/>
          </a:p>
        </p:txBody>
      </p:sp>
      <p:sp>
        <p:nvSpPr>
          <p:cNvPr id="20" name="Text 14"/>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O Estado neoliberal</a:t>
            </a:r>
            <a:endParaRPr lang="en-US" sz="2800" dirty="0"/>
          </a:p>
        </p:txBody>
      </p:sp>
      <p:sp>
        <p:nvSpPr>
          <p:cNvPr id="3" name="Text 1"/>
          <p:cNvSpPr txBox="1"/>
          <p:nvPr/>
        </p:nvSpPr>
        <p:spPr>
          <a:xfrm>
            <a:off x="685800" y="1234440"/>
            <a:ext cx="3840480" cy="3017520"/>
          </a:xfrm>
          <a:prstGeom prst="rect">
            <a:avLst/>
          </a:prstGeom>
          <a:noFill/>
          <a:ln/>
        </p:spPr>
        <p:txBody>
          <a:bodyPr wrap="square" lIns="76200" tIns="76200" rIns="76200" bIns="76200" rtlCol="0" anchor="ctr"/>
          <a:lstStyle/>
          <a:p>
            <a:pPr algn="l" indent="0" marL="0">
              <a:lnSpc>
                <a:spcPct val="100000"/>
              </a:lnSpc>
              <a:spcAft>
                <a:spcPts val="1000"/>
              </a:spcAft>
              <a:buNone/>
            </a:pPr>
            <a:r>
              <a:rPr lang="en-US" sz="1600" b="1" dirty="0">
                <a:solidFill>
                  <a:srgbClr val="13294B"/>
                </a:solidFill>
                <a:latin typeface="Calibri" pitchFamily="34" charset="0"/>
                <a:ea typeface="Calibri" pitchFamily="34" charset="-122"/>
                <a:cs typeface="Calibri" pitchFamily="34" charset="-120"/>
              </a:rPr>
              <a:t>Crise: </a:t>
            </a:r>
            <a:pPr algn="l" indent="0" marL="0">
              <a:lnSpc>
                <a:spcPct val="100000"/>
              </a:lnSpc>
              <a:spcAft>
                <a:spcPts val="1000"/>
              </a:spcAft>
              <a:buNone/>
            </a:pPr>
            <a:r>
              <a:rPr lang="en-US" sz="1600" dirty="0">
                <a:solidFill>
                  <a:srgbClr val="1F2A37"/>
                </a:solidFill>
                <a:latin typeface="Calibri" pitchFamily="34" charset="0"/>
                <a:ea typeface="Calibri" pitchFamily="34" charset="-122"/>
                <a:cs typeface="Calibri" pitchFamily="34" charset="-120"/>
              </a:rPr>
              <a:t>choques do petróleo (1973 e 1979), estagflação e crise fiscal.</a:t>
            </a:r>
            <a:endParaRPr lang="en-US" sz="1600" dirty="0"/>
          </a:p>
          <a:p>
            <a:pPr algn="l" indent="0" marL="0">
              <a:lnSpc>
                <a:spcPct val="100000"/>
              </a:lnSpc>
              <a:spcAft>
                <a:spcPts val="1000"/>
              </a:spcAft>
              <a:buNone/>
            </a:pPr>
            <a:r>
              <a:rPr lang="en-US" sz="1600" b="1" dirty="0">
                <a:solidFill>
                  <a:srgbClr val="13294B"/>
                </a:solidFill>
                <a:latin typeface="Calibri" pitchFamily="34" charset="0"/>
                <a:ea typeface="Calibri" pitchFamily="34" charset="-122"/>
                <a:cs typeface="Calibri" pitchFamily="34" charset="-120"/>
              </a:rPr>
              <a:t>Ideias: </a:t>
            </a:r>
            <a:pPr algn="l" indent="0" marL="0">
              <a:lnSpc>
                <a:spcPct val="100000"/>
              </a:lnSpc>
              <a:spcAft>
                <a:spcPts val="1000"/>
              </a:spcAft>
              <a:buNone/>
            </a:pPr>
            <a:r>
              <a:rPr lang="en-US" sz="1600" dirty="0">
                <a:solidFill>
                  <a:srgbClr val="1F2A37"/>
                </a:solidFill>
                <a:latin typeface="Calibri" pitchFamily="34" charset="0"/>
                <a:ea typeface="Calibri" pitchFamily="34" charset="-122"/>
                <a:cs typeface="Calibri" pitchFamily="34" charset="-120"/>
              </a:rPr>
              <a:t>Hayek (O Caminho da Servidão, 1944) e Friedman (monetarismo).</a:t>
            </a:r>
            <a:endParaRPr lang="en-US" sz="1600" dirty="0"/>
          </a:p>
          <a:p>
            <a:pPr algn="l" indent="0" marL="0">
              <a:lnSpc>
                <a:spcPct val="100000"/>
              </a:lnSpc>
              <a:buNone/>
            </a:pPr>
            <a:r>
              <a:rPr lang="en-US" sz="1600" b="1" dirty="0">
                <a:solidFill>
                  <a:srgbClr val="13294B"/>
                </a:solidFill>
                <a:latin typeface="Calibri" pitchFamily="34" charset="0"/>
                <a:ea typeface="Calibri" pitchFamily="34" charset="-122"/>
                <a:cs typeface="Calibri" pitchFamily="34" charset="-120"/>
              </a:rPr>
              <a:t>Governos: </a:t>
            </a:r>
            <a:pPr algn="l" indent="0" marL="0">
              <a:lnSpc>
                <a:spcPct val="100000"/>
              </a:lnSpc>
              <a:buNone/>
            </a:pPr>
            <a:r>
              <a:rPr lang="en-US" sz="1600" dirty="0">
                <a:solidFill>
                  <a:srgbClr val="1F2A37"/>
                </a:solidFill>
                <a:latin typeface="Calibri" pitchFamily="34" charset="0"/>
                <a:ea typeface="Calibri" pitchFamily="34" charset="-122"/>
                <a:cs typeface="Calibri" pitchFamily="34" charset="-120"/>
              </a:rPr>
              <a:t>Thatcher (1979) e Reagan (1981).</a:t>
            </a:r>
            <a:endParaRPr lang="en-US" sz="1600" dirty="0"/>
          </a:p>
        </p:txBody>
      </p:sp>
      <p:sp>
        <p:nvSpPr>
          <p:cNvPr id="4" name="Text 2"/>
          <p:cNvSpPr txBox="1"/>
          <p:nvPr/>
        </p:nvSpPr>
        <p:spPr>
          <a:xfrm>
            <a:off x="4709160" y="1234440"/>
            <a:ext cx="3749040" cy="3017520"/>
          </a:xfrm>
          <a:prstGeom prst="roundRect">
            <a:avLst>
              <a:gd name="adj" fmla="val 1818"/>
            </a:avLst>
          </a:prstGeom>
          <a:solidFill>
            <a:srgbClr val="E6F2F0"/>
          </a:solidFill>
          <a:ln/>
        </p:spPr>
        <p:txBody>
          <a:bodyPr wrap="square" lIns="152400" tIns="152400" rIns="152400" bIns="152400" rtlCol="0" anchor="ctr"/>
          <a:lstStyle/>
          <a:p>
            <a:pPr algn="l" indent="0" marL="0">
              <a:lnSpc>
                <a:spcPct val="100000"/>
              </a:lnSpc>
              <a:spcAft>
                <a:spcPts val="500"/>
              </a:spcAft>
              <a:buNone/>
            </a:pPr>
            <a:r>
              <a:rPr lang="en-US" sz="1200" b="1" dirty="0">
                <a:solidFill>
                  <a:srgbClr val="2A8C85"/>
                </a:solidFill>
                <a:latin typeface="Calibri" pitchFamily="34" charset="0"/>
                <a:ea typeface="Calibri" pitchFamily="34" charset="-122"/>
                <a:cs typeface="Calibri" pitchFamily="34" charset="-120"/>
              </a:rPr>
              <a:t>CONSENSO DE WASHINGTON (1989)</a:t>
            </a:r>
            <a:endParaRPr lang="en-US" sz="1200" dirty="0"/>
          </a:p>
          <a:p>
            <a:pPr algn="l" indent="0" marL="0">
              <a:lnSpc>
                <a:spcPct val="100000"/>
              </a:lnSpc>
              <a:spcAft>
                <a:spcPts val="1000"/>
              </a:spcAft>
              <a:buNone/>
            </a:pPr>
            <a:r>
              <a:rPr lang="en-US" sz="1500" dirty="0">
                <a:solidFill>
                  <a:srgbClr val="1F2A37"/>
                </a:solidFill>
                <a:latin typeface="Calibri" pitchFamily="34" charset="0"/>
                <a:ea typeface="Calibri" pitchFamily="34" charset="-122"/>
                <a:cs typeface="Calibri" pitchFamily="34" charset="-120"/>
              </a:rPr>
              <a:t>Disciplina fiscal, reforma tributária, privatizações, desregulamentação, abertura comercial e financeira, respeito à propriedade.</a:t>
            </a:r>
            <a:endParaRPr lang="en-US" sz="1200" dirty="0"/>
          </a:p>
          <a:p>
            <a:pPr algn="l" indent="0" marL="0">
              <a:lnSpc>
                <a:spcPct val="100000"/>
              </a:lnSpc>
              <a:buNone/>
            </a:pPr>
            <a:r>
              <a:rPr lang="en-US" sz="1600" b="1" dirty="0">
                <a:solidFill>
                  <a:srgbClr val="13294B"/>
                </a:solidFill>
                <a:latin typeface="Calibri" pitchFamily="34" charset="0"/>
                <a:ea typeface="Calibri" pitchFamily="34" charset="-122"/>
                <a:cs typeface="Calibri" pitchFamily="34" charset="-120"/>
              </a:rPr>
              <a:t>O Estado passa de produtor a regulador.</a:t>
            </a:r>
            <a:endParaRPr lang="en-US" sz="1200" dirty="0"/>
          </a:p>
        </p:txBody>
      </p:sp>
      <p:sp>
        <p:nvSpPr>
          <p:cNvPr id="5" name="Text 3"/>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Quatro modelos de Estado</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188720"/>
          <a:ext cx="7772400" cy="914400"/>
        </p:xfrm>
        <a:graphic>
          <a:graphicData uri="http://schemas.openxmlformats.org/drawingml/2006/table">
            <a:tbl>
              <a:tblPr/>
              <a:tblGrid>
                <a:gridCol w="1554480"/>
                <a:gridCol w="1600200"/>
                <a:gridCol w="2834640"/>
                <a:gridCol w="178308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Modelo</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Período</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Papel do Estado</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Referências</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r>
              <a:tr h="0">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Liberal</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Séc. XIX – 1929</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Mínimo: segurança, justiça, contratos</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Locke, Smith</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Socialista</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1917 – 1991</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Proprietário e planejador central</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Marx, Lênin</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r>
              <a:tr h="0">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Bem-estar</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1945 – 1973</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Indutor da demanda, provedor de direitos</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Keynes, Beveridge</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F2A37"/>
                          </a:solidFill>
                          <a:latin typeface="Calibri" pitchFamily="34" charset="0"/>
                          <a:ea typeface="Calibri" pitchFamily="34" charset="-122"/>
                          <a:cs typeface="Calibri" pitchFamily="34" charset="-120"/>
                        </a:rPr>
                        <a:t>Neoliberal</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1979 – 2008</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Regulador e enxuto</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400" dirty="0">
                          <a:solidFill>
                            <a:srgbClr val="1F2A37"/>
                          </a:solidFill>
                          <a:latin typeface="Calibri" pitchFamily="34" charset="0"/>
                          <a:ea typeface="Calibri" pitchFamily="34" charset="-122"/>
                          <a:cs typeface="Calibri" pitchFamily="34" charset="-120"/>
                        </a:rPr>
                        <a:t>Hayek, Friedman</a:t>
                      </a:r>
                      <a:endParaRPr lang="en-US" sz="140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r>
            </a:tbl>
          </a:graphicData>
        </a:graphic>
      </p:graphicFrame>
      <p:sp>
        <p:nvSpPr>
          <p:cNvPr id="4" name="Text 1"/>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1417320"/>
            <a:ext cx="7680960" cy="457200"/>
          </a:xfrm>
          <a:prstGeom prst="rect">
            <a:avLst/>
          </a:prstGeom>
          <a:noFill/>
          <a:ln/>
        </p:spPr>
        <p:txBody>
          <a:bodyPr wrap="square" lIns="0" tIns="0" rIns="0" bIns="0" rtlCol="0" anchor="ctr"/>
          <a:lstStyle/>
          <a:p>
            <a:pPr algn="ctr" indent="0" marL="0">
              <a:lnSpc>
                <a:spcPct val="100000"/>
              </a:lnSpc>
              <a:buNone/>
            </a:pPr>
            <a:r>
              <a:rPr lang="en-US" sz="1600" b="1" dirty="0">
                <a:solidFill>
                  <a:srgbClr val="2A8C85"/>
                </a:solidFill>
                <a:latin typeface="Calibri" pitchFamily="34" charset="0"/>
                <a:ea typeface="Calibri" pitchFamily="34" charset="-122"/>
                <a:cs typeface="Calibri" pitchFamily="34" charset="-120"/>
              </a:rPr>
              <a:t>PARTE 2</a:t>
            </a:r>
            <a:endParaRPr lang="en-US" sz="1600" dirty="0"/>
          </a:p>
        </p:txBody>
      </p:sp>
      <p:sp>
        <p:nvSpPr>
          <p:cNvPr id="3" name="Text 1"/>
          <p:cNvSpPr txBox="1"/>
          <p:nvPr/>
        </p:nvSpPr>
        <p:spPr>
          <a:xfrm>
            <a:off x="731520" y="1874520"/>
            <a:ext cx="7680960" cy="822960"/>
          </a:xfrm>
          <a:prstGeom prst="rect">
            <a:avLst/>
          </a:prstGeom>
          <a:noFill/>
          <a:ln/>
        </p:spPr>
        <p:txBody>
          <a:bodyPr wrap="square" lIns="0" tIns="0" rIns="0" bIns="0" rtlCol="0" anchor="ctr"/>
          <a:lstStyle/>
          <a:p>
            <a:pPr algn="ctr" indent="0" marL="0">
              <a:lnSpc>
                <a:spcPct val="100000"/>
              </a:lnSpc>
              <a:buNone/>
            </a:pPr>
            <a:r>
              <a:rPr lang="en-US" sz="3600" b="1" dirty="0">
                <a:solidFill>
                  <a:srgbClr val="13294B"/>
                </a:solidFill>
                <a:latin typeface="Calibri" pitchFamily="34" charset="0"/>
                <a:ea typeface="Calibri" pitchFamily="34" charset="-122"/>
                <a:cs typeface="Calibri" pitchFamily="34" charset="-120"/>
              </a:rPr>
              <a:t>O Estado brasileiro</a:t>
            </a:r>
            <a:endParaRPr lang="en-US" sz="3600" dirty="0"/>
          </a:p>
        </p:txBody>
      </p:sp>
      <p:sp>
        <p:nvSpPr>
          <p:cNvPr id="4" name="Text 2"/>
          <p:cNvSpPr txBox="1"/>
          <p:nvPr/>
        </p:nvSpPr>
        <p:spPr>
          <a:xfrm>
            <a:off x="1188720" y="2697480"/>
            <a:ext cx="6766560" cy="457200"/>
          </a:xfrm>
          <a:prstGeom prst="rect">
            <a:avLst/>
          </a:prstGeom>
          <a:noFill/>
          <a:ln/>
        </p:spPr>
        <p:txBody>
          <a:bodyPr wrap="square" lIns="0" tIns="0" rIns="0" bIns="0" rtlCol="0" anchor="ctr"/>
          <a:lstStyle/>
          <a:p>
            <a:pPr algn="ctr" indent="0" marL="0">
              <a:lnSpc>
                <a:spcPct val="100000"/>
              </a:lnSpc>
              <a:buNone/>
            </a:pPr>
            <a:r>
              <a:rPr lang="en-US" sz="1600" dirty="0">
                <a:solidFill>
                  <a:srgbClr val="5B6770"/>
                </a:solidFill>
                <a:latin typeface="Calibri" pitchFamily="34" charset="0"/>
                <a:ea typeface="Calibri" pitchFamily="34" charset="-122"/>
                <a:cs typeface="Calibri" pitchFamily="34" charset="-120"/>
              </a:rPr>
              <a:t>Do desenvolvimentismo às reformas e à proteção social</a:t>
            </a:r>
            <a:endParaRPr lang="en-US" sz="1600" dirty="0"/>
          </a:p>
        </p:txBody>
      </p:sp>
      <p:sp>
        <p:nvSpPr>
          <p:cNvPr id="5" name="Text 3"/>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O pêndulo no Brasil</a:t>
            </a:r>
            <a:endParaRPr lang="en-US" sz="2800" dirty="0"/>
          </a:p>
        </p:txBody>
      </p:sp>
      <p:sp>
        <p:nvSpPr>
          <p:cNvPr id="3" name="Text 1"/>
          <p:cNvSpPr txBox="1"/>
          <p:nvPr/>
        </p:nvSpPr>
        <p:spPr>
          <a:xfrm>
            <a:off x="685800" y="1280160"/>
            <a:ext cx="2456688" cy="2148840"/>
          </a:xfrm>
          <a:prstGeom prst="roundRect">
            <a:avLst>
              <a:gd name="adj" fmla="val 2553"/>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1930–1980</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Estado desenvolvimentista</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Vargas, JK e regime militar: estatais (CSN, Petrobras), BNDE (1952) e Plano de Metas.</a:t>
            </a:r>
            <a:endParaRPr lang="en-US" sz="1100" dirty="0"/>
          </a:p>
        </p:txBody>
      </p:sp>
      <p:sp>
        <p:nvSpPr>
          <p:cNvPr id="4" name="Text 2"/>
          <p:cNvSpPr txBox="1"/>
          <p:nvPr/>
        </p:nvSpPr>
        <p:spPr>
          <a:xfrm>
            <a:off x="3343656" y="1280160"/>
            <a:ext cx="2456688" cy="2148840"/>
          </a:xfrm>
          <a:prstGeom prst="roundRect">
            <a:avLst>
              <a:gd name="adj" fmla="val 2553"/>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1988</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Constituição Cidadã</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Seguridade social universal: SUS, previdência e assistência social.</a:t>
            </a:r>
            <a:endParaRPr lang="en-US" sz="1100" dirty="0"/>
          </a:p>
        </p:txBody>
      </p:sp>
      <p:sp>
        <p:nvSpPr>
          <p:cNvPr id="5" name="Text 3"/>
          <p:cNvSpPr txBox="1"/>
          <p:nvPr/>
        </p:nvSpPr>
        <p:spPr>
          <a:xfrm>
            <a:off x="6001512" y="1280160"/>
            <a:ext cx="2456688" cy="2148840"/>
          </a:xfrm>
          <a:prstGeom prst="roundRect">
            <a:avLst>
              <a:gd name="adj" fmla="val 2553"/>
            </a:avLst>
          </a:prstGeom>
          <a:solidFill>
            <a:srgbClr val="FFFFFF"/>
          </a:solidFill>
          <a:ln w="12700">
            <a:solidFill>
              <a:srgbClr val="DCD5C1"/>
            </a:solidFill>
          </a:ln>
        </p:spPr>
        <p:txBody>
          <a:bodyPr wrap="square" lIns="101600" tIns="101600" rIns="101600" bIns="1016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1990–2000</a:t>
            </a:r>
            <a:endParaRPr lang="en-US" sz="1100" dirty="0"/>
          </a:p>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Reformas do Estado</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Desestatização, Plano Diretor (1995), agências reguladoras e LRF (2000).</a:t>
            </a:r>
            <a:endParaRPr lang="en-US" sz="1100" dirty="0"/>
          </a:p>
        </p:txBody>
      </p:sp>
      <p:sp>
        <p:nvSpPr>
          <p:cNvPr id="6" name="Text 4"/>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O tamanho do Estado brasileiro</a:t>
            </a:r>
            <a:endParaRPr lang="en-US" sz="28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Carga tributária bruta ao longo do tempo</a:t>
            </a:r>
            <a:endParaRPr lang="en-US" sz="1400" dirty="0"/>
          </a:p>
        </p:txBody>
      </p:sp>
      <p:sp>
        <p:nvSpPr>
          <p:cNvPr id="4" name="Shape 2"/>
          <p:cNvSpPr/>
          <p:nvPr/>
        </p:nvSpPr>
        <p:spPr>
          <a:xfrm>
            <a:off x="548640" y="1207008"/>
            <a:ext cx="5349240" cy="2953512"/>
          </a:xfrm>
          <a:prstGeom prst="roundRect">
            <a:avLst>
              <a:gd name="adj" fmla="val 1858"/>
            </a:avLst>
          </a:prstGeom>
          <a:solidFill>
            <a:srgbClr val="FFFFFF"/>
          </a:solidFill>
          <a:ln w="12700">
            <a:solidFill>
              <a:srgbClr val="DCD5C1"/>
            </a:solidFill>
            <a:prstDash val="solid"/>
          </a:ln>
        </p:spPr>
      </p:sp>
      <p:sp>
        <p:nvSpPr>
          <p:cNvPr id="5" name="Text 3"/>
          <p:cNvSpPr txBox="1"/>
          <p:nvPr/>
        </p:nvSpPr>
        <p:spPr>
          <a:xfrm>
            <a:off x="658368" y="1261872"/>
            <a:ext cx="5120640" cy="310896"/>
          </a:xfrm>
          <a:prstGeom prst="rect">
            <a:avLst/>
          </a:prstGeom>
          <a:noFill/>
          <a:ln/>
        </p:spPr>
        <p:txBody>
          <a:bodyPr wrap="square" lIns="0" tIns="0" rIns="0" bIns="0" rtlCol="0" anchor="ctr"/>
          <a:lstStyle/>
          <a:p>
            <a:pPr algn="l" indent="0" marL="0">
              <a:lnSpc>
                <a:spcPct val="100000"/>
              </a:lnSpc>
              <a:buNone/>
            </a:pPr>
            <a:r>
              <a:rPr lang="en-US" sz="1300" b="1" dirty="0">
                <a:solidFill>
                  <a:srgbClr val="13294B"/>
                </a:solidFill>
                <a:latin typeface="Calibri" pitchFamily="34" charset="0"/>
                <a:ea typeface="Calibri" pitchFamily="34" charset="-122"/>
                <a:cs typeface="Calibri" pitchFamily="34" charset="-120"/>
              </a:rPr>
              <a:t>Carga tributária bruta (% do PIB)</a:t>
            </a:r>
            <a:endParaRPr lang="en-US" sz="1300" dirty="0"/>
          </a:p>
        </p:txBody>
      </p:sp>
      <p:graphicFrame>
        <p:nvGraphicFramePr>
          <p:cNvPr id="6" name="Chart 0" descr=""/>
          <p:cNvGraphicFramePr/>
          <p:nvPr/>
        </p:nvGraphicFramePr>
        <p:xfrm>
          <a:off x="658368" y="1591056"/>
          <a:ext cx="5138928" cy="2496312"/>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6035040" y="1207008"/>
            <a:ext cx="2560320" cy="2953512"/>
          </a:xfrm>
          <a:prstGeom prst="roundRect">
            <a:avLst>
              <a:gd name="adj" fmla="val 2143"/>
            </a:avLst>
          </a:prstGeom>
          <a:solidFill>
            <a:srgbClr val="E6F2F0"/>
          </a:solidFill>
          <a:ln/>
        </p:spPr>
        <p:txBody>
          <a:bodyPr wrap="square" lIns="114300" tIns="114300" rIns="114300" bIns="114300" rtlCol="0" anchor="t"/>
          <a:lstStyle/>
          <a:p>
            <a:pPr algn="l" indent="0" marL="0">
              <a:lnSpc>
                <a:spcPct val="100000"/>
              </a:lnSpc>
              <a:spcAft>
                <a:spcPts val="400"/>
              </a:spcAft>
              <a:buNone/>
            </a:pPr>
            <a:r>
              <a:rPr lang="en-US" sz="1100" b="1" dirty="0">
                <a:solidFill>
                  <a:srgbClr val="2A8C85"/>
                </a:solidFill>
                <a:latin typeface="Calibri" pitchFamily="34" charset="0"/>
                <a:ea typeface="Calibri" pitchFamily="34" charset="-122"/>
                <a:cs typeface="Calibri" pitchFamily="34" charset="-120"/>
              </a:rPr>
              <a:t>COMO LER O GRÁFICO</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A carga mais que dobrou entre 1947 e 1970, no Estado desenvolvimentista.</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Depois de 1988, cresceu para financiar a seguridade social.</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As reformas dos anos 1990 mudaram o papel do Estado (de produtor a regulador), não o tamanho da arrecadação.</a:t>
            </a:r>
            <a:endParaRPr lang="en-US" sz="1100" dirty="0"/>
          </a:p>
        </p:txBody>
      </p:sp>
      <p:sp>
        <p:nvSpPr>
          <p:cNvPr id="8" name="Text 5"/>
          <p:cNvSpPr txBox="1"/>
          <p:nvPr/>
        </p:nvSpPr>
        <p:spPr>
          <a:xfrm>
            <a:off x="548640" y="4206240"/>
            <a:ext cx="8046720" cy="274320"/>
          </a:xfrm>
          <a:prstGeom prst="rect">
            <a:avLst/>
          </a:prstGeom>
          <a:noFill/>
          <a:ln/>
        </p:spPr>
        <p:txBody>
          <a:bodyPr wrap="square" lIns="0" tIns="0" rIns="0" bIns="0" rtlCol="0" anchor="ctr"/>
          <a:lstStyle/>
          <a:p>
            <a:pPr algn="l" indent="0" marL="0">
              <a:lnSpc>
                <a:spcPct val="100000"/>
              </a:lnSpc>
              <a:buNone/>
            </a:pPr>
            <a:r>
              <a:rPr lang="en-US" sz="1000" i="1" dirty="0">
                <a:solidFill>
                  <a:srgbClr val="5B6770"/>
                </a:solidFill>
                <a:latin typeface="Calibri" pitchFamily="34" charset="0"/>
                <a:ea typeface="Calibri" pitchFamily="34" charset="-122"/>
                <a:cs typeface="Calibri" pitchFamily="34" charset="-120"/>
              </a:rPr>
              <a:t>Fontes: IBGE e Receita Federal. Valores aproximados e arredondados, para fins didáticos.</a:t>
            </a:r>
            <a:endParaRPr lang="en-US" sz="1000" dirty="0"/>
          </a:p>
        </p:txBody>
      </p:sp>
      <p:sp>
        <p:nvSpPr>
          <p:cNvPr id="9" name="Text 6"/>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600" b="1" dirty="0">
                <a:solidFill>
                  <a:srgbClr val="13294B"/>
                </a:solidFill>
                <a:latin typeface="Calibri" pitchFamily="34" charset="0"/>
                <a:ea typeface="Calibri" pitchFamily="34" charset="-122"/>
                <a:cs typeface="Calibri" pitchFamily="34" charset="-120"/>
              </a:rPr>
              <a:t>Três modelos de administração pública</a:t>
            </a:r>
            <a:endParaRPr lang="en-US" sz="26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Segundo o Plano Diretor da Reforma do Aparelho do Estado (1995)</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234440"/>
          <a:ext cx="7772400" cy="914400"/>
        </p:xfrm>
        <a:graphic>
          <a:graphicData uri="http://schemas.openxmlformats.org/drawingml/2006/table">
            <a:tbl>
              <a:tblPr/>
              <a:tblGrid>
                <a:gridCol w="1920240"/>
                <a:gridCol w="3017520"/>
                <a:gridCol w="283464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Modelo</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Características</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Marco no Brasil</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r>
              <a:tr h="0">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Patrimonialista</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Confusão entre o público e o privado; cargos como favor</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Brasil colonial e imperial; República Velha</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Burocrático</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Mérito, impessoalidade, normas e controle de procedimentos</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DASP (1938), na Era Vargas</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r>
              <a:tr h="0">
                <a:tc>
                  <a:txBody>
                    <a:bodyPr/>
                    <a:lstStyle/>
                    <a:p>
                      <a:pPr indent="0" marL="0">
                        <a:buNone/>
                      </a:pPr>
                      <a:r>
                        <a:rPr lang="en-US" sz="1350" b="1" dirty="0">
                          <a:solidFill>
                            <a:srgbClr val="1F2A37"/>
                          </a:solidFill>
                          <a:latin typeface="Calibri" pitchFamily="34" charset="0"/>
                          <a:ea typeface="Calibri" pitchFamily="34" charset="-122"/>
                          <a:cs typeface="Calibri" pitchFamily="34" charset="-120"/>
                        </a:rPr>
                        <a:t>Gerencial</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Foco em resultados, eficiência e no cidadão</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Plano Diretor (1995) e EC 19/1998</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85800" y="3611880"/>
            <a:ext cx="7772400" cy="658368"/>
          </a:xfrm>
          <a:prstGeom prst="roundRect">
            <a:avLst>
              <a:gd name="adj" fmla="val 11111"/>
            </a:avLst>
          </a:prstGeom>
          <a:solidFill>
            <a:srgbClr val="E6F2F0"/>
          </a:solidFill>
          <a:ln/>
        </p:spPr>
        <p:txBody>
          <a:bodyPr wrap="square" lIns="127000" tIns="127000" rIns="127000" bIns="127000" rtlCol="0" anchor="ctr"/>
          <a:lstStyle/>
          <a:p>
            <a:pPr algn="ctr" indent="0" marL="0">
              <a:lnSpc>
                <a:spcPct val="100000"/>
              </a:lnSpc>
              <a:buNone/>
            </a:pPr>
            <a:r>
              <a:rPr lang="en-US" sz="1350" dirty="0">
                <a:solidFill>
                  <a:srgbClr val="13294B"/>
                </a:solidFill>
                <a:latin typeface="Calibri" pitchFamily="34" charset="0"/>
                <a:ea typeface="Calibri" pitchFamily="34" charset="-122"/>
                <a:cs typeface="Calibri" pitchFamily="34" charset="-120"/>
              </a:rPr>
              <a:t>Os modelos convivem até hoje: o desafio é superar o patrimonialismo sem perder os controles da burocracia.</a:t>
            </a:r>
            <a:endParaRPr lang="en-US" sz="1350" dirty="0"/>
          </a:p>
        </p:txBody>
      </p:sp>
      <p:sp>
        <p:nvSpPr>
          <p:cNvPr id="6" name="Text 3"/>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Anos 1990: o Estado regulador</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188720"/>
          <a:ext cx="7772400" cy="914400"/>
        </p:xfrm>
        <a:graphic>
          <a:graphicData uri="http://schemas.openxmlformats.org/drawingml/2006/table">
            <a:tbl>
              <a:tblPr/>
              <a:tblGrid>
                <a:gridCol w="1463040"/>
                <a:gridCol w="630936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Ano</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Marco</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1990</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Programa Nacional de Desestatização (Lei 8.031/1990)</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1996–1997</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Agências reguladoras: ANEEL (energia), ANATEL (telecomunicações) e ANP (petróleo)</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1998</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Emenda Constitucional 19: reforma administrativa e princípio da eficiência</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2000</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Lei de Responsabilidade Fiscal (LC 101/2000): limites de gasto com pessoal e de dívida</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r>
            </a:tbl>
          </a:graphicData>
        </a:graphic>
      </p:graphicFrame>
      <p:sp>
        <p:nvSpPr>
          <p:cNvPr id="4" name="Shape 1"/>
          <p:cNvSpPr/>
          <p:nvPr/>
        </p:nvSpPr>
        <p:spPr>
          <a:xfrm>
            <a:off x="685800" y="3182112"/>
            <a:ext cx="7772400" cy="1261872"/>
          </a:xfrm>
          <a:prstGeom prst="roundRect">
            <a:avLst>
              <a:gd name="adj" fmla="val 5797"/>
            </a:avLst>
          </a:prstGeom>
          <a:solidFill>
            <a:srgbClr val="FBF4DC"/>
          </a:solidFill>
          <a:ln/>
        </p:spPr>
      </p:sp>
      <p:sp>
        <p:nvSpPr>
          <p:cNvPr id="5" name="Shape 2"/>
          <p:cNvSpPr/>
          <p:nvPr/>
        </p:nvSpPr>
        <p:spPr>
          <a:xfrm>
            <a:off x="850392" y="3346704"/>
            <a:ext cx="457200" cy="457200"/>
          </a:xfrm>
          <a:prstGeom prst="roundRect">
            <a:avLst>
              <a:gd name="adj" fmla="val 16000"/>
            </a:avLst>
          </a:prstGeom>
          <a:solidFill>
            <a:srgbClr val="E9C85C"/>
          </a:solidFill>
          <a:ln/>
        </p:spPr>
      </p:sp>
      <p:pic>
        <p:nvPicPr>
          <p:cNvPr id="6" name="Image 0" descr="/tmp/claude-0/-home-user-zero-claude/d7e33190-c541-582c-a7cc-1156817732ce/scratchpad/deck/assets/icon_FaLightbulb.png">    </p:cNvPr>
          <p:cNvPicPr>
            <a:picLocks noChangeAspect="1"/>
          </p:cNvPicPr>
          <p:nvPr/>
        </p:nvPicPr>
        <p:blipFill>
          <a:blip r:embed="rId2"/>
          <a:stretch>
            <a:fillRect/>
          </a:stretch>
        </p:blipFill>
        <p:spPr>
          <a:xfrm>
            <a:off x="950976" y="3447288"/>
            <a:ext cx="256032" cy="256032"/>
          </a:xfrm>
          <a:prstGeom prst="rect">
            <a:avLst/>
          </a:prstGeom>
        </p:spPr>
      </p:pic>
      <p:sp>
        <p:nvSpPr>
          <p:cNvPr id="7" name="Text 3"/>
          <p:cNvSpPr txBox="1"/>
          <p:nvPr/>
        </p:nvSpPr>
        <p:spPr>
          <a:xfrm>
            <a:off x="1417320" y="3291840"/>
            <a:ext cx="6903720" cy="1042416"/>
          </a:xfrm>
          <a:prstGeom prst="rect">
            <a:avLst/>
          </a:prstGeom>
          <a:noFill/>
          <a:ln/>
        </p:spPr>
        <p:txBody>
          <a:bodyPr wrap="square" lIns="25400" tIns="25400" rIns="25400" bIns="25400" rtlCol="0" anchor="t"/>
          <a:lstStyle/>
          <a:p>
            <a:pPr algn="l" indent="0" marL="0">
              <a:lnSpc>
                <a:spcPct val="100000"/>
              </a:lnSpc>
              <a:spcAft>
                <a:spcPts val="200"/>
              </a:spcAft>
              <a:buNone/>
            </a:pPr>
            <a:r>
              <a:rPr lang="en-US" sz="1100" b="1" dirty="0">
                <a:solidFill>
                  <a:srgbClr val="A8841A"/>
                </a:solidFill>
                <a:latin typeface="Calibri" pitchFamily="34" charset="0"/>
                <a:ea typeface="Calibri" pitchFamily="34" charset="-122"/>
                <a:cs typeface="Calibri" pitchFamily="34" charset="-120"/>
              </a:rPr>
              <a:t>EXEMPLO NA GESTÃO PÚBLICA</a:t>
            </a:r>
            <a:endParaRPr lang="en-US" sz="1100" dirty="0"/>
          </a:p>
          <a:p>
            <a:pPr algn="l" indent="0" marL="0">
              <a:lnSpc>
                <a:spcPct val="100000"/>
              </a:lnSpc>
              <a:spcAft>
                <a:spcPts val="300"/>
              </a:spcAft>
              <a:buNone/>
            </a:pPr>
            <a:r>
              <a:rPr lang="en-US" sz="1450" b="1" dirty="0">
                <a:solidFill>
                  <a:srgbClr val="13294B"/>
                </a:solidFill>
                <a:latin typeface="Calibri" pitchFamily="34" charset="0"/>
                <a:ea typeface="Calibri" pitchFamily="34" charset="-122"/>
                <a:cs typeface="Calibri" pitchFamily="34" charset="-120"/>
              </a:rPr>
              <a:t>Na conta de luz</a:t>
            </a:r>
            <a:endParaRPr lang="en-US" sz="1100" dirty="0"/>
          </a:p>
          <a:p>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A distribuidora é privada, mas a tarifa e a qualidade do serviço são reguladas pela ANEEL: o Estado deixa de produzir e passa a regular.</a:t>
            </a:r>
            <a:endParaRPr lang="en-US" sz="1100" dirty="0"/>
          </a:p>
        </p:txBody>
      </p:sp>
      <p:sp>
        <p:nvSpPr>
          <p:cNvPr id="8" name="Text 4"/>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A proteção social depois de 1988</a:t>
            </a:r>
            <a:endParaRPr lang="en-US" sz="2800" dirty="0"/>
          </a:p>
        </p:txBody>
      </p:sp>
      <p:sp>
        <p:nvSpPr>
          <p:cNvPr id="3" name="Shape 1"/>
          <p:cNvSpPr/>
          <p:nvPr/>
        </p:nvSpPr>
        <p:spPr>
          <a:xfrm>
            <a:off x="685800" y="1188720"/>
            <a:ext cx="3749040" cy="1389888"/>
          </a:xfrm>
          <a:prstGeom prst="roundRect">
            <a:avLst>
              <a:gd name="adj" fmla="val 3947"/>
            </a:avLst>
          </a:prstGeom>
          <a:solidFill>
            <a:srgbClr val="FFFFFF"/>
          </a:solidFill>
          <a:ln w="12700">
            <a:solidFill>
              <a:srgbClr val="DCD5C1"/>
            </a:solidFill>
            <a:prstDash val="solid"/>
          </a:ln>
        </p:spPr>
      </p:sp>
      <p:sp>
        <p:nvSpPr>
          <p:cNvPr id="4" name="Shape 2"/>
          <p:cNvSpPr/>
          <p:nvPr/>
        </p:nvSpPr>
        <p:spPr>
          <a:xfrm>
            <a:off x="822960" y="1344168"/>
            <a:ext cx="457200" cy="457200"/>
          </a:xfrm>
          <a:prstGeom prst="roundRect">
            <a:avLst>
              <a:gd name="adj" fmla="val 16000"/>
            </a:avLst>
          </a:prstGeom>
          <a:solidFill>
            <a:srgbClr val="13294B"/>
          </a:solidFill>
          <a:ln/>
        </p:spPr>
      </p:sp>
      <p:pic>
        <p:nvPicPr>
          <p:cNvPr id="5" name="Image 0" descr="/tmp/claude-0/-home-user-zero-claude/d7e33190-c541-582c-a7cc-1156817732ce/scratchpad/deck/assets/icon_FaHeartbeat.png">    </p:cNvPr>
          <p:cNvPicPr>
            <a:picLocks noChangeAspect="1"/>
          </p:cNvPicPr>
          <p:nvPr/>
        </p:nvPicPr>
        <p:blipFill>
          <a:blip r:embed="rId2"/>
          <a:stretch>
            <a:fillRect/>
          </a:stretch>
        </p:blipFill>
        <p:spPr>
          <a:xfrm>
            <a:off x="923544" y="1444752"/>
            <a:ext cx="256032" cy="256032"/>
          </a:xfrm>
          <a:prstGeom prst="rect">
            <a:avLst/>
          </a:prstGeom>
        </p:spPr>
      </p:pic>
      <p:sp>
        <p:nvSpPr>
          <p:cNvPr id="6" name="Text 3"/>
          <p:cNvSpPr txBox="1"/>
          <p:nvPr/>
        </p:nvSpPr>
        <p:spPr>
          <a:xfrm>
            <a:off x="1371600" y="1261872"/>
            <a:ext cx="2971800" cy="1243584"/>
          </a:xfrm>
          <a:prstGeom prst="rect">
            <a:avLst/>
          </a:prstGeom>
          <a:noFill/>
          <a:ln/>
        </p:spPr>
        <p:txBody>
          <a:bodyPr wrap="square" lIns="38100" tIns="38100" rIns="38100" bIns="381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LEI 8.080/1990</a:t>
            </a:r>
            <a:endParaRPr lang="en-US" sz="1100" dirty="0"/>
          </a:p>
          <a:p>
            <a:pPr algn="l" indent="0" marL="0">
              <a:lnSpc>
                <a:spcPct val="100000"/>
              </a:lnSpc>
              <a:spcAft>
                <a:spcPts val="300"/>
              </a:spcAft>
              <a:buNone/>
            </a:pPr>
            <a:r>
              <a:rPr lang="en-US" sz="1500" b="1" dirty="0">
                <a:solidFill>
                  <a:srgbClr val="13294B"/>
                </a:solidFill>
                <a:latin typeface="Calibri" pitchFamily="34" charset="0"/>
                <a:ea typeface="Calibri" pitchFamily="34" charset="-122"/>
                <a:cs typeface="Calibri" pitchFamily="34" charset="-120"/>
              </a:rPr>
              <a:t>SUS</a:t>
            </a:r>
            <a:endParaRPr lang="en-US" sz="1100" dirty="0"/>
          </a:p>
          <a:p>
            <a:pPr algn="l" indent="0" marL="0">
              <a:lnSpc>
                <a:spcPct val="100000"/>
              </a:lnSpc>
              <a:buNone/>
            </a:pPr>
            <a:r>
              <a:rPr lang="en-US" sz="1300" dirty="0">
                <a:solidFill>
                  <a:srgbClr val="1F2A37"/>
                </a:solidFill>
                <a:latin typeface="Calibri" pitchFamily="34" charset="0"/>
                <a:ea typeface="Calibri" pitchFamily="34" charset="-122"/>
                <a:cs typeface="Calibri" pitchFamily="34" charset="-120"/>
              </a:rPr>
              <a:t>Saúde universal e gratuita: direito de todos e dever do Estado.</a:t>
            </a:r>
            <a:endParaRPr lang="en-US" sz="1100" dirty="0"/>
          </a:p>
        </p:txBody>
      </p:sp>
      <p:sp>
        <p:nvSpPr>
          <p:cNvPr id="7" name="Shape 4"/>
          <p:cNvSpPr/>
          <p:nvPr/>
        </p:nvSpPr>
        <p:spPr>
          <a:xfrm>
            <a:off x="4709160" y="1188720"/>
            <a:ext cx="3749040" cy="1389888"/>
          </a:xfrm>
          <a:prstGeom prst="roundRect">
            <a:avLst>
              <a:gd name="adj" fmla="val 3947"/>
            </a:avLst>
          </a:prstGeom>
          <a:solidFill>
            <a:srgbClr val="FFFFFF"/>
          </a:solidFill>
          <a:ln w="12700">
            <a:solidFill>
              <a:srgbClr val="DCD5C1"/>
            </a:solidFill>
            <a:prstDash val="solid"/>
          </a:ln>
        </p:spPr>
      </p:sp>
      <p:sp>
        <p:nvSpPr>
          <p:cNvPr id="8" name="Shape 5"/>
          <p:cNvSpPr/>
          <p:nvPr/>
        </p:nvSpPr>
        <p:spPr>
          <a:xfrm>
            <a:off x="4846320" y="1344168"/>
            <a:ext cx="457200" cy="457200"/>
          </a:xfrm>
          <a:prstGeom prst="roundRect">
            <a:avLst>
              <a:gd name="adj" fmla="val 16000"/>
            </a:avLst>
          </a:prstGeom>
          <a:solidFill>
            <a:srgbClr val="13294B"/>
          </a:solidFill>
          <a:ln/>
        </p:spPr>
      </p:sp>
      <p:pic>
        <p:nvPicPr>
          <p:cNvPr id="9" name="Image 1" descr="/tmp/claude-0/-home-user-zero-claude/d7e33190-c541-582c-a7cc-1156817732ce/scratchpad/deck/assets/icon_FaHandHoldingHeart.png">    </p:cNvPr>
          <p:cNvPicPr>
            <a:picLocks noChangeAspect="1"/>
          </p:cNvPicPr>
          <p:nvPr/>
        </p:nvPicPr>
        <p:blipFill>
          <a:blip r:embed="rId3"/>
          <a:stretch>
            <a:fillRect/>
          </a:stretch>
        </p:blipFill>
        <p:spPr>
          <a:xfrm>
            <a:off x="4946904" y="1444752"/>
            <a:ext cx="256032" cy="256032"/>
          </a:xfrm>
          <a:prstGeom prst="rect">
            <a:avLst/>
          </a:prstGeom>
        </p:spPr>
      </p:pic>
      <p:sp>
        <p:nvSpPr>
          <p:cNvPr id="10" name="Text 6"/>
          <p:cNvSpPr txBox="1"/>
          <p:nvPr/>
        </p:nvSpPr>
        <p:spPr>
          <a:xfrm>
            <a:off x="5394960" y="1261872"/>
            <a:ext cx="2971800" cy="1243584"/>
          </a:xfrm>
          <a:prstGeom prst="rect">
            <a:avLst/>
          </a:prstGeom>
          <a:noFill/>
          <a:ln/>
        </p:spPr>
        <p:txBody>
          <a:bodyPr wrap="square" lIns="38100" tIns="38100" rIns="38100" bIns="381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LOAS, 1993</a:t>
            </a:r>
            <a:endParaRPr lang="en-US" sz="1100" dirty="0"/>
          </a:p>
          <a:p>
            <a:pPr algn="l" indent="0" marL="0">
              <a:lnSpc>
                <a:spcPct val="100000"/>
              </a:lnSpc>
              <a:spcAft>
                <a:spcPts val="300"/>
              </a:spcAft>
              <a:buNone/>
            </a:pPr>
            <a:r>
              <a:rPr lang="en-US" sz="1500" b="1" dirty="0">
                <a:solidFill>
                  <a:srgbClr val="13294B"/>
                </a:solidFill>
                <a:latin typeface="Calibri" pitchFamily="34" charset="0"/>
                <a:ea typeface="Calibri" pitchFamily="34" charset="-122"/>
                <a:cs typeface="Calibri" pitchFamily="34" charset="-120"/>
              </a:rPr>
              <a:t>BPC</a:t>
            </a:r>
            <a:endParaRPr lang="en-US" sz="1100" dirty="0"/>
          </a:p>
          <a:p>
            <a:pPr algn="l" indent="0" marL="0">
              <a:lnSpc>
                <a:spcPct val="100000"/>
              </a:lnSpc>
              <a:buNone/>
            </a:pPr>
            <a:r>
              <a:rPr lang="en-US" sz="1300" dirty="0">
                <a:solidFill>
                  <a:srgbClr val="1F2A37"/>
                </a:solidFill>
                <a:latin typeface="Calibri" pitchFamily="34" charset="0"/>
                <a:ea typeface="Calibri" pitchFamily="34" charset="-122"/>
                <a:cs typeface="Calibri" pitchFamily="34" charset="-120"/>
              </a:rPr>
              <a:t>Um salário mínimo a idosos e pessoas com deficiência de baixa renda.</a:t>
            </a:r>
            <a:endParaRPr lang="en-US" sz="1100" dirty="0"/>
          </a:p>
        </p:txBody>
      </p:sp>
      <p:sp>
        <p:nvSpPr>
          <p:cNvPr id="11" name="Shape 7"/>
          <p:cNvSpPr/>
          <p:nvPr/>
        </p:nvSpPr>
        <p:spPr>
          <a:xfrm>
            <a:off x="685800" y="2743200"/>
            <a:ext cx="3749040" cy="1389888"/>
          </a:xfrm>
          <a:prstGeom prst="roundRect">
            <a:avLst>
              <a:gd name="adj" fmla="val 3947"/>
            </a:avLst>
          </a:prstGeom>
          <a:solidFill>
            <a:srgbClr val="FFFFFF"/>
          </a:solidFill>
          <a:ln w="12700">
            <a:solidFill>
              <a:srgbClr val="DCD5C1"/>
            </a:solidFill>
            <a:prstDash val="solid"/>
          </a:ln>
        </p:spPr>
      </p:sp>
      <p:sp>
        <p:nvSpPr>
          <p:cNvPr id="12" name="Shape 8"/>
          <p:cNvSpPr/>
          <p:nvPr/>
        </p:nvSpPr>
        <p:spPr>
          <a:xfrm>
            <a:off x="822960" y="2898648"/>
            <a:ext cx="457200" cy="457200"/>
          </a:xfrm>
          <a:prstGeom prst="roundRect">
            <a:avLst>
              <a:gd name="adj" fmla="val 16000"/>
            </a:avLst>
          </a:prstGeom>
          <a:solidFill>
            <a:srgbClr val="13294B"/>
          </a:solidFill>
          <a:ln/>
        </p:spPr>
      </p:sp>
      <p:pic>
        <p:nvPicPr>
          <p:cNvPr id="13" name="Image 2" descr="/tmp/claude-0/-home-user-zero-claude/d7e33190-c541-582c-a7cc-1156817732ce/scratchpad/deck/assets/icon_FaHandHoldingUsd.png">    </p:cNvPr>
          <p:cNvPicPr>
            <a:picLocks noChangeAspect="1"/>
          </p:cNvPicPr>
          <p:nvPr/>
        </p:nvPicPr>
        <p:blipFill>
          <a:blip r:embed="rId4"/>
          <a:stretch>
            <a:fillRect/>
          </a:stretch>
        </p:blipFill>
        <p:spPr>
          <a:xfrm>
            <a:off x="923544" y="2999232"/>
            <a:ext cx="256032" cy="256032"/>
          </a:xfrm>
          <a:prstGeom prst="rect">
            <a:avLst/>
          </a:prstGeom>
        </p:spPr>
      </p:pic>
      <p:sp>
        <p:nvSpPr>
          <p:cNvPr id="14" name="Text 9"/>
          <p:cNvSpPr txBox="1"/>
          <p:nvPr/>
        </p:nvSpPr>
        <p:spPr>
          <a:xfrm>
            <a:off x="1371600" y="2816352"/>
            <a:ext cx="2971800" cy="1243584"/>
          </a:xfrm>
          <a:prstGeom prst="rect">
            <a:avLst/>
          </a:prstGeom>
          <a:noFill/>
          <a:ln/>
        </p:spPr>
        <p:txBody>
          <a:bodyPr wrap="square" lIns="38100" tIns="38100" rIns="38100" bIns="381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2003</a:t>
            </a:r>
            <a:endParaRPr lang="en-US" sz="1100" dirty="0"/>
          </a:p>
          <a:p>
            <a:pPr algn="l" indent="0" marL="0">
              <a:lnSpc>
                <a:spcPct val="100000"/>
              </a:lnSpc>
              <a:spcAft>
                <a:spcPts val="300"/>
              </a:spcAft>
              <a:buNone/>
            </a:pPr>
            <a:r>
              <a:rPr lang="en-US" sz="1500" b="1" dirty="0">
                <a:solidFill>
                  <a:srgbClr val="13294B"/>
                </a:solidFill>
                <a:latin typeface="Calibri" pitchFamily="34" charset="0"/>
                <a:ea typeface="Calibri" pitchFamily="34" charset="-122"/>
                <a:cs typeface="Calibri" pitchFamily="34" charset="-120"/>
              </a:rPr>
              <a:t>Bolsa Família</a:t>
            </a:r>
            <a:endParaRPr lang="en-US" sz="1100" dirty="0"/>
          </a:p>
          <a:p>
            <a:pPr algn="l" indent="0" marL="0">
              <a:lnSpc>
                <a:spcPct val="100000"/>
              </a:lnSpc>
              <a:buNone/>
            </a:pPr>
            <a:r>
              <a:rPr lang="en-US" sz="1300" dirty="0">
                <a:solidFill>
                  <a:srgbClr val="1F2A37"/>
                </a:solidFill>
                <a:latin typeface="Calibri" pitchFamily="34" charset="0"/>
                <a:ea typeface="Calibri" pitchFamily="34" charset="-122"/>
                <a:cs typeface="Calibri" pitchFamily="34" charset="-120"/>
              </a:rPr>
              <a:t>Transferência de renda com condicionalidades em saúde e educação.</a:t>
            </a:r>
            <a:endParaRPr lang="en-US" sz="1100" dirty="0"/>
          </a:p>
        </p:txBody>
      </p:sp>
      <p:sp>
        <p:nvSpPr>
          <p:cNvPr id="15" name="Shape 10"/>
          <p:cNvSpPr/>
          <p:nvPr/>
        </p:nvSpPr>
        <p:spPr>
          <a:xfrm>
            <a:off x="4709160" y="2743200"/>
            <a:ext cx="3749040" cy="1389888"/>
          </a:xfrm>
          <a:prstGeom prst="roundRect">
            <a:avLst>
              <a:gd name="adj" fmla="val 3947"/>
            </a:avLst>
          </a:prstGeom>
          <a:solidFill>
            <a:srgbClr val="FFFFFF"/>
          </a:solidFill>
          <a:ln w="12700">
            <a:solidFill>
              <a:srgbClr val="DCD5C1"/>
            </a:solidFill>
            <a:prstDash val="solid"/>
          </a:ln>
        </p:spPr>
      </p:sp>
      <p:sp>
        <p:nvSpPr>
          <p:cNvPr id="16" name="Shape 11"/>
          <p:cNvSpPr/>
          <p:nvPr/>
        </p:nvSpPr>
        <p:spPr>
          <a:xfrm>
            <a:off x="4846320" y="2898648"/>
            <a:ext cx="457200" cy="457200"/>
          </a:xfrm>
          <a:prstGeom prst="roundRect">
            <a:avLst>
              <a:gd name="adj" fmla="val 16000"/>
            </a:avLst>
          </a:prstGeom>
          <a:solidFill>
            <a:srgbClr val="13294B"/>
          </a:solidFill>
          <a:ln/>
        </p:spPr>
      </p:sp>
      <p:pic>
        <p:nvPicPr>
          <p:cNvPr id="17" name="Image 3" descr="/tmp/claude-0/-home-user-zero-claude/d7e33190-c541-582c-a7cc-1156817732ce/scratchpad/deck/assets/icon_FaUniversity.png">    </p:cNvPr>
          <p:cNvPicPr>
            <a:picLocks noChangeAspect="1"/>
          </p:cNvPicPr>
          <p:nvPr/>
        </p:nvPicPr>
        <p:blipFill>
          <a:blip r:embed="rId5"/>
          <a:stretch>
            <a:fillRect/>
          </a:stretch>
        </p:blipFill>
        <p:spPr>
          <a:xfrm>
            <a:off x="4946904" y="2999232"/>
            <a:ext cx="256032" cy="256032"/>
          </a:xfrm>
          <a:prstGeom prst="rect">
            <a:avLst/>
          </a:prstGeom>
        </p:spPr>
      </p:pic>
      <p:sp>
        <p:nvSpPr>
          <p:cNvPr id="18" name="Text 12"/>
          <p:cNvSpPr txBox="1"/>
          <p:nvPr/>
        </p:nvSpPr>
        <p:spPr>
          <a:xfrm>
            <a:off x="5394960" y="2816352"/>
            <a:ext cx="2971800" cy="1243584"/>
          </a:xfrm>
          <a:prstGeom prst="rect">
            <a:avLst/>
          </a:prstGeom>
          <a:noFill/>
          <a:ln/>
        </p:spPr>
        <p:txBody>
          <a:bodyPr wrap="square" lIns="38100" tIns="38100" rIns="38100" bIns="38100" rtlCol="0" anchor="t"/>
          <a:lstStyle/>
          <a:p>
            <a:pPr algn="l" indent="0" marL="0">
              <a:lnSpc>
                <a:spcPct val="100000"/>
              </a:lnSpc>
              <a:spcAft>
                <a:spcPts val="200"/>
              </a:spcAft>
              <a:buNone/>
            </a:pPr>
            <a:r>
              <a:rPr lang="en-US" sz="1100" b="1" dirty="0">
                <a:solidFill>
                  <a:srgbClr val="2A8C85"/>
                </a:solidFill>
                <a:latin typeface="Calibri" pitchFamily="34" charset="0"/>
                <a:ea typeface="Calibri" pitchFamily="34" charset="-122"/>
                <a:cs typeface="Calibri" pitchFamily="34" charset="-120"/>
              </a:rPr>
              <a:t>2020</a:t>
            </a:r>
            <a:endParaRPr lang="en-US" sz="1100" dirty="0"/>
          </a:p>
          <a:p>
            <a:pPr algn="l" indent="0" marL="0">
              <a:lnSpc>
                <a:spcPct val="100000"/>
              </a:lnSpc>
              <a:spcAft>
                <a:spcPts val="300"/>
              </a:spcAft>
              <a:buNone/>
            </a:pPr>
            <a:r>
              <a:rPr lang="en-US" sz="1500" b="1" dirty="0">
                <a:solidFill>
                  <a:srgbClr val="13294B"/>
                </a:solidFill>
                <a:latin typeface="Calibri" pitchFamily="34" charset="0"/>
                <a:ea typeface="Calibri" pitchFamily="34" charset="-122"/>
                <a:cs typeface="Calibri" pitchFamily="34" charset="-120"/>
              </a:rPr>
              <a:t>Auxílio emergencial</a:t>
            </a:r>
            <a:endParaRPr lang="en-US" sz="1100" dirty="0"/>
          </a:p>
          <a:p>
            <a:pPr algn="l" indent="0" marL="0">
              <a:lnSpc>
                <a:spcPct val="100000"/>
              </a:lnSpc>
              <a:buNone/>
            </a:pPr>
            <a:r>
              <a:rPr lang="en-US" sz="1300" dirty="0">
                <a:solidFill>
                  <a:srgbClr val="1F2A37"/>
                </a:solidFill>
                <a:latin typeface="Calibri" pitchFamily="34" charset="0"/>
                <a:ea typeface="Calibri" pitchFamily="34" charset="-122"/>
                <a:cs typeface="Calibri" pitchFamily="34" charset="-120"/>
              </a:rPr>
              <a:t>Renda na pandemia: o Estado como estabilizador.</a:t>
            </a:r>
            <a:endParaRPr lang="en-US" sz="1100" dirty="0"/>
          </a:p>
        </p:txBody>
      </p:sp>
      <p:sp>
        <p:nvSpPr>
          <p:cNvPr id="19" name="Text 13"/>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A expansão do Bolsa Família</a:t>
            </a:r>
            <a:endParaRPr lang="en-US" sz="28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Famílias atendidas pelo programa</a:t>
            </a:r>
            <a:endParaRPr lang="en-US" sz="1400" dirty="0"/>
          </a:p>
        </p:txBody>
      </p:sp>
      <p:sp>
        <p:nvSpPr>
          <p:cNvPr id="4" name="Shape 2"/>
          <p:cNvSpPr/>
          <p:nvPr/>
        </p:nvSpPr>
        <p:spPr>
          <a:xfrm>
            <a:off x="548640" y="1207008"/>
            <a:ext cx="5349240" cy="2953512"/>
          </a:xfrm>
          <a:prstGeom prst="roundRect">
            <a:avLst>
              <a:gd name="adj" fmla="val 1858"/>
            </a:avLst>
          </a:prstGeom>
          <a:solidFill>
            <a:srgbClr val="FFFFFF"/>
          </a:solidFill>
          <a:ln w="12700">
            <a:solidFill>
              <a:srgbClr val="DCD5C1"/>
            </a:solidFill>
            <a:prstDash val="solid"/>
          </a:ln>
        </p:spPr>
      </p:sp>
      <p:sp>
        <p:nvSpPr>
          <p:cNvPr id="5" name="Text 3"/>
          <p:cNvSpPr txBox="1"/>
          <p:nvPr/>
        </p:nvSpPr>
        <p:spPr>
          <a:xfrm>
            <a:off x="658368" y="1261872"/>
            <a:ext cx="5120640" cy="310896"/>
          </a:xfrm>
          <a:prstGeom prst="rect">
            <a:avLst/>
          </a:prstGeom>
          <a:noFill/>
          <a:ln/>
        </p:spPr>
        <p:txBody>
          <a:bodyPr wrap="square" lIns="0" tIns="0" rIns="0" bIns="0" rtlCol="0" anchor="ctr"/>
          <a:lstStyle/>
          <a:p>
            <a:pPr algn="l" indent="0" marL="0">
              <a:lnSpc>
                <a:spcPct val="100000"/>
              </a:lnSpc>
              <a:buNone/>
            </a:pPr>
            <a:r>
              <a:rPr lang="en-US" sz="1300" b="1" dirty="0">
                <a:solidFill>
                  <a:srgbClr val="13294B"/>
                </a:solidFill>
                <a:latin typeface="Calibri" pitchFamily="34" charset="0"/>
                <a:ea typeface="Calibri" pitchFamily="34" charset="-122"/>
                <a:cs typeface="Calibri" pitchFamily="34" charset="-120"/>
              </a:rPr>
              <a:t>Famílias beneficiárias (milhões)</a:t>
            </a:r>
            <a:endParaRPr lang="en-US" sz="1300" dirty="0"/>
          </a:p>
        </p:txBody>
      </p:sp>
      <p:graphicFrame>
        <p:nvGraphicFramePr>
          <p:cNvPr id="6" name="Chart 0" descr=""/>
          <p:cNvGraphicFramePr/>
          <p:nvPr/>
        </p:nvGraphicFramePr>
        <p:xfrm>
          <a:off x="658368" y="1591056"/>
          <a:ext cx="5138928" cy="2496312"/>
        </p:xfrm>
        <a:graphic xmlns:a="http://schemas.openxmlformats.org/drawingml/2006/main">
          <a:graphicData uri="http://schemas.openxmlformats.org/drawingml/2006/chart">
            <c:chart xmlns:c="http://schemas.openxmlformats.org/drawingml/2006/chart" r:id="rId2"/>
          </a:graphicData>
        </a:graphic>
      </p:graphicFrame>
      <p:sp>
        <p:nvSpPr>
          <p:cNvPr id="7" name="Text 4"/>
          <p:cNvSpPr txBox="1"/>
          <p:nvPr/>
        </p:nvSpPr>
        <p:spPr>
          <a:xfrm>
            <a:off x="6035040" y="1207008"/>
            <a:ext cx="2560320" cy="2953512"/>
          </a:xfrm>
          <a:prstGeom prst="roundRect">
            <a:avLst>
              <a:gd name="adj" fmla="val 2143"/>
            </a:avLst>
          </a:prstGeom>
          <a:solidFill>
            <a:srgbClr val="E6F2F0"/>
          </a:solidFill>
          <a:ln/>
        </p:spPr>
        <p:txBody>
          <a:bodyPr wrap="square" lIns="114300" tIns="114300" rIns="114300" bIns="114300" rtlCol="0" anchor="t"/>
          <a:lstStyle/>
          <a:p>
            <a:pPr algn="l" indent="0" marL="0">
              <a:lnSpc>
                <a:spcPct val="100000"/>
              </a:lnSpc>
              <a:spcAft>
                <a:spcPts val="400"/>
              </a:spcAft>
              <a:buNone/>
            </a:pPr>
            <a:r>
              <a:rPr lang="en-US" sz="1100" b="1" dirty="0">
                <a:solidFill>
                  <a:srgbClr val="2A8C85"/>
                </a:solidFill>
                <a:latin typeface="Calibri" pitchFamily="34" charset="0"/>
                <a:ea typeface="Calibri" pitchFamily="34" charset="-122"/>
                <a:cs typeface="Calibri" pitchFamily="34" charset="-120"/>
              </a:rPr>
              <a:t>COMO LER O GRÁFICO</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O programa ampliou-se rapidamente nos primeiros anos.</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Em 2023, o novo Bolsa Família absorveu o público do Auxílio Brasil.</a:t>
            </a:r>
            <a:endParaRPr lang="en-US" sz="1100" dirty="0"/>
          </a:p>
          <a:p>
            <a:pPr algn="l" marL="177800" indent="-177800">
              <a:lnSpc>
                <a:spcPct val="100000"/>
              </a:lnSpc>
              <a:spcAft>
                <a:spcPts val="500"/>
              </a:spcAft>
              <a:buSzPct val="100000"/>
              <a:buChar char="•"/>
            </a:pPr>
            <a:r>
              <a:rPr lang="en-US" sz="1250" dirty="0">
                <a:solidFill>
                  <a:srgbClr val="1F2A37"/>
                </a:solidFill>
                <a:latin typeface="Calibri" pitchFamily="34" charset="0"/>
                <a:ea typeface="Calibri" pitchFamily="34" charset="-122"/>
                <a:cs typeface="Calibri" pitchFamily="34" charset="-120"/>
              </a:rPr>
              <a:t>Todo o cadastro passa pelo CadÚnico, operado pelos municípios.</a:t>
            </a:r>
            <a:endParaRPr lang="en-US" sz="1100" dirty="0"/>
          </a:p>
        </p:txBody>
      </p:sp>
      <p:sp>
        <p:nvSpPr>
          <p:cNvPr id="8" name="Text 5"/>
          <p:cNvSpPr txBox="1"/>
          <p:nvPr/>
        </p:nvSpPr>
        <p:spPr>
          <a:xfrm>
            <a:off x="548640" y="4206240"/>
            <a:ext cx="8046720" cy="274320"/>
          </a:xfrm>
          <a:prstGeom prst="rect">
            <a:avLst/>
          </a:prstGeom>
          <a:noFill/>
          <a:ln/>
        </p:spPr>
        <p:txBody>
          <a:bodyPr wrap="square" lIns="0" tIns="0" rIns="0" bIns="0" rtlCol="0" anchor="ctr"/>
          <a:lstStyle/>
          <a:p>
            <a:pPr algn="l" indent="0" marL="0">
              <a:lnSpc>
                <a:spcPct val="100000"/>
              </a:lnSpc>
              <a:buNone/>
            </a:pPr>
            <a:r>
              <a:rPr lang="en-US" sz="1000" i="1" dirty="0">
                <a:solidFill>
                  <a:srgbClr val="5B6770"/>
                </a:solidFill>
                <a:latin typeface="Calibri" pitchFamily="34" charset="0"/>
                <a:ea typeface="Calibri" pitchFamily="34" charset="-122"/>
                <a:cs typeface="Calibri" pitchFamily="34" charset="-120"/>
              </a:rPr>
              <a:t>Fonte: Ministério do Desenvolvimento Social (MDS). Valores aproximados, posição de dezembro.</a:t>
            </a:r>
            <a:endParaRPr lang="en-US" sz="1000" dirty="0"/>
          </a:p>
        </p:txBody>
      </p:sp>
      <p:sp>
        <p:nvSpPr>
          <p:cNvPr id="9" name="Text 6"/>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800" b="1" dirty="0">
                <a:solidFill>
                  <a:srgbClr val="13294B"/>
                </a:solidFill>
                <a:latin typeface="Calibri" pitchFamily="34" charset="0"/>
                <a:ea typeface="Calibri" pitchFamily="34" charset="-122"/>
                <a:cs typeface="Calibri" pitchFamily="34" charset="-120"/>
              </a:rPr>
              <a:t>Século XXI: Estado e mercado</a:t>
            </a:r>
            <a:endParaRPr lang="en-US" sz="28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A pergunta atual: que Estado e que mercado?</a:t>
            </a:r>
            <a:endParaRPr lang="en-US" sz="1400" dirty="0"/>
          </a:p>
        </p:txBody>
      </p:sp>
      <p:sp>
        <p:nvSpPr>
          <p:cNvPr id="4" name="Shape 2"/>
          <p:cNvSpPr/>
          <p:nvPr/>
        </p:nvSpPr>
        <p:spPr>
          <a:xfrm>
            <a:off x="685800" y="1234440"/>
            <a:ext cx="3749040" cy="1188720"/>
          </a:xfrm>
          <a:prstGeom prst="roundRect">
            <a:avLst>
              <a:gd name="adj" fmla="val 4615"/>
            </a:avLst>
          </a:prstGeom>
          <a:solidFill>
            <a:srgbClr val="FFFFFF"/>
          </a:solidFill>
          <a:ln w="12700">
            <a:solidFill>
              <a:srgbClr val="DCD5C1"/>
            </a:solidFill>
            <a:prstDash val="solid"/>
          </a:ln>
        </p:spPr>
      </p:sp>
      <p:sp>
        <p:nvSpPr>
          <p:cNvPr id="5" name="Shape 3"/>
          <p:cNvSpPr/>
          <p:nvPr/>
        </p:nvSpPr>
        <p:spPr>
          <a:xfrm>
            <a:off x="822960" y="1389888"/>
            <a:ext cx="457200" cy="457200"/>
          </a:xfrm>
          <a:prstGeom prst="roundRect">
            <a:avLst>
              <a:gd name="adj" fmla="val 16000"/>
            </a:avLst>
          </a:prstGeom>
          <a:solidFill>
            <a:srgbClr val="13294B"/>
          </a:solidFill>
          <a:ln/>
        </p:spPr>
      </p:sp>
      <p:pic>
        <p:nvPicPr>
          <p:cNvPr id="6" name="Image 0" descr="/tmp/claude-0/-home-user-zero-claude/d7e33190-c541-582c-a7cc-1156817732ce/scratchpad/deck/assets/icon_FaUniversity.png">    </p:cNvPr>
          <p:cNvPicPr>
            <a:picLocks noChangeAspect="1"/>
          </p:cNvPicPr>
          <p:nvPr/>
        </p:nvPicPr>
        <p:blipFill>
          <a:blip r:embed="rId2"/>
          <a:stretch>
            <a:fillRect/>
          </a:stretch>
        </p:blipFill>
        <p:spPr>
          <a:xfrm>
            <a:off x="923544" y="1490472"/>
            <a:ext cx="256032" cy="256032"/>
          </a:xfrm>
          <a:prstGeom prst="rect">
            <a:avLst/>
          </a:prstGeom>
        </p:spPr>
      </p:pic>
      <p:sp>
        <p:nvSpPr>
          <p:cNvPr id="7" name="Text 4"/>
          <p:cNvSpPr txBox="1"/>
          <p:nvPr/>
        </p:nvSpPr>
        <p:spPr>
          <a:xfrm>
            <a:off x="1371600" y="1307592"/>
            <a:ext cx="2971800" cy="1042416"/>
          </a:xfrm>
          <a:prstGeom prst="rect">
            <a:avLst/>
          </a:prstGeom>
          <a:noFill/>
          <a:ln/>
        </p:spPr>
        <p:txBody>
          <a:bodyPr wrap="square" lIns="38100" tIns="38100" rIns="38100" bIns="38100" rtlCol="0" anchor="t"/>
          <a:lstStyle/>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Crise de 2008</a:t>
            </a:r>
            <a:endParaRPr lang="en-US" sz="1600" dirty="0"/>
          </a:p>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Resgates bancários e estímulos fiscais.</a:t>
            </a:r>
            <a:endParaRPr lang="en-US" sz="1600" dirty="0"/>
          </a:p>
        </p:txBody>
      </p:sp>
      <p:sp>
        <p:nvSpPr>
          <p:cNvPr id="8" name="Shape 5"/>
          <p:cNvSpPr/>
          <p:nvPr/>
        </p:nvSpPr>
        <p:spPr>
          <a:xfrm>
            <a:off x="4709160" y="1234440"/>
            <a:ext cx="3749040" cy="1188720"/>
          </a:xfrm>
          <a:prstGeom prst="roundRect">
            <a:avLst>
              <a:gd name="adj" fmla="val 4615"/>
            </a:avLst>
          </a:prstGeom>
          <a:solidFill>
            <a:srgbClr val="FFFFFF"/>
          </a:solidFill>
          <a:ln w="12700">
            <a:solidFill>
              <a:srgbClr val="DCD5C1"/>
            </a:solidFill>
            <a:prstDash val="solid"/>
          </a:ln>
        </p:spPr>
      </p:sp>
      <p:sp>
        <p:nvSpPr>
          <p:cNvPr id="9" name="Shape 6"/>
          <p:cNvSpPr/>
          <p:nvPr/>
        </p:nvSpPr>
        <p:spPr>
          <a:xfrm>
            <a:off x="4846320" y="1389888"/>
            <a:ext cx="457200" cy="457200"/>
          </a:xfrm>
          <a:prstGeom prst="roundRect">
            <a:avLst>
              <a:gd name="adj" fmla="val 16000"/>
            </a:avLst>
          </a:prstGeom>
          <a:solidFill>
            <a:srgbClr val="13294B"/>
          </a:solidFill>
          <a:ln/>
        </p:spPr>
      </p:sp>
      <p:pic>
        <p:nvPicPr>
          <p:cNvPr id="10" name="Image 1" descr="/tmp/claude-0/-home-user-zero-claude/d7e33190-c541-582c-a7cc-1156817732ce/scratchpad/deck/assets/icon_FaHeartbeat.png">    </p:cNvPr>
          <p:cNvPicPr>
            <a:picLocks noChangeAspect="1"/>
          </p:cNvPicPr>
          <p:nvPr/>
        </p:nvPicPr>
        <p:blipFill>
          <a:blip r:embed="rId3"/>
          <a:stretch>
            <a:fillRect/>
          </a:stretch>
        </p:blipFill>
        <p:spPr>
          <a:xfrm>
            <a:off x="4946904" y="1490472"/>
            <a:ext cx="256032" cy="256032"/>
          </a:xfrm>
          <a:prstGeom prst="rect">
            <a:avLst/>
          </a:prstGeom>
        </p:spPr>
      </p:pic>
      <p:sp>
        <p:nvSpPr>
          <p:cNvPr id="11" name="Text 7"/>
          <p:cNvSpPr txBox="1"/>
          <p:nvPr/>
        </p:nvSpPr>
        <p:spPr>
          <a:xfrm>
            <a:off x="5394960" y="1307592"/>
            <a:ext cx="2971800" cy="1042416"/>
          </a:xfrm>
          <a:prstGeom prst="rect">
            <a:avLst/>
          </a:prstGeom>
          <a:noFill/>
          <a:ln/>
        </p:spPr>
        <p:txBody>
          <a:bodyPr wrap="square" lIns="38100" tIns="38100" rIns="38100" bIns="38100" rtlCol="0" anchor="t"/>
          <a:lstStyle/>
          <a:p>
            <a:pPr algn="l" indent="0" marL="0">
              <a:lnSpc>
                <a:spcPct val="100000"/>
              </a:lnSpc>
              <a:spcAft>
                <a:spcPts val="300"/>
              </a:spcAft>
              <a:buNone/>
            </a:pPr>
            <a:r>
              <a:rPr lang="en-US" sz="1600" b="1" dirty="0">
                <a:solidFill>
                  <a:srgbClr val="13294B"/>
                </a:solidFill>
                <a:latin typeface="Calibri" pitchFamily="34" charset="0"/>
                <a:ea typeface="Calibri" pitchFamily="34" charset="-122"/>
                <a:cs typeface="Calibri" pitchFamily="34" charset="-120"/>
              </a:rPr>
              <a:t>Pandemia de 2020</a:t>
            </a:r>
            <a:endParaRPr lang="en-US" sz="1600" dirty="0"/>
          </a:p>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Auxílio emergencial e o papel do SUS.</a:t>
            </a:r>
            <a:endParaRPr lang="en-US" sz="1600" dirty="0"/>
          </a:p>
        </p:txBody>
      </p:sp>
      <p:sp>
        <p:nvSpPr>
          <p:cNvPr id="12" name="Text 8"/>
          <p:cNvSpPr txBox="1"/>
          <p:nvPr/>
        </p:nvSpPr>
        <p:spPr>
          <a:xfrm>
            <a:off x="685800" y="2651760"/>
            <a:ext cx="7772400" cy="1463040"/>
          </a:xfrm>
          <a:prstGeom prst="roundRect">
            <a:avLst>
              <a:gd name="adj" fmla="val 3750"/>
            </a:avLst>
          </a:prstGeom>
          <a:solidFill>
            <a:srgbClr val="FBF4DC"/>
          </a:solidFill>
          <a:ln/>
        </p:spPr>
        <p:txBody>
          <a:bodyPr wrap="square" lIns="152400" tIns="152400" rIns="152400" bIns="152400" rtlCol="0" anchor="ctr"/>
          <a:lstStyle/>
          <a:p>
            <a:pPr algn="l" indent="0" marL="0">
              <a:lnSpc>
                <a:spcPct val="100000"/>
              </a:lnSpc>
              <a:spcAft>
                <a:spcPts val="400"/>
              </a:spcAft>
              <a:buNone/>
            </a:pPr>
            <a:r>
              <a:rPr lang="en-US" sz="1600" b="1" dirty="0">
                <a:solidFill>
                  <a:srgbClr val="13294B"/>
                </a:solidFill>
                <a:latin typeface="Calibri" pitchFamily="34" charset="0"/>
                <a:ea typeface="Calibri" pitchFamily="34" charset="-122"/>
                <a:cs typeface="Calibri" pitchFamily="34" charset="-120"/>
              </a:rPr>
              <a:t>Para refletir</a:t>
            </a:r>
            <a:endParaRPr lang="en-US" sz="1600" dirty="0"/>
          </a:p>
          <a:p>
            <a:pPr algn="l" indent="0" marL="0">
              <a:lnSpc>
                <a:spcPct val="100000"/>
              </a:lnSpc>
              <a:buNone/>
            </a:pPr>
            <a:r>
              <a:rPr lang="en-US" sz="1500" dirty="0">
                <a:solidFill>
                  <a:srgbClr val="1F2A37"/>
                </a:solidFill>
                <a:latin typeface="Calibri" pitchFamily="34" charset="0"/>
                <a:ea typeface="Calibri" pitchFamily="34" charset="-122"/>
                <a:cs typeface="Calibri" pitchFamily="34" charset="-120"/>
              </a:rPr>
              <a:t>Escolha uma política pública do seu município. Que falha de mercado ela corrige? Qual função do Estado cumpre? Em qual modelo de Estado ela se inspira?</a:t>
            </a:r>
            <a:endParaRPr lang="en-US" sz="1600" dirty="0"/>
          </a:p>
        </p:txBody>
      </p:sp>
      <p:sp>
        <p:nvSpPr>
          <p:cNvPr id="13" name="Text 9"/>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56032"/>
            <a:ext cx="7680960" cy="566928"/>
          </a:xfrm>
          <a:prstGeom prst="rect">
            <a:avLst/>
          </a:prstGeom>
          <a:noFill/>
          <a:ln/>
        </p:spPr>
        <p:txBody>
          <a:bodyPr wrap="square" lIns="0" tIns="0" rIns="0" bIns="0" rtlCol="0" anchor="ctr"/>
          <a:lstStyle/>
          <a:p>
            <a:pPr algn="ctr" indent="0" marL="0">
              <a:lnSpc>
                <a:spcPct val="100000"/>
              </a:lnSpc>
              <a:buNone/>
            </a:pPr>
            <a:r>
              <a:rPr lang="en-US" sz="2600" b="1" dirty="0">
                <a:solidFill>
                  <a:srgbClr val="13294B"/>
                </a:solidFill>
                <a:latin typeface="Calibri" pitchFamily="34" charset="0"/>
                <a:ea typeface="Calibri" pitchFamily="34" charset="-122"/>
                <a:cs typeface="Calibri" pitchFamily="34" charset="-120"/>
              </a:rPr>
              <a:t>Atividades da Unidade 4 e encerramento</a:t>
            </a:r>
            <a:endParaRPr lang="en-US" sz="2600" dirty="0"/>
          </a:p>
        </p:txBody>
      </p:sp>
      <p:sp>
        <p:nvSpPr>
          <p:cNvPr id="3" name="Text 1"/>
          <p:cNvSpPr txBox="1"/>
          <p:nvPr/>
        </p:nvSpPr>
        <p:spPr>
          <a:xfrm>
            <a:off x="1005840" y="804672"/>
            <a:ext cx="7132320" cy="329184"/>
          </a:xfrm>
          <a:prstGeom prst="rect">
            <a:avLst/>
          </a:prstGeom>
          <a:noFill/>
          <a:ln/>
        </p:spPr>
        <p:txBody>
          <a:bodyPr wrap="square" lIns="0" tIns="0" rIns="0" bIns="0" rtlCol="0" anchor="ctr"/>
          <a:lstStyle/>
          <a:p>
            <a:pPr algn="ctr" indent="0" marL="0">
              <a:lnSpc>
                <a:spcPct val="100000"/>
              </a:lnSpc>
              <a:buNone/>
            </a:pPr>
            <a:r>
              <a:rPr lang="en-US" sz="1400" dirty="0">
                <a:solidFill>
                  <a:srgbClr val="5B6770"/>
                </a:solidFill>
                <a:latin typeface="Calibri" pitchFamily="34" charset="0"/>
                <a:ea typeface="Calibri" pitchFamily="34" charset="-122"/>
                <a:cs typeface="Calibri" pitchFamily="34" charset="-120"/>
              </a:rPr>
              <a:t>Atividades e prazos da unidade (todas as entregas até 23h55)</a:t>
            </a:r>
            <a:endParaRPr lang="en-US" sz="1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2960" y="1325880"/>
          <a:ext cx="7498080" cy="914400"/>
        </p:xfrm>
        <a:graphic>
          <a:graphicData uri="http://schemas.openxmlformats.org/drawingml/2006/table">
            <a:tbl>
              <a:tblPr/>
              <a:tblGrid>
                <a:gridCol w="1691640"/>
                <a:gridCol w="580644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Data</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Atividade</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13294B"/>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02/11 (seg)</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Videoaula 4 e leitura da unidade</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até 08/11</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Exercícios de fixação 2 e Avaliação A2 no SIGAA (Unidades 3 e 4), 23h55</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09/11 a 15/11</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Semana de revisão (fórum de dúvidas e gravação do encontro síncrono)</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até 15/11</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c>
                  <a:txBody>
                    <a:bodyPr/>
                    <a:lstStyle/>
                    <a:p>
                      <a:pPr indent="0" marL="0">
                        <a:buNone/>
                      </a:pPr>
                      <a:r>
                        <a:rPr lang="en-US" sz="1350" dirty="0">
                          <a:solidFill>
                            <a:srgbClr val="1F2A37"/>
                          </a:solidFill>
                          <a:latin typeface="Calibri" pitchFamily="34" charset="0"/>
                          <a:ea typeface="Calibri" pitchFamily="34" charset="-122"/>
                          <a:cs typeface="Calibri" pitchFamily="34" charset="-120"/>
                        </a:rPr>
                        <a:t>Avaliação A3: 10 objetivas + estudo de caso (todo o conteúdo), 23h55</a:t>
                      </a:r>
                      <a:endParaRPr lang="en-US" sz="1350" dirty="0">
                        <a:latin typeface="Calibri" charset="0"/>
                        <a:ea typeface="Calibri" charset="0"/>
                        <a:cs typeface="Calibri" charset="0"/>
                      </a:endParaRPr>
                    </a:p>
                  </a:txBody>
                  <a:tcPr marL="50800" marR="50800" marT="50800" marB="50800" anchor="ctr">
                    <a:lnL w="9525" cap="flat" cmpd="sng" algn="ctr">
                      <a:solidFill>
                        <a:srgbClr val="DCD5C1"/>
                      </a:solidFill>
                      <a:prstDash val="solid"/>
                      <a:round/>
                      <a:headEnd type="none" w="med" len="med"/>
                      <a:tailEnd type="none" w="med" len="med"/>
                    </a:lnL>
                    <a:lnR w="9525" cap="flat" cmpd="sng" algn="ctr">
                      <a:solidFill>
                        <a:srgbClr val="DCD5C1"/>
                      </a:solidFill>
                      <a:prstDash val="solid"/>
                      <a:round/>
                      <a:headEnd type="none" w="med" len="med"/>
                      <a:tailEnd type="none" w="med" len="med"/>
                    </a:lnR>
                    <a:lnT w="9525" cap="flat" cmpd="sng" algn="ctr">
                      <a:solidFill>
                        <a:srgbClr val="DCD5C1"/>
                      </a:solidFill>
                      <a:prstDash val="solid"/>
                      <a:round/>
                      <a:headEnd type="none" w="med" len="med"/>
                      <a:tailEnd type="none" w="med" len="med"/>
                    </a:lnT>
                    <a:lnB w="9525" cap="flat" cmpd="sng" algn="ctr">
                      <a:solidFill>
                        <a:srgbClr val="DCD5C1"/>
                      </a:solidFill>
                      <a:prstDash val="solid"/>
                      <a:round/>
                      <a:headEnd type="none" w="med" len="med"/>
                      <a:tailEnd type="none" w="med" len="med"/>
                    </a:lnB>
                    <a:solidFill>
                      <a:srgbClr val="F4F7F8"/>
                    </a:solidFill>
                  </a:tcPr>
                </a:tc>
              </a:tr>
            </a:tbl>
          </a:graphicData>
        </a:graphic>
      </p:graphicFrame>
      <p:sp>
        <p:nvSpPr>
          <p:cNvPr id="5" name="Text 2"/>
          <p:cNvSpPr txBox="1"/>
          <p:nvPr/>
        </p:nvSpPr>
        <p:spPr>
          <a:xfrm>
            <a:off x="822960" y="3840480"/>
            <a:ext cx="7498080" cy="548640"/>
          </a:xfrm>
          <a:prstGeom prst="roundRect">
            <a:avLst>
              <a:gd name="adj" fmla="val 13333"/>
            </a:avLst>
          </a:prstGeom>
          <a:solidFill>
            <a:srgbClr val="E6F2F0"/>
          </a:solidFill>
          <a:ln/>
        </p:spPr>
        <p:txBody>
          <a:bodyPr wrap="square" lIns="127000" tIns="127000" rIns="127000" bIns="127000" rtlCol="0" anchor="ctr"/>
          <a:lstStyle/>
          <a:p>
            <a:pPr algn="ctr" indent="0" marL="0">
              <a:lnSpc>
                <a:spcPct val="100000"/>
              </a:lnSpc>
              <a:buNone/>
            </a:pPr>
            <a:r>
              <a:rPr lang="en-US" sz="1350" dirty="0">
                <a:solidFill>
                  <a:srgbClr val="13294B"/>
                </a:solidFill>
                <a:latin typeface="Calibri" pitchFamily="34" charset="0"/>
                <a:ea typeface="Calibri" pitchFamily="34" charset="-122"/>
                <a:cs typeface="Calibri" pitchFamily="34" charset="-120"/>
              </a:rPr>
              <a:t>Nota final = (((A1 + A2) / 2) × 0,4) + (A3 × 0,6) · aprovação com 7,0</a:t>
            </a:r>
            <a:endParaRPr lang="en-US" sz="1350" dirty="0"/>
          </a:p>
        </p:txBody>
      </p:sp>
      <p:sp>
        <p:nvSpPr>
          <p:cNvPr id="6" name="Text 3"/>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069080" y="1097280"/>
            <a:ext cx="1005840" cy="1005840"/>
          </a:xfrm>
          <a:prstGeom prst="roundRect">
            <a:avLst>
              <a:gd name="adj" fmla="val 18182"/>
            </a:avLst>
          </a:prstGeom>
          <a:solidFill>
            <a:srgbClr val="2A8C85"/>
          </a:solidFill>
          <a:ln/>
        </p:spPr>
      </p:sp>
      <p:pic>
        <p:nvPicPr>
          <p:cNvPr id="3" name="Image 0" descr="/tmp/claude-0/-home-user-zero-claude/d7e33190-c541-582c-a7cc-1156817732ce/scratchpad/deck/assets/icon_FaQuestion.png">    </p:cNvPr>
          <p:cNvPicPr>
            <a:picLocks noChangeAspect="1"/>
          </p:cNvPicPr>
          <p:nvPr/>
        </p:nvPicPr>
        <p:blipFill>
          <a:blip r:embed="rId2"/>
          <a:stretch>
            <a:fillRect/>
          </a:stretch>
        </p:blipFill>
        <p:spPr>
          <a:xfrm>
            <a:off x="4297680" y="1325880"/>
            <a:ext cx="548640" cy="548640"/>
          </a:xfrm>
          <a:prstGeom prst="rect">
            <a:avLst/>
          </a:prstGeom>
        </p:spPr>
      </p:pic>
      <p:sp>
        <p:nvSpPr>
          <p:cNvPr id="4" name="Text 1"/>
          <p:cNvSpPr txBox="1"/>
          <p:nvPr/>
        </p:nvSpPr>
        <p:spPr>
          <a:xfrm>
            <a:off x="731520" y="2240280"/>
            <a:ext cx="7680960" cy="731520"/>
          </a:xfrm>
          <a:prstGeom prst="rect">
            <a:avLst/>
          </a:prstGeom>
          <a:noFill/>
          <a:ln/>
        </p:spPr>
        <p:txBody>
          <a:bodyPr wrap="square" lIns="0" tIns="0" rIns="0" bIns="0" rtlCol="0" anchor="ctr"/>
          <a:lstStyle/>
          <a:p>
            <a:pPr algn="ctr" indent="0" marL="0">
              <a:lnSpc>
                <a:spcPct val="100000"/>
              </a:lnSpc>
              <a:buNone/>
            </a:pPr>
            <a:r>
              <a:rPr lang="en-US" sz="3600" b="1" dirty="0">
                <a:solidFill>
                  <a:srgbClr val="13294B"/>
                </a:solidFill>
                <a:latin typeface="Calibri" pitchFamily="34" charset="0"/>
                <a:ea typeface="Calibri" pitchFamily="34" charset="-122"/>
                <a:cs typeface="Calibri" pitchFamily="34" charset="-120"/>
              </a:rPr>
              <a:t>Quiz da Unidade 4</a:t>
            </a:r>
            <a:endParaRPr lang="en-US" sz="3600" dirty="0"/>
          </a:p>
        </p:txBody>
      </p:sp>
      <p:sp>
        <p:nvSpPr>
          <p:cNvPr id="5" name="Text 2"/>
          <p:cNvSpPr txBox="1"/>
          <p:nvPr/>
        </p:nvSpPr>
        <p:spPr>
          <a:xfrm>
            <a:off x="1188720" y="2926080"/>
            <a:ext cx="6766560" cy="822960"/>
          </a:xfrm>
          <a:prstGeom prst="rect">
            <a:avLst/>
          </a:prstGeom>
          <a:noFill/>
          <a:ln/>
        </p:spPr>
        <p:txBody>
          <a:bodyPr wrap="square" lIns="0" tIns="0" rIns="0" bIns="0" rtlCol="0" anchor="t"/>
          <a:lstStyle/>
          <a:p>
            <a:pPr algn="ctr" indent="0" marL="0">
              <a:lnSpc>
                <a:spcPct val="100000"/>
              </a:lnSpc>
              <a:buNone/>
            </a:pPr>
            <a:r>
              <a:rPr lang="en-US" sz="1600" dirty="0">
                <a:solidFill>
                  <a:srgbClr val="5B6770"/>
                </a:solidFill>
                <a:latin typeface="Calibri" pitchFamily="34" charset="0"/>
                <a:ea typeface="Calibri" pitchFamily="34" charset="-122"/>
                <a:cs typeface="Calibri" pitchFamily="34" charset="-120"/>
              </a:rPr>
              <a:t>5 perguntas para revisar a unidade. Pause o vídeo, escolha sua resposta e confira no slide seguinte.</a:t>
            </a:r>
            <a:endParaRPr lang="en-US" sz="1600" dirty="0"/>
          </a:p>
        </p:txBody>
      </p:sp>
      <p:sp>
        <p:nvSpPr>
          <p:cNvPr id="6" name="Text 3"/>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1 DE 5</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Numa recessão, o que Keynes recomendaria ao governo?</a:t>
            </a:r>
            <a:endParaRPr lang="en-US" sz="1900" dirty="0"/>
          </a:p>
        </p:txBody>
      </p:sp>
      <p:sp>
        <p:nvSpPr>
          <p:cNvPr id="4" name="Shape 2"/>
          <p:cNvSpPr/>
          <p:nvPr/>
        </p:nvSpPr>
        <p:spPr>
          <a:xfrm>
            <a:off x="685800" y="1737360"/>
            <a:ext cx="3794760" cy="914400"/>
          </a:xfrm>
          <a:prstGeom prst="roundRect">
            <a:avLst>
              <a:gd name="adj" fmla="val 8000"/>
            </a:avLst>
          </a:prstGeom>
          <a:solidFill>
            <a:srgbClr val="FFFFFF"/>
          </a:solidFill>
          <a:ln w="12700">
            <a:solidFill>
              <a:srgbClr val="DCD5C1"/>
            </a:solidFill>
            <a:prstDash val="solid"/>
          </a:ln>
        </p:spPr>
      </p:sp>
      <p:sp>
        <p:nvSpPr>
          <p:cNvPr id="5" name="Text 3"/>
          <p:cNvSpPr txBox="1"/>
          <p:nvPr/>
        </p:nvSpPr>
        <p:spPr>
          <a:xfrm>
            <a:off x="81381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Cortar gastos para equilibrar o orçamento</a:t>
            </a:r>
            <a:endParaRPr lang="en-US" sz="1400" dirty="0"/>
          </a:p>
        </p:txBody>
      </p:sp>
      <p:sp>
        <p:nvSpPr>
          <p:cNvPr id="7" name="Shape 5"/>
          <p:cNvSpPr/>
          <p:nvPr/>
        </p:nvSpPr>
        <p:spPr>
          <a:xfrm>
            <a:off x="4663440" y="1737360"/>
            <a:ext cx="3794760" cy="914400"/>
          </a:xfrm>
          <a:prstGeom prst="roundRect">
            <a:avLst>
              <a:gd name="adj" fmla="val 8000"/>
            </a:avLst>
          </a:prstGeom>
          <a:solidFill>
            <a:srgbClr val="FFFFFF"/>
          </a:solidFill>
          <a:ln w="12700">
            <a:solidFill>
              <a:srgbClr val="DCD5C1"/>
            </a:solidFill>
            <a:prstDash val="solid"/>
          </a:ln>
        </p:spPr>
      </p:sp>
      <p:sp>
        <p:nvSpPr>
          <p:cNvPr id="8" name="Text 6"/>
          <p:cNvSpPr txBox="1"/>
          <p:nvPr/>
        </p:nvSpPr>
        <p:spPr>
          <a:xfrm>
            <a:off x="479145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Aumentar o gasto e o investimento para compensar a queda da demanda</a:t>
            </a:r>
            <a:endParaRPr lang="en-US" sz="1400" dirty="0"/>
          </a:p>
        </p:txBody>
      </p:sp>
      <p:sp>
        <p:nvSpPr>
          <p:cNvPr id="10" name="Shape 8"/>
          <p:cNvSpPr/>
          <p:nvPr/>
        </p:nvSpPr>
        <p:spPr>
          <a:xfrm>
            <a:off x="685800" y="2798064"/>
            <a:ext cx="3794760" cy="914400"/>
          </a:xfrm>
          <a:prstGeom prst="roundRect">
            <a:avLst>
              <a:gd name="adj" fmla="val 8000"/>
            </a:avLst>
          </a:prstGeom>
          <a:solidFill>
            <a:srgbClr val="FFFFFF"/>
          </a:solidFill>
          <a:ln w="12700">
            <a:solidFill>
              <a:srgbClr val="DCD5C1"/>
            </a:solidFill>
            <a:prstDash val="solid"/>
          </a:ln>
        </p:spPr>
      </p:sp>
      <p:sp>
        <p:nvSpPr>
          <p:cNvPr id="11" name="Text 9"/>
          <p:cNvSpPr txBox="1"/>
          <p:nvPr/>
        </p:nvSpPr>
        <p:spPr>
          <a:xfrm>
            <a:off x="81381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Elevar os juros para conter o consumo</a:t>
            </a:r>
            <a:endParaRPr lang="en-US" sz="1400" dirty="0"/>
          </a:p>
        </p:txBody>
      </p:sp>
      <p:sp>
        <p:nvSpPr>
          <p:cNvPr id="13" name="Shape 11"/>
          <p:cNvSpPr/>
          <p:nvPr/>
        </p:nvSpPr>
        <p:spPr>
          <a:xfrm>
            <a:off x="4663440" y="2798064"/>
            <a:ext cx="3794760" cy="914400"/>
          </a:xfrm>
          <a:prstGeom prst="roundRect">
            <a:avLst>
              <a:gd name="adj" fmla="val 8000"/>
            </a:avLst>
          </a:prstGeom>
          <a:solidFill>
            <a:srgbClr val="FFFFFF"/>
          </a:solidFill>
          <a:ln w="12700">
            <a:solidFill>
              <a:srgbClr val="DCD5C1"/>
            </a:solidFill>
            <a:prstDash val="solid"/>
          </a:ln>
        </p:spPr>
      </p:sp>
      <p:sp>
        <p:nvSpPr>
          <p:cNvPr id="14" name="Text 12"/>
          <p:cNvSpPr txBox="1"/>
          <p:nvPr/>
        </p:nvSpPr>
        <p:spPr>
          <a:xfrm>
            <a:off x="479145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Não intervir e esperar o ajuste do mercado</a:t>
            </a:r>
            <a:endParaRPr lang="en-US" sz="1400" dirty="0"/>
          </a:p>
        </p:txBody>
      </p:sp>
      <p:sp>
        <p:nvSpPr>
          <p:cNvPr id="16" name="Text 14"/>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1 DE 5 · RESPOSTA</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Numa recessão, o que Keynes recomendaria ao governo?</a:t>
            </a:r>
            <a:endParaRPr lang="en-US" sz="1900" dirty="0"/>
          </a:p>
        </p:txBody>
      </p:sp>
      <p:sp>
        <p:nvSpPr>
          <p:cNvPr id="4" name="Shape 2"/>
          <p:cNvSpPr/>
          <p:nvPr/>
        </p:nvSpPr>
        <p:spPr>
          <a:xfrm>
            <a:off x="685800" y="1737360"/>
            <a:ext cx="3794760" cy="749808"/>
          </a:xfrm>
          <a:prstGeom prst="roundRect">
            <a:avLst>
              <a:gd name="adj" fmla="val 9756"/>
            </a:avLst>
          </a:prstGeom>
          <a:solidFill>
            <a:srgbClr val="FFFFFF"/>
          </a:solidFill>
          <a:ln w="12700">
            <a:solidFill>
              <a:srgbClr val="DCD5C1"/>
            </a:solidFill>
            <a:prstDash val="solid"/>
          </a:ln>
        </p:spPr>
      </p:sp>
      <p:sp>
        <p:nvSpPr>
          <p:cNvPr id="5" name="Text 3"/>
          <p:cNvSpPr txBox="1"/>
          <p:nvPr/>
        </p:nvSpPr>
        <p:spPr>
          <a:xfrm>
            <a:off x="813816" y="1901952"/>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Cortar gastos para equilibrar o orçamento</a:t>
            </a:r>
            <a:endParaRPr lang="en-US" sz="1400" dirty="0"/>
          </a:p>
        </p:txBody>
      </p:sp>
      <p:sp>
        <p:nvSpPr>
          <p:cNvPr id="7" name="Shape 5"/>
          <p:cNvSpPr/>
          <p:nvPr/>
        </p:nvSpPr>
        <p:spPr>
          <a:xfrm>
            <a:off x="4663440" y="1737360"/>
            <a:ext cx="3794760" cy="749808"/>
          </a:xfrm>
          <a:prstGeom prst="roundRect">
            <a:avLst>
              <a:gd name="adj" fmla="val 9756"/>
            </a:avLst>
          </a:prstGeom>
          <a:solidFill>
            <a:srgbClr val="E3F2E8"/>
          </a:solidFill>
          <a:ln w="25400">
            <a:solidFill>
              <a:srgbClr val="2E7D4F"/>
            </a:solidFill>
            <a:prstDash val="solid"/>
          </a:ln>
        </p:spPr>
      </p:sp>
      <p:sp>
        <p:nvSpPr>
          <p:cNvPr id="8" name="Text 6"/>
          <p:cNvSpPr txBox="1"/>
          <p:nvPr/>
        </p:nvSpPr>
        <p:spPr>
          <a:xfrm>
            <a:off x="4791456" y="1901952"/>
            <a:ext cx="420624" cy="420624"/>
          </a:xfrm>
          <a:prstGeom prst="roundRect">
            <a:avLst>
              <a:gd name="adj" fmla="val 50000"/>
            </a:avLst>
          </a:prstGeom>
          <a:solidFill>
            <a:srgbClr val="2E7D4F"/>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b="1" dirty="0">
                <a:solidFill>
                  <a:srgbClr val="1F2A37"/>
                </a:solidFill>
                <a:latin typeface="Calibri" pitchFamily="34" charset="0"/>
                <a:ea typeface="Calibri" pitchFamily="34" charset="-122"/>
                <a:cs typeface="Calibri" pitchFamily="34" charset="-120"/>
              </a:rPr>
              <a:t>Aumentar o gasto e o investimento para compensar a queda da demanda</a:t>
            </a:r>
            <a:endParaRPr lang="en-US" sz="1400" dirty="0"/>
          </a:p>
        </p:txBody>
      </p:sp>
      <p:sp>
        <p:nvSpPr>
          <p:cNvPr id="10" name="Shape 8"/>
          <p:cNvSpPr/>
          <p:nvPr/>
        </p:nvSpPr>
        <p:spPr>
          <a:xfrm>
            <a:off x="685800" y="2633472"/>
            <a:ext cx="3794760" cy="749808"/>
          </a:xfrm>
          <a:prstGeom prst="roundRect">
            <a:avLst>
              <a:gd name="adj" fmla="val 9756"/>
            </a:avLst>
          </a:prstGeom>
          <a:solidFill>
            <a:srgbClr val="FFFFFF"/>
          </a:solidFill>
          <a:ln w="12700">
            <a:solidFill>
              <a:srgbClr val="DCD5C1"/>
            </a:solidFill>
            <a:prstDash val="solid"/>
          </a:ln>
        </p:spPr>
      </p:sp>
      <p:sp>
        <p:nvSpPr>
          <p:cNvPr id="11" name="Text 9"/>
          <p:cNvSpPr txBox="1"/>
          <p:nvPr/>
        </p:nvSpPr>
        <p:spPr>
          <a:xfrm>
            <a:off x="813816" y="2798064"/>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Elevar os juros para conter o consumo</a:t>
            </a:r>
            <a:endParaRPr lang="en-US" sz="1400" dirty="0"/>
          </a:p>
        </p:txBody>
      </p:sp>
      <p:sp>
        <p:nvSpPr>
          <p:cNvPr id="13" name="Shape 11"/>
          <p:cNvSpPr/>
          <p:nvPr/>
        </p:nvSpPr>
        <p:spPr>
          <a:xfrm>
            <a:off x="4663440" y="2633472"/>
            <a:ext cx="3794760" cy="749808"/>
          </a:xfrm>
          <a:prstGeom prst="roundRect">
            <a:avLst>
              <a:gd name="adj" fmla="val 9756"/>
            </a:avLst>
          </a:prstGeom>
          <a:solidFill>
            <a:srgbClr val="FFFFFF"/>
          </a:solidFill>
          <a:ln w="12700">
            <a:solidFill>
              <a:srgbClr val="DCD5C1"/>
            </a:solidFill>
            <a:prstDash val="solid"/>
          </a:ln>
        </p:spPr>
      </p:sp>
      <p:sp>
        <p:nvSpPr>
          <p:cNvPr id="14" name="Text 12"/>
          <p:cNvSpPr txBox="1"/>
          <p:nvPr/>
        </p:nvSpPr>
        <p:spPr>
          <a:xfrm>
            <a:off x="4791456" y="2798064"/>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Não intervir e esperar o ajuste do mercado</a:t>
            </a:r>
            <a:endParaRPr lang="en-US" sz="1400" dirty="0"/>
          </a:p>
        </p:txBody>
      </p:sp>
      <p:sp>
        <p:nvSpPr>
          <p:cNvPr id="16" name="Text 14"/>
          <p:cNvSpPr txBox="1"/>
          <p:nvPr/>
        </p:nvSpPr>
        <p:spPr>
          <a:xfrm>
            <a:off x="685800" y="3566160"/>
            <a:ext cx="7772400" cy="841248"/>
          </a:xfrm>
          <a:prstGeom prst="roundRect">
            <a:avLst>
              <a:gd name="adj" fmla="val 8696"/>
            </a:avLst>
          </a:prstGeom>
          <a:solidFill>
            <a:srgbClr val="E6F2F0"/>
          </a:solidFill>
          <a:ln/>
        </p:spPr>
        <p:txBody>
          <a:bodyPr wrap="square" lIns="114300" tIns="114300" rIns="114300" bIns="114300" rtlCol="0" anchor="ctr"/>
          <a:lstStyle/>
          <a:p>
            <a:pPr algn="l" indent="0" marL="0">
              <a:lnSpc>
                <a:spcPct val="100000"/>
              </a:lnSpc>
              <a:buNone/>
            </a:pPr>
            <a:r>
              <a:rPr lang="en-US" sz="1350" b="1" dirty="0">
                <a:solidFill>
                  <a:srgbClr val="2E7D4F"/>
                </a:solidFill>
                <a:latin typeface="Calibri" pitchFamily="34" charset="0"/>
                <a:ea typeface="Calibri" pitchFamily="34" charset="-122"/>
                <a:cs typeface="Calibri" pitchFamily="34" charset="-120"/>
              </a:rPr>
              <a:t>Resposta: b) </a:t>
            </a:r>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Para Keynes, a crise vem da falta de demanda efetiva; o gasto público (G) sustenta a produção e, pelo multiplicador, a renda.</a:t>
            </a:r>
            <a:endParaRPr lang="en-US" sz="1350" dirty="0"/>
          </a:p>
        </p:txBody>
      </p:sp>
      <p:sp>
        <p:nvSpPr>
          <p:cNvPr id="17" name="Text 15"/>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2 DE 5</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Direitos universais financiados por impostos, como na Suécia, caracterizam o regime de bem-estar:</a:t>
            </a:r>
            <a:endParaRPr lang="en-US" sz="1900" dirty="0"/>
          </a:p>
        </p:txBody>
      </p:sp>
      <p:sp>
        <p:nvSpPr>
          <p:cNvPr id="4" name="Shape 2"/>
          <p:cNvSpPr/>
          <p:nvPr/>
        </p:nvSpPr>
        <p:spPr>
          <a:xfrm>
            <a:off x="685800" y="1737360"/>
            <a:ext cx="3794760" cy="914400"/>
          </a:xfrm>
          <a:prstGeom prst="roundRect">
            <a:avLst>
              <a:gd name="adj" fmla="val 8000"/>
            </a:avLst>
          </a:prstGeom>
          <a:solidFill>
            <a:srgbClr val="FFFFFF"/>
          </a:solidFill>
          <a:ln w="12700">
            <a:solidFill>
              <a:srgbClr val="DCD5C1"/>
            </a:solidFill>
            <a:prstDash val="solid"/>
          </a:ln>
        </p:spPr>
      </p:sp>
      <p:sp>
        <p:nvSpPr>
          <p:cNvPr id="5" name="Text 3"/>
          <p:cNvSpPr txBox="1"/>
          <p:nvPr/>
        </p:nvSpPr>
        <p:spPr>
          <a:xfrm>
            <a:off x="81381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Liberal</a:t>
            </a:r>
            <a:endParaRPr lang="en-US" sz="1400" dirty="0"/>
          </a:p>
        </p:txBody>
      </p:sp>
      <p:sp>
        <p:nvSpPr>
          <p:cNvPr id="7" name="Shape 5"/>
          <p:cNvSpPr/>
          <p:nvPr/>
        </p:nvSpPr>
        <p:spPr>
          <a:xfrm>
            <a:off x="4663440" y="1737360"/>
            <a:ext cx="3794760" cy="914400"/>
          </a:xfrm>
          <a:prstGeom prst="roundRect">
            <a:avLst>
              <a:gd name="adj" fmla="val 8000"/>
            </a:avLst>
          </a:prstGeom>
          <a:solidFill>
            <a:srgbClr val="FFFFFF"/>
          </a:solidFill>
          <a:ln w="12700">
            <a:solidFill>
              <a:srgbClr val="DCD5C1"/>
            </a:solidFill>
            <a:prstDash val="solid"/>
          </a:ln>
        </p:spPr>
      </p:sp>
      <p:sp>
        <p:nvSpPr>
          <p:cNvPr id="8" name="Text 6"/>
          <p:cNvSpPr txBox="1"/>
          <p:nvPr/>
        </p:nvSpPr>
        <p:spPr>
          <a:xfrm>
            <a:off x="479145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Conservador-corporativo</a:t>
            </a:r>
            <a:endParaRPr lang="en-US" sz="1400" dirty="0"/>
          </a:p>
        </p:txBody>
      </p:sp>
      <p:sp>
        <p:nvSpPr>
          <p:cNvPr id="10" name="Shape 8"/>
          <p:cNvSpPr/>
          <p:nvPr/>
        </p:nvSpPr>
        <p:spPr>
          <a:xfrm>
            <a:off x="685800" y="2798064"/>
            <a:ext cx="3794760" cy="914400"/>
          </a:xfrm>
          <a:prstGeom prst="roundRect">
            <a:avLst>
              <a:gd name="adj" fmla="val 8000"/>
            </a:avLst>
          </a:prstGeom>
          <a:solidFill>
            <a:srgbClr val="FFFFFF"/>
          </a:solidFill>
          <a:ln w="12700">
            <a:solidFill>
              <a:srgbClr val="DCD5C1"/>
            </a:solidFill>
            <a:prstDash val="solid"/>
          </a:ln>
        </p:spPr>
      </p:sp>
      <p:sp>
        <p:nvSpPr>
          <p:cNvPr id="11" name="Text 9"/>
          <p:cNvSpPr txBox="1"/>
          <p:nvPr/>
        </p:nvSpPr>
        <p:spPr>
          <a:xfrm>
            <a:off x="81381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Social-democrata</a:t>
            </a:r>
            <a:endParaRPr lang="en-US" sz="1400" dirty="0"/>
          </a:p>
        </p:txBody>
      </p:sp>
      <p:sp>
        <p:nvSpPr>
          <p:cNvPr id="13" name="Shape 11"/>
          <p:cNvSpPr/>
          <p:nvPr/>
        </p:nvSpPr>
        <p:spPr>
          <a:xfrm>
            <a:off x="4663440" y="2798064"/>
            <a:ext cx="3794760" cy="914400"/>
          </a:xfrm>
          <a:prstGeom prst="roundRect">
            <a:avLst>
              <a:gd name="adj" fmla="val 8000"/>
            </a:avLst>
          </a:prstGeom>
          <a:solidFill>
            <a:srgbClr val="FFFFFF"/>
          </a:solidFill>
          <a:ln w="12700">
            <a:solidFill>
              <a:srgbClr val="DCD5C1"/>
            </a:solidFill>
            <a:prstDash val="solid"/>
          </a:ln>
        </p:spPr>
      </p:sp>
      <p:sp>
        <p:nvSpPr>
          <p:cNvPr id="14" name="Text 12"/>
          <p:cNvSpPr txBox="1"/>
          <p:nvPr/>
        </p:nvSpPr>
        <p:spPr>
          <a:xfrm>
            <a:off x="479145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Neoliberal</a:t>
            </a:r>
            <a:endParaRPr lang="en-US" sz="1400" dirty="0"/>
          </a:p>
        </p:txBody>
      </p:sp>
      <p:sp>
        <p:nvSpPr>
          <p:cNvPr id="16" name="Text 14"/>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2 DE 5 · RESPOSTA</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Direitos universais financiados por impostos, como na Suécia, caracterizam o regime de bem-estar:</a:t>
            </a:r>
            <a:endParaRPr lang="en-US" sz="1900" dirty="0"/>
          </a:p>
        </p:txBody>
      </p:sp>
      <p:sp>
        <p:nvSpPr>
          <p:cNvPr id="4" name="Shape 2"/>
          <p:cNvSpPr/>
          <p:nvPr/>
        </p:nvSpPr>
        <p:spPr>
          <a:xfrm>
            <a:off x="685800" y="1737360"/>
            <a:ext cx="3794760" cy="749808"/>
          </a:xfrm>
          <a:prstGeom prst="roundRect">
            <a:avLst>
              <a:gd name="adj" fmla="val 9756"/>
            </a:avLst>
          </a:prstGeom>
          <a:solidFill>
            <a:srgbClr val="FFFFFF"/>
          </a:solidFill>
          <a:ln w="12700">
            <a:solidFill>
              <a:srgbClr val="DCD5C1"/>
            </a:solidFill>
            <a:prstDash val="solid"/>
          </a:ln>
        </p:spPr>
      </p:sp>
      <p:sp>
        <p:nvSpPr>
          <p:cNvPr id="5" name="Text 3"/>
          <p:cNvSpPr txBox="1"/>
          <p:nvPr/>
        </p:nvSpPr>
        <p:spPr>
          <a:xfrm>
            <a:off x="813816" y="1901952"/>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Liberal</a:t>
            </a:r>
            <a:endParaRPr lang="en-US" sz="1400" dirty="0"/>
          </a:p>
        </p:txBody>
      </p:sp>
      <p:sp>
        <p:nvSpPr>
          <p:cNvPr id="7" name="Shape 5"/>
          <p:cNvSpPr/>
          <p:nvPr/>
        </p:nvSpPr>
        <p:spPr>
          <a:xfrm>
            <a:off x="4663440" y="1737360"/>
            <a:ext cx="3794760" cy="749808"/>
          </a:xfrm>
          <a:prstGeom prst="roundRect">
            <a:avLst>
              <a:gd name="adj" fmla="val 9756"/>
            </a:avLst>
          </a:prstGeom>
          <a:solidFill>
            <a:srgbClr val="FFFFFF"/>
          </a:solidFill>
          <a:ln w="12700">
            <a:solidFill>
              <a:srgbClr val="DCD5C1"/>
            </a:solidFill>
            <a:prstDash val="solid"/>
          </a:ln>
        </p:spPr>
      </p:sp>
      <p:sp>
        <p:nvSpPr>
          <p:cNvPr id="8" name="Text 6"/>
          <p:cNvSpPr txBox="1"/>
          <p:nvPr/>
        </p:nvSpPr>
        <p:spPr>
          <a:xfrm>
            <a:off x="4791456" y="1901952"/>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Conservador-corporativo</a:t>
            </a:r>
            <a:endParaRPr lang="en-US" sz="1400" dirty="0"/>
          </a:p>
        </p:txBody>
      </p:sp>
      <p:sp>
        <p:nvSpPr>
          <p:cNvPr id="10" name="Shape 8"/>
          <p:cNvSpPr/>
          <p:nvPr/>
        </p:nvSpPr>
        <p:spPr>
          <a:xfrm>
            <a:off x="685800" y="2633472"/>
            <a:ext cx="3794760" cy="749808"/>
          </a:xfrm>
          <a:prstGeom prst="roundRect">
            <a:avLst>
              <a:gd name="adj" fmla="val 9756"/>
            </a:avLst>
          </a:prstGeom>
          <a:solidFill>
            <a:srgbClr val="E3F2E8"/>
          </a:solidFill>
          <a:ln w="25400">
            <a:solidFill>
              <a:srgbClr val="2E7D4F"/>
            </a:solidFill>
            <a:prstDash val="solid"/>
          </a:ln>
        </p:spPr>
      </p:sp>
      <p:sp>
        <p:nvSpPr>
          <p:cNvPr id="11" name="Text 9"/>
          <p:cNvSpPr txBox="1"/>
          <p:nvPr/>
        </p:nvSpPr>
        <p:spPr>
          <a:xfrm>
            <a:off x="813816" y="2798064"/>
            <a:ext cx="420624" cy="420624"/>
          </a:xfrm>
          <a:prstGeom prst="roundRect">
            <a:avLst>
              <a:gd name="adj" fmla="val 50000"/>
            </a:avLst>
          </a:prstGeom>
          <a:solidFill>
            <a:srgbClr val="2E7D4F"/>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b="1" dirty="0">
                <a:solidFill>
                  <a:srgbClr val="1F2A37"/>
                </a:solidFill>
                <a:latin typeface="Calibri" pitchFamily="34" charset="0"/>
                <a:ea typeface="Calibri" pitchFamily="34" charset="-122"/>
                <a:cs typeface="Calibri" pitchFamily="34" charset="-120"/>
              </a:rPr>
              <a:t>Social-democrata</a:t>
            </a:r>
            <a:endParaRPr lang="en-US" sz="1400" dirty="0"/>
          </a:p>
        </p:txBody>
      </p:sp>
      <p:sp>
        <p:nvSpPr>
          <p:cNvPr id="13" name="Shape 11"/>
          <p:cNvSpPr/>
          <p:nvPr/>
        </p:nvSpPr>
        <p:spPr>
          <a:xfrm>
            <a:off x="4663440" y="2633472"/>
            <a:ext cx="3794760" cy="749808"/>
          </a:xfrm>
          <a:prstGeom prst="roundRect">
            <a:avLst>
              <a:gd name="adj" fmla="val 9756"/>
            </a:avLst>
          </a:prstGeom>
          <a:solidFill>
            <a:srgbClr val="FFFFFF"/>
          </a:solidFill>
          <a:ln w="12700">
            <a:solidFill>
              <a:srgbClr val="DCD5C1"/>
            </a:solidFill>
            <a:prstDash val="solid"/>
          </a:ln>
        </p:spPr>
      </p:sp>
      <p:sp>
        <p:nvSpPr>
          <p:cNvPr id="14" name="Text 12"/>
          <p:cNvSpPr txBox="1"/>
          <p:nvPr/>
        </p:nvSpPr>
        <p:spPr>
          <a:xfrm>
            <a:off x="4791456" y="2798064"/>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Neoliberal</a:t>
            </a:r>
            <a:endParaRPr lang="en-US" sz="1400" dirty="0"/>
          </a:p>
        </p:txBody>
      </p:sp>
      <p:sp>
        <p:nvSpPr>
          <p:cNvPr id="16" name="Text 14"/>
          <p:cNvSpPr txBox="1"/>
          <p:nvPr/>
        </p:nvSpPr>
        <p:spPr>
          <a:xfrm>
            <a:off x="685800" y="3566160"/>
            <a:ext cx="7772400" cy="841248"/>
          </a:xfrm>
          <a:prstGeom prst="roundRect">
            <a:avLst>
              <a:gd name="adj" fmla="val 8696"/>
            </a:avLst>
          </a:prstGeom>
          <a:solidFill>
            <a:srgbClr val="E6F2F0"/>
          </a:solidFill>
          <a:ln/>
        </p:spPr>
        <p:txBody>
          <a:bodyPr wrap="square" lIns="114300" tIns="114300" rIns="114300" bIns="114300" rtlCol="0" anchor="ctr"/>
          <a:lstStyle/>
          <a:p>
            <a:pPr algn="l" indent="0" marL="0">
              <a:lnSpc>
                <a:spcPct val="100000"/>
              </a:lnSpc>
              <a:buNone/>
            </a:pPr>
            <a:r>
              <a:rPr lang="en-US" sz="1350" b="1" dirty="0">
                <a:solidFill>
                  <a:srgbClr val="2E7D4F"/>
                </a:solidFill>
                <a:latin typeface="Calibri" pitchFamily="34" charset="0"/>
                <a:ea typeface="Calibri" pitchFamily="34" charset="-122"/>
                <a:cs typeface="Calibri" pitchFamily="34" charset="-120"/>
              </a:rPr>
              <a:t>Resposta: c) </a:t>
            </a:r>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No regime social-democrata (Esping-Andersen), a proteção é universal e financiada por tributos.</a:t>
            </a:r>
            <a:endParaRPr lang="en-US" sz="1350" dirty="0"/>
          </a:p>
        </p:txBody>
      </p:sp>
      <p:sp>
        <p:nvSpPr>
          <p:cNvPr id="17" name="Text 15"/>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3 DE 5</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O que é estagflação?</a:t>
            </a:r>
            <a:endParaRPr lang="en-US" sz="1900" dirty="0"/>
          </a:p>
        </p:txBody>
      </p:sp>
      <p:sp>
        <p:nvSpPr>
          <p:cNvPr id="4" name="Shape 2"/>
          <p:cNvSpPr/>
          <p:nvPr/>
        </p:nvSpPr>
        <p:spPr>
          <a:xfrm>
            <a:off x="685800" y="1737360"/>
            <a:ext cx="3794760" cy="914400"/>
          </a:xfrm>
          <a:prstGeom prst="roundRect">
            <a:avLst>
              <a:gd name="adj" fmla="val 8000"/>
            </a:avLst>
          </a:prstGeom>
          <a:solidFill>
            <a:srgbClr val="FFFFFF"/>
          </a:solidFill>
          <a:ln w="12700">
            <a:solidFill>
              <a:srgbClr val="DCD5C1"/>
            </a:solidFill>
            <a:prstDash val="solid"/>
          </a:ln>
        </p:spPr>
      </p:sp>
      <p:sp>
        <p:nvSpPr>
          <p:cNvPr id="5" name="Text 3"/>
          <p:cNvSpPr txBox="1"/>
          <p:nvPr/>
        </p:nvSpPr>
        <p:spPr>
          <a:xfrm>
            <a:off x="81381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Crescimento com preços estáveis</a:t>
            </a:r>
            <a:endParaRPr lang="en-US" sz="1400" dirty="0"/>
          </a:p>
        </p:txBody>
      </p:sp>
      <p:sp>
        <p:nvSpPr>
          <p:cNvPr id="7" name="Shape 5"/>
          <p:cNvSpPr/>
          <p:nvPr/>
        </p:nvSpPr>
        <p:spPr>
          <a:xfrm>
            <a:off x="4663440" y="1737360"/>
            <a:ext cx="3794760" cy="914400"/>
          </a:xfrm>
          <a:prstGeom prst="roundRect">
            <a:avLst>
              <a:gd name="adj" fmla="val 8000"/>
            </a:avLst>
          </a:prstGeom>
          <a:solidFill>
            <a:srgbClr val="FFFFFF"/>
          </a:solidFill>
          <a:ln w="12700">
            <a:solidFill>
              <a:srgbClr val="DCD5C1"/>
            </a:solidFill>
            <a:prstDash val="solid"/>
          </a:ln>
        </p:spPr>
      </p:sp>
      <p:sp>
        <p:nvSpPr>
          <p:cNvPr id="8" name="Text 6"/>
          <p:cNvSpPr txBox="1"/>
          <p:nvPr/>
        </p:nvSpPr>
        <p:spPr>
          <a:xfrm>
            <a:off x="479145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Estagnação econômica com inflação alta</a:t>
            </a:r>
            <a:endParaRPr lang="en-US" sz="1400" dirty="0"/>
          </a:p>
        </p:txBody>
      </p:sp>
      <p:sp>
        <p:nvSpPr>
          <p:cNvPr id="10" name="Shape 8"/>
          <p:cNvSpPr/>
          <p:nvPr/>
        </p:nvSpPr>
        <p:spPr>
          <a:xfrm>
            <a:off x="685800" y="2798064"/>
            <a:ext cx="3794760" cy="914400"/>
          </a:xfrm>
          <a:prstGeom prst="roundRect">
            <a:avLst>
              <a:gd name="adj" fmla="val 8000"/>
            </a:avLst>
          </a:prstGeom>
          <a:solidFill>
            <a:srgbClr val="FFFFFF"/>
          </a:solidFill>
          <a:ln w="12700">
            <a:solidFill>
              <a:srgbClr val="DCD5C1"/>
            </a:solidFill>
            <a:prstDash val="solid"/>
          </a:ln>
        </p:spPr>
      </p:sp>
      <p:sp>
        <p:nvSpPr>
          <p:cNvPr id="11" name="Text 9"/>
          <p:cNvSpPr txBox="1"/>
          <p:nvPr/>
        </p:nvSpPr>
        <p:spPr>
          <a:xfrm>
            <a:off x="81381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Queda de preços com pleno emprego</a:t>
            </a:r>
            <a:endParaRPr lang="en-US" sz="1400" dirty="0"/>
          </a:p>
        </p:txBody>
      </p:sp>
      <p:sp>
        <p:nvSpPr>
          <p:cNvPr id="13" name="Shape 11"/>
          <p:cNvSpPr/>
          <p:nvPr/>
        </p:nvSpPr>
        <p:spPr>
          <a:xfrm>
            <a:off x="4663440" y="2798064"/>
            <a:ext cx="3794760" cy="914400"/>
          </a:xfrm>
          <a:prstGeom prst="roundRect">
            <a:avLst>
              <a:gd name="adj" fmla="val 8000"/>
            </a:avLst>
          </a:prstGeom>
          <a:solidFill>
            <a:srgbClr val="FFFFFF"/>
          </a:solidFill>
          <a:ln w="12700">
            <a:solidFill>
              <a:srgbClr val="DCD5C1"/>
            </a:solidFill>
            <a:prstDash val="solid"/>
          </a:ln>
        </p:spPr>
      </p:sp>
      <p:sp>
        <p:nvSpPr>
          <p:cNvPr id="14" name="Text 12"/>
          <p:cNvSpPr txBox="1"/>
          <p:nvPr/>
        </p:nvSpPr>
        <p:spPr>
          <a:xfrm>
            <a:off x="479145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Crescimento acelerado com desemprego zero</a:t>
            </a:r>
            <a:endParaRPr lang="en-US" sz="1400" dirty="0"/>
          </a:p>
        </p:txBody>
      </p:sp>
      <p:sp>
        <p:nvSpPr>
          <p:cNvPr id="16" name="Text 14"/>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3 DE 5 · RESPOSTA</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O que é estagflação?</a:t>
            </a:r>
            <a:endParaRPr lang="en-US" sz="1900" dirty="0"/>
          </a:p>
        </p:txBody>
      </p:sp>
      <p:sp>
        <p:nvSpPr>
          <p:cNvPr id="4" name="Shape 2"/>
          <p:cNvSpPr/>
          <p:nvPr/>
        </p:nvSpPr>
        <p:spPr>
          <a:xfrm>
            <a:off x="685800" y="1737360"/>
            <a:ext cx="3794760" cy="749808"/>
          </a:xfrm>
          <a:prstGeom prst="roundRect">
            <a:avLst>
              <a:gd name="adj" fmla="val 9756"/>
            </a:avLst>
          </a:prstGeom>
          <a:solidFill>
            <a:srgbClr val="FFFFFF"/>
          </a:solidFill>
          <a:ln w="12700">
            <a:solidFill>
              <a:srgbClr val="DCD5C1"/>
            </a:solidFill>
            <a:prstDash val="solid"/>
          </a:ln>
        </p:spPr>
      </p:sp>
      <p:sp>
        <p:nvSpPr>
          <p:cNvPr id="5" name="Text 3"/>
          <p:cNvSpPr txBox="1"/>
          <p:nvPr/>
        </p:nvSpPr>
        <p:spPr>
          <a:xfrm>
            <a:off x="813816" y="1901952"/>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Crescimento com preços estáveis</a:t>
            </a:r>
            <a:endParaRPr lang="en-US" sz="1400" dirty="0"/>
          </a:p>
        </p:txBody>
      </p:sp>
      <p:sp>
        <p:nvSpPr>
          <p:cNvPr id="7" name="Shape 5"/>
          <p:cNvSpPr/>
          <p:nvPr/>
        </p:nvSpPr>
        <p:spPr>
          <a:xfrm>
            <a:off x="4663440" y="1737360"/>
            <a:ext cx="3794760" cy="749808"/>
          </a:xfrm>
          <a:prstGeom prst="roundRect">
            <a:avLst>
              <a:gd name="adj" fmla="val 9756"/>
            </a:avLst>
          </a:prstGeom>
          <a:solidFill>
            <a:srgbClr val="E3F2E8"/>
          </a:solidFill>
          <a:ln w="25400">
            <a:solidFill>
              <a:srgbClr val="2E7D4F"/>
            </a:solidFill>
            <a:prstDash val="solid"/>
          </a:ln>
        </p:spPr>
      </p:sp>
      <p:sp>
        <p:nvSpPr>
          <p:cNvPr id="8" name="Text 6"/>
          <p:cNvSpPr txBox="1"/>
          <p:nvPr/>
        </p:nvSpPr>
        <p:spPr>
          <a:xfrm>
            <a:off x="4791456" y="1901952"/>
            <a:ext cx="420624" cy="420624"/>
          </a:xfrm>
          <a:prstGeom prst="roundRect">
            <a:avLst>
              <a:gd name="adj" fmla="val 50000"/>
            </a:avLst>
          </a:prstGeom>
          <a:solidFill>
            <a:srgbClr val="2E7D4F"/>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b="1" dirty="0">
                <a:solidFill>
                  <a:srgbClr val="1F2A37"/>
                </a:solidFill>
                <a:latin typeface="Calibri" pitchFamily="34" charset="0"/>
                <a:ea typeface="Calibri" pitchFamily="34" charset="-122"/>
                <a:cs typeface="Calibri" pitchFamily="34" charset="-120"/>
              </a:rPr>
              <a:t>Estagnação econômica com inflação alta</a:t>
            </a:r>
            <a:endParaRPr lang="en-US" sz="1400" dirty="0"/>
          </a:p>
        </p:txBody>
      </p:sp>
      <p:sp>
        <p:nvSpPr>
          <p:cNvPr id="10" name="Shape 8"/>
          <p:cNvSpPr/>
          <p:nvPr/>
        </p:nvSpPr>
        <p:spPr>
          <a:xfrm>
            <a:off x="685800" y="2633472"/>
            <a:ext cx="3794760" cy="749808"/>
          </a:xfrm>
          <a:prstGeom prst="roundRect">
            <a:avLst>
              <a:gd name="adj" fmla="val 9756"/>
            </a:avLst>
          </a:prstGeom>
          <a:solidFill>
            <a:srgbClr val="FFFFFF"/>
          </a:solidFill>
          <a:ln w="12700">
            <a:solidFill>
              <a:srgbClr val="DCD5C1"/>
            </a:solidFill>
            <a:prstDash val="solid"/>
          </a:ln>
        </p:spPr>
      </p:sp>
      <p:sp>
        <p:nvSpPr>
          <p:cNvPr id="11" name="Text 9"/>
          <p:cNvSpPr txBox="1"/>
          <p:nvPr/>
        </p:nvSpPr>
        <p:spPr>
          <a:xfrm>
            <a:off x="813816" y="2798064"/>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Queda de preços com pleno emprego</a:t>
            </a:r>
            <a:endParaRPr lang="en-US" sz="1400" dirty="0"/>
          </a:p>
        </p:txBody>
      </p:sp>
      <p:sp>
        <p:nvSpPr>
          <p:cNvPr id="13" name="Shape 11"/>
          <p:cNvSpPr/>
          <p:nvPr/>
        </p:nvSpPr>
        <p:spPr>
          <a:xfrm>
            <a:off x="4663440" y="2633472"/>
            <a:ext cx="3794760" cy="749808"/>
          </a:xfrm>
          <a:prstGeom prst="roundRect">
            <a:avLst>
              <a:gd name="adj" fmla="val 9756"/>
            </a:avLst>
          </a:prstGeom>
          <a:solidFill>
            <a:srgbClr val="FFFFFF"/>
          </a:solidFill>
          <a:ln w="12700">
            <a:solidFill>
              <a:srgbClr val="DCD5C1"/>
            </a:solidFill>
            <a:prstDash val="solid"/>
          </a:ln>
        </p:spPr>
      </p:sp>
      <p:sp>
        <p:nvSpPr>
          <p:cNvPr id="14" name="Text 12"/>
          <p:cNvSpPr txBox="1"/>
          <p:nvPr/>
        </p:nvSpPr>
        <p:spPr>
          <a:xfrm>
            <a:off x="4791456" y="2798064"/>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Crescimento acelerado com desemprego zero</a:t>
            </a:r>
            <a:endParaRPr lang="en-US" sz="1400" dirty="0"/>
          </a:p>
        </p:txBody>
      </p:sp>
      <p:sp>
        <p:nvSpPr>
          <p:cNvPr id="16" name="Text 14"/>
          <p:cNvSpPr txBox="1"/>
          <p:nvPr/>
        </p:nvSpPr>
        <p:spPr>
          <a:xfrm>
            <a:off x="685800" y="3566160"/>
            <a:ext cx="7772400" cy="841248"/>
          </a:xfrm>
          <a:prstGeom prst="roundRect">
            <a:avLst>
              <a:gd name="adj" fmla="val 8696"/>
            </a:avLst>
          </a:prstGeom>
          <a:solidFill>
            <a:srgbClr val="E6F2F0"/>
          </a:solidFill>
          <a:ln/>
        </p:spPr>
        <p:txBody>
          <a:bodyPr wrap="square" lIns="114300" tIns="114300" rIns="114300" bIns="114300" rtlCol="0" anchor="ctr"/>
          <a:lstStyle/>
          <a:p>
            <a:pPr algn="l" indent="0" marL="0">
              <a:lnSpc>
                <a:spcPct val="100000"/>
              </a:lnSpc>
              <a:buNone/>
            </a:pPr>
            <a:r>
              <a:rPr lang="en-US" sz="1350" b="1" dirty="0">
                <a:solidFill>
                  <a:srgbClr val="2E7D4F"/>
                </a:solidFill>
                <a:latin typeface="Calibri" pitchFamily="34" charset="0"/>
                <a:ea typeface="Calibri" pitchFamily="34" charset="-122"/>
                <a:cs typeface="Calibri" pitchFamily="34" charset="-120"/>
              </a:rPr>
              <a:t>Resposta: b) </a:t>
            </a:r>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Nos anos 1970, estagnação e inflação ocorreram juntas, o que abalou o receituário keynesiano e abriu espaço ao neoliberalismo.</a:t>
            </a:r>
            <a:endParaRPr lang="en-US" sz="1350" dirty="0"/>
          </a:p>
        </p:txBody>
      </p:sp>
      <p:sp>
        <p:nvSpPr>
          <p:cNvPr id="17" name="Text 15"/>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4 DE 5</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O Plano Diretor da Reforma do Aparelho do Estado (1995) propôs a passagem da administração:</a:t>
            </a:r>
            <a:endParaRPr lang="en-US" sz="1900" dirty="0"/>
          </a:p>
        </p:txBody>
      </p:sp>
      <p:sp>
        <p:nvSpPr>
          <p:cNvPr id="4" name="Shape 2"/>
          <p:cNvSpPr/>
          <p:nvPr/>
        </p:nvSpPr>
        <p:spPr>
          <a:xfrm>
            <a:off x="685800" y="1737360"/>
            <a:ext cx="3794760" cy="914400"/>
          </a:xfrm>
          <a:prstGeom prst="roundRect">
            <a:avLst>
              <a:gd name="adj" fmla="val 8000"/>
            </a:avLst>
          </a:prstGeom>
          <a:solidFill>
            <a:srgbClr val="FFFFFF"/>
          </a:solidFill>
          <a:ln w="12700">
            <a:solidFill>
              <a:srgbClr val="DCD5C1"/>
            </a:solidFill>
            <a:prstDash val="solid"/>
          </a:ln>
        </p:spPr>
      </p:sp>
      <p:sp>
        <p:nvSpPr>
          <p:cNvPr id="5" name="Text 3"/>
          <p:cNvSpPr txBox="1"/>
          <p:nvPr/>
        </p:nvSpPr>
        <p:spPr>
          <a:xfrm>
            <a:off x="81381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Gerencial para patrimonialista</a:t>
            </a:r>
            <a:endParaRPr lang="en-US" sz="1400" dirty="0"/>
          </a:p>
        </p:txBody>
      </p:sp>
      <p:sp>
        <p:nvSpPr>
          <p:cNvPr id="7" name="Shape 5"/>
          <p:cNvSpPr/>
          <p:nvPr/>
        </p:nvSpPr>
        <p:spPr>
          <a:xfrm>
            <a:off x="4663440" y="1737360"/>
            <a:ext cx="3794760" cy="914400"/>
          </a:xfrm>
          <a:prstGeom prst="roundRect">
            <a:avLst>
              <a:gd name="adj" fmla="val 8000"/>
            </a:avLst>
          </a:prstGeom>
          <a:solidFill>
            <a:srgbClr val="FFFFFF"/>
          </a:solidFill>
          <a:ln w="12700">
            <a:solidFill>
              <a:srgbClr val="DCD5C1"/>
            </a:solidFill>
            <a:prstDash val="solid"/>
          </a:ln>
        </p:spPr>
      </p:sp>
      <p:sp>
        <p:nvSpPr>
          <p:cNvPr id="8" name="Text 6"/>
          <p:cNvSpPr txBox="1"/>
          <p:nvPr/>
        </p:nvSpPr>
        <p:spPr>
          <a:xfrm>
            <a:off x="479145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Patrimonialista para socialista</a:t>
            </a:r>
            <a:endParaRPr lang="en-US" sz="1400" dirty="0"/>
          </a:p>
        </p:txBody>
      </p:sp>
      <p:sp>
        <p:nvSpPr>
          <p:cNvPr id="10" name="Shape 8"/>
          <p:cNvSpPr/>
          <p:nvPr/>
        </p:nvSpPr>
        <p:spPr>
          <a:xfrm>
            <a:off x="685800" y="2798064"/>
            <a:ext cx="3794760" cy="914400"/>
          </a:xfrm>
          <a:prstGeom prst="roundRect">
            <a:avLst>
              <a:gd name="adj" fmla="val 8000"/>
            </a:avLst>
          </a:prstGeom>
          <a:solidFill>
            <a:srgbClr val="FFFFFF"/>
          </a:solidFill>
          <a:ln w="12700">
            <a:solidFill>
              <a:srgbClr val="DCD5C1"/>
            </a:solidFill>
            <a:prstDash val="solid"/>
          </a:ln>
        </p:spPr>
      </p:sp>
      <p:sp>
        <p:nvSpPr>
          <p:cNvPr id="11" name="Text 9"/>
          <p:cNvSpPr txBox="1"/>
          <p:nvPr/>
        </p:nvSpPr>
        <p:spPr>
          <a:xfrm>
            <a:off x="81381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Gerencial para burocrática</a:t>
            </a:r>
            <a:endParaRPr lang="en-US" sz="1400" dirty="0"/>
          </a:p>
        </p:txBody>
      </p:sp>
      <p:sp>
        <p:nvSpPr>
          <p:cNvPr id="13" name="Shape 11"/>
          <p:cNvSpPr/>
          <p:nvPr/>
        </p:nvSpPr>
        <p:spPr>
          <a:xfrm>
            <a:off x="4663440" y="2798064"/>
            <a:ext cx="3794760" cy="914400"/>
          </a:xfrm>
          <a:prstGeom prst="roundRect">
            <a:avLst>
              <a:gd name="adj" fmla="val 8000"/>
            </a:avLst>
          </a:prstGeom>
          <a:solidFill>
            <a:srgbClr val="FFFFFF"/>
          </a:solidFill>
          <a:ln w="12700">
            <a:solidFill>
              <a:srgbClr val="DCD5C1"/>
            </a:solidFill>
            <a:prstDash val="solid"/>
          </a:ln>
        </p:spPr>
      </p:sp>
      <p:sp>
        <p:nvSpPr>
          <p:cNvPr id="14" name="Text 12"/>
          <p:cNvSpPr txBox="1"/>
          <p:nvPr/>
        </p:nvSpPr>
        <p:spPr>
          <a:xfrm>
            <a:off x="479145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Burocrática para gerencial</a:t>
            </a:r>
            <a:endParaRPr lang="en-US" sz="1400" dirty="0"/>
          </a:p>
        </p:txBody>
      </p:sp>
      <p:sp>
        <p:nvSpPr>
          <p:cNvPr id="16" name="Text 14"/>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4 DE 5 · RESPOSTA</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O Plano Diretor da Reforma do Aparelho do Estado (1995) propôs a passagem da administração:</a:t>
            </a:r>
            <a:endParaRPr lang="en-US" sz="1900" dirty="0"/>
          </a:p>
        </p:txBody>
      </p:sp>
      <p:sp>
        <p:nvSpPr>
          <p:cNvPr id="4" name="Shape 2"/>
          <p:cNvSpPr/>
          <p:nvPr/>
        </p:nvSpPr>
        <p:spPr>
          <a:xfrm>
            <a:off x="685800" y="1737360"/>
            <a:ext cx="3794760" cy="749808"/>
          </a:xfrm>
          <a:prstGeom prst="roundRect">
            <a:avLst>
              <a:gd name="adj" fmla="val 9756"/>
            </a:avLst>
          </a:prstGeom>
          <a:solidFill>
            <a:srgbClr val="FFFFFF"/>
          </a:solidFill>
          <a:ln w="12700">
            <a:solidFill>
              <a:srgbClr val="DCD5C1"/>
            </a:solidFill>
            <a:prstDash val="solid"/>
          </a:ln>
        </p:spPr>
      </p:sp>
      <p:sp>
        <p:nvSpPr>
          <p:cNvPr id="5" name="Text 3"/>
          <p:cNvSpPr txBox="1"/>
          <p:nvPr/>
        </p:nvSpPr>
        <p:spPr>
          <a:xfrm>
            <a:off x="813816" y="1901952"/>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Gerencial para patrimonialista</a:t>
            </a:r>
            <a:endParaRPr lang="en-US" sz="1400" dirty="0"/>
          </a:p>
        </p:txBody>
      </p:sp>
      <p:sp>
        <p:nvSpPr>
          <p:cNvPr id="7" name="Shape 5"/>
          <p:cNvSpPr/>
          <p:nvPr/>
        </p:nvSpPr>
        <p:spPr>
          <a:xfrm>
            <a:off x="4663440" y="1737360"/>
            <a:ext cx="3794760" cy="749808"/>
          </a:xfrm>
          <a:prstGeom prst="roundRect">
            <a:avLst>
              <a:gd name="adj" fmla="val 9756"/>
            </a:avLst>
          </a:prstGeom>
          <a:solidFill>
            <a:srgbClr val="FFFFFF"/>
          </a:solidFill>
          <a:ln w="12700">
            <a:solidFill>
              <a:srgbClr val="DCD5C1"/>
            </a:solidFill>
            <a:prstDash val="solid"/>
          </a:ln>
        </p:spPr>
      </p:sp>
      <p:sp>
        <p:nvSpPr>
          <p:cNvPr id="8" name="Text 6"/>
          <p:cNvSpPr txBox="1"/>
          <p:nvPr/>
        </p:nvSpPr>
        <p:spPr>
          <a:xfrm>
            <a:off x="4791456" y="1901952"/>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Patrimonialista para socialista</a:t>
            </a:r>
            <a:endParaRPr lang="en-US" sz="1400" dirty="0"/>
          </a:p>
        </p:txBody>
      </p:sp>
      <p:sp>
        <p:nvSpPr>
          <p:cNvPr id="10" name="Shape 8"/>
          <p:cNvSpPr/>
          <p:nvPr/>
        </p:nvSpPr>
        <p:spPr>
          <a:xfrm>
            <a:off x="685800" y="2633472"/>
            <a:ext cx="3794760" cy="749808"/>
          </a:xfrm>
          <a:prstGeom prst="roundRect">
            <a:avLst>
              <a:gd name="adj" fmla="val 9756"/>
            </a:avLst>
          </a:prstGeom>
          <a:solidFill>
            <a:srgbClr val="FFFFFF"/>
          </a:solidFill>
          <a:ln w="12700">
            <a:solidFill>
              <a:srgbClr val="DCD5C1"/>
            </a:solidFill>
            <a:prstDash val="solid"/>
          </a:ln>
        </p:spPr>
      </p:sp>
      <p:sp>
        <p:nvSpPr>
          <p:cNvPr id="11" name="Text 9"/>
          <p:cNvSpPr txBox="1"/>
          <p:nvPr/>
        </p:nvSpPr>
        <p:spPr>
          <a:xfrm>
            <a:off x="813816" y="2798064"/>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Gerencial para burocrática</a:t>
            </a:r>
            <a:endParaRPr lang="en-US" sz="1400" dirty="0"/>
          </a:p>
        </p:txBody>
      </p:sp>
      <p:sp>
        <p:nvSpPr>
          <p:cNvPr id="13" name="Shape 11"/>
          <p:cNvSpPr/>
          <p:nvPr/>
        </p:nvSpPr>
        <p:spPr>
          <a:xfrm>
            <a:off x="4663440" y="2633472"/>
            <a:ext cx="3794760" cy="749808"/>
          </a:xfrm>
          <a:prstGeom prst="roundRect">
            <a:avLst>
              <a:gd name="adj" fmla="val 9756"/>
            </a:avLst>
          </a:prstGeom>
          <a:solidFill>
            <a:srgbClr val="E3F2E8"/>
          </a:solidFill>
          <a:ln w="25400">
            <a:solidFill>
              <a:srgbClr val="2E7D4F"/>
            </a:solidFill>
            <a:prstDash val="solid"/>
          </a:ln>
        </p:spPr>
      </p:sp>
      <p:sp>
        <p:nvSpPr>
          <p:cNvPr id="14" name="Text 12"/>
          <p:cNvSpPr txBox="1"/>
          <p:nvPr/>
        </p:nvSpPr>
        <p:spPr>
          <a:xfrm>
            <a:off x="4791456" y="2798064"/>
            <a:ext cx="420624" cy="420624"/>
          </a:xfrm>
          <a:prstGeom prst="roundRect">
            <a:avLst>
              <a:gd name="adj" fmla="val 50000"/>
            </a:avLst>
          </a:prstGeom>
          <a:solidFill>
            <a:srgbClr val="2E7D4F"/>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b="1" dirty="0">
                <a:solidFill>
                  <a:srgbClr val="1F2A37"/>
                </a:solidFill>
                <a:latin typeface="Calibri" pitchFamily="34" charset="0"/>
                <a:ea typeface="Calibri" pitchFamily="34" charset="-122"/>
                <a:cs typeface="Calibri" pitchFamily="34" charset="-120"/>
              </a:rPr>
              <a:t>Burocrática para gerencial</a:t>
            </a:r>
            <a:endParaRPr lang="en-US" sz="1400" dirty="0"/>
          </a:p>
        </p:txBody>
      </p:sp>
      <p:sp>
        <p:nvSpPr>
          <p:cNvPr id="16" name="Text 14"/>
          <p:cNvSpPr txBox="1"/>
          <p:nvPr/>
        </p:nvSpPr>
        <p:spPr>
          <a:xfrm>
            <a:off x="685800" y="3566160"/>
            <a:ext cx="7772400" cy="841248"/>
          </a:xfrm>
          <a:prstGeom prst="roundRect">
            <a:avLst>
              <a:gd name="adj" fmla="val 8696"/>
            </a:avLst>
          </a:prstGeom>
          <a:solidFill>
            <a:srgbClr val="E6F2F0"/>
          </a:solidFill>
          <a:ln/>
        </p:spPr>
        <p:txBody>
          <a:bodyPr wrap="square" lIns="114300" tIns="114300" rIns="114300" bIns="114300" rtlCol="0" anchor="ctr"/>
          <a:lstStyle/>
          <a:p>
            <a:pPr algn="l" indent="0" marL="0">
              <a:lnSpc>
                <a:spcPct val="100000"/>
              </a:lnSpc>
              <a:buNone/>
            </a:pPr>
            <a:r>
              <a:rPr lang="en-US" sz="1350" b="1" dirty="0">
                <a:solidFill>
                  <a:srgbClr val="2E7D4F"/>
                </a:solidFill>
                <a:latin typeface="Calibri" pitchFamily="34" charset="0"/>
                <a:ea typeface="Calibri" pitchFamily="34" charset="-122"/>
                <a:cs typeface="Calibri" pitchFamily="34" charset="-120"/>
              </a:rPr>
              <a:t>Resposta: d) </a:t>
            </a:r>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A reforma de 1995 (Bresser-Pereira) buscou a administração gerencial, com foco em resultados e no cidadão.</a:t>
            </a:r>
            <a:endParaRPr lang="en-US" sz="1350" dirty="0"/>
          </a:p>
        </p:txBody>
      </p:sp>
      <p:sp>
        <p:nvSpPr>
          <p:cNvPr id="17" name="Text 15"/>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5 DE 5</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A criação da ANEEL, da ANATEL e da ANP, nos anos 1990, expressa qual papel do Estado?</a:t>
            </a:r>
            <a:endParaRPr lang="en-US" sz="1900" dirty="0"/>
          </a:p>
        </p:txBody>
      </p:sp>
      <p:sp>
        <p:nvSpPr>
          <p:cNvPr id="4" name="Shape 2"/>
          <p:cNvSpPr/>
          <p:nvPr/>
        </p:nvSpPr>
        <p:spPr>
          <a:xfrm>
            <a:off x="685800" y="1737360"/>
            <a:ext cx="3794760" cy="914400"/>
          </a:xfrm>
          <a:prstGeom prst="roundRect">
            <a:avLst>
              <a:gd name="adj" fmla="val 8000"/>
            </a:avLst>
          </a:prstGeom>
          <a:solidFill>
            <a:srgbClr val="FFFFFF"/>
          </a:solidFill>
          <a:ln w="12700">
            <a:solidFill>
              <a:srgbClr val="DCD5C1"/>
            </a:solidFill>
            <a:prstDash val="solid"/>
          </a:ln>
        </p:spPr>
      </p:sp>
      <p:sp>
        <p:nvSpPr>
          <p:cNvPr id="5" name="Text 3"/>
          <p:cNvSpPr txBox="1"/>
          <p:nvPr/>
        </p:nvSpPr>
        <p:spPr>
          <a:xfrm>
            <a:off x="81381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Estado regulador</a:t>
            </a:r>
            <a:endParaRPr lang="en-US" sz="1400" dirty="0"/>
          </a:p>
        </p:txBody>
      </p:sp>
      <p:sp>
        <p:nvSpPr>
          <p:cNvPr id="7" name="Shape 5"/>
          <p:cNvSpPr/>
          <p:nvPr/>
        </p:nvSpPr>
        <p:spPr>
          <a:xfrm>
            <a:off x="4663440" y="1737360"/>
            <a:ext cx="3794760" cy="914400"/>
          </a:xfrm>
          <a:prstGeom prst="roundRect">
            <a:avLst>
              <a:gd name="adj" fmla="val 8000"/>
            </a:avLst>
          </a:prstGeom>
          <a:solidFill>
            <a:srgbClr val="FFFFFF"/>
          </a:solidFill>
          <a:ln w="12700">
            <a:solidFill>
              <a:srgbClr val="DCD5C1"/>
            </a:solidFill>
            <a:prstDash val="solid"/>
          </a:ln>
        </p:spPr>
      </p:sp>
      <p:sp>
        <p:nvSpPr>
          <p:cNvPr id="8" name="Text 6"/>
          <p:cNvSpPr txBox="1"/>
          <p:nvPr/>
        </p:nvSpPr>
        <p:spPr>
          <a:xfrm>
            <a:off x="4791456" y="1984248"/>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Estado produtor</a:t>
            </a:r>
            <a:endParaRPr lang="en-US" sz="1400" dirty="0"/>
          </a:p>
        </p:txBody>
      </p:sp>
      <p:sp>
        <p:nvSpPr>
          <p:cNvPr id="10" name="Shape 8"/>
          <p:cNvSpPr/>
          <p:nvPr/>
        </p:nvSpPr>
        <p:spPr>
          <a:xfrm>
            <a:off x="685800" y="2798064"/>
            <a:ext cx="3794760" cy="914400"/>
          </a:xfrm>
          <a:prstGeom prst="roundRect">
            <a:avLst>
              <a:gd name="adj" fmla="val 8000"/>
            </a:avLst>
          </a:prstGeom>
          <a:solidFill>
            <a:srgbClr val="FFFFFF"/>
          </a:solidFill>
          <a:ln w="12700">
            <a:solidFill>
              <a:srgbClr val="DCD5C1"/>
            </a:solidFill>
            <a:prstDash val="solid"/>
          </a:ln>
        </p:spPr>
      </p:sp>
      <p:sp>
        <p:nvSpPr>
          <p:cNvPr id="11" name="Text 9"/>
          <p:cNvSpPr txBox="1"/>
          <p:nvPr/>
        </p:nvSpPr>
        <p:spPr>
          <a:xfrm>
            <a:off x="81381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Planejamento central</a:t>
            </a:r>
            <a:endParaRPr lang="en-US" sz="1400" dirty="0"/>
          </a:p>
        </p:txBody>
      </p:sp>
      <p:sp>
        <p:nvSpPr>
          <p:cNvPr id="13" name="Shape 11"/>
          <p:cNvSpPr/>
          <p:nvPr/>
        </p:nvSpPr>
        <p:spPr>
          <a:xfrm>
            <a:off x="4663440" y="2798064"/>
            <a:ext cx="3794760" cy="914400"/>
          </a:xfrm>
          <a:prstGeom prst="roundRect">
            <a:avLst>
              <a:gd name="adj" fmla="val 8000"/>
            </a:avLst>
          </a:prstGeom>
          <a:solidFill>
            <a:srgbClr val="FFFFFF"/>
          </a:solidFill>
          <a:ln w="12700">
            <a:solidFill>
              <a:srgbClr val="DCD5C1"/>
            </a:solidFill>
            <a:prstDash val="solid"/>
          </a:ln>
        </p:spPr>
      </p:sp>
      <p:sp>
        <p:nvSpPr>
          <p:cNvPr id="14" name="Text 12"/>
          <p:cNvSpPr txBox="1"/>
          <p:nvPr/>
        </p:nvSpPr>
        <p:spPr>
          <a:xfrm>
            <a:off x="4791456" y="3044952"/>
            <a:ext cx="420624" cy="420624"/>
          </a:xfrm>
          <a:prstGeom prst="roundRect">
            <a:avLst>
              <a:gd name="adj" fmla="val 50000"/>
            </a:avLst>
          </a:prstGeom>
          <a:solidFill>
            <a:srgbClr val="13294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834640"/>
            <a:ext cx="3044952" cy="841248"/>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1F2A37"/>
                </a:solidFill>
                <a:latin typeface="Calibri" pitchFamily="34" charset="0"/>
                <a:ea typeface="Calibri" pitchFamily="34" charset="-122"/>
                <a:cs typeface="Calibri" pitchFamily="34" charset="-120"/>
              </a:rPr>
              <a:t>Estado mínimo guarda-noturno</a:t>
            </a:r>
            <a:endParaRPr lang="en-US" sz="1400" dirty="0"/>
          </a:p>
        </p:txBody>
      </p:sp>
      <p:sp>
        <p:nvSpPr>
          <p:cNvPr id="16" name="Text 14"/>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274320"/>
            <a:ext cx="7680960" cy="365760"/>
          </a:xfrm>
          <a:prstGeom prst="rect">
            <a:avLst/>
          </a:prstGeom>
          <a:noFill/>
          <a:ln/>
        </p:spPr>
        <p:txBody>
          <a:bodyPr wrap="square" lIns="0" tIns="0" rIns="0" bIns="0" rtlCol="0" anchor="ctr"/>
          <a:lstStyle/>
          <a:p>
            <a:pPr algn="ctr" indent="0" marL="0">
              <a:lnSpc>
                <a:spcPct val="100000"/>
              </a:lnSpc>
              <a:buNone/>
            </a:pPr>
            <a:r>
              <a:rPr lang="en-US" sz="1250" b="1" dirty="0">
                <a:solidFill>
                  <a:srgbClr val="2A8C85"/>
                </a:solidFill>
                <a:latin typeface="Calibri" pitchFamily="34" charset="0"/>
                <a:ea typeface="Calibri" pitchFamily="34" charset="-122"/>
                <a:cs typeface="Calibri" pitchFamily="34" charset="-120"/>
              </a:rPr>
              <a:t>QUIZ DA UNIDADE 4 · PERGUNTA 5 DE 5 · RESPOSTA</a:t>
            </a:r>
            <a:endParaRPr lang="en-US" sz="1250" dirty="0"/>
          </a:p>
        </p:txBody>
      </p:sp>
      <p:sp>
        <p:nvSpPr>
          <p:cNvPr id="3" name="Text 1"/>
          <p:cNvSpPr txBox="1"/>
          <p:nvPr/>
        </p:nvSpPr>
        <p:spPr>
          <a:xfrm>
            <a:off x="731520" y="658368"/>
            <a:ext cx="7680960" cy="960120"/>
          </a:xfrm>
          <a:prstGeom prst="rect">
            <a:avLst/>
          </a:prstGeom>
          <a:noFill/>
          <a:ln/>
        </p:spPr>
        <p:txBody>
          <a:bodyPr wrap="square" lIns="0" tIns="0" rIns="0" bIns="0" rtlCol="0" anchor="ctr"/>
          <a:lstStyle/>
          <a:p>
            <a:pPr algn="ctr" indent="0" marL="0">
              <a:lnSpc>
                <a:spcPct val="100000"/>
              </a:lnSpc>
              <a:buNone/>
            </a:pPr>
            <a:r>
              <a:rPr lang="en-US" sz="1900" b="1" dirty="0">
                <a:solidFill>
                  <a:srgbClr val="13294B"/>
                </a:solidFill>
                <a:latin typeface="Calibri" pitchFamily="34" charset="0"/>
                <a:ea typeface="Calibri" pitchFamily="34" charset="-122"/>
                <a:cs typeface="Calibri" pitchFamily="34" charset="-120"/>
              </a:rPr>
              <a:t>A criação da ANEEL, da ANATEL e da ANP, nos anos 1990, expressa qual papel do Estado?</a:t>
            </a:r>
            <a:endParaRPr lang="en-US" sz="1900" dirty="0"/>
          </a:p>
        </p:txBody>
      </p:sp>
      <p:sp>
        <p:nvSpPr>
          <p:cNvPr id="4" name="Shape 2"/>
          <p:cNvSpPr/>
          <p:nvPr/>
        </p:nvSpPr>
        <p:spPr>
          <a:xfrm>
            <a:off x="685800" y="1737360"/>
            <a:ext cx="3794760" cy="749808"/>
          </a:xfrm>
          <a:prstGeom prst="roundRect">
            <a:avLst>
              <a:gd name="adj" fmla="val 9756"/>
            </a:avLst>
          </a:prstGeom>
          <a:solidFill>
            <a:srgbClr val="E3F2E8"/>
          </a:solidFill>
          <a:ln w="25400">
            <a:solidFill>
              <a:srgbClr val="2E7D4F"/>
            </a:solidFill>
            <a:prstDash val="solid"/>
          </a:ln>
        </p:spPr>
      </p:sp>
      <p:sp>
        <p:nvSpPr>
          <p:cNvPr id="5" name="Text 3"/>
          <p:cNvSpPr txBox="1"/>
          <p:nvPr/>
        </p:nvSpPr>
        <p:spPr>
          <a:xfrm>
            <a:off x="813816" y="1901952"/>
            <a:ext cx="420624" cy="420624"/>
          </a:xfrm>
          <a:prstGeom prst="roundRect">
            <a:avLst>
              <a:gd name="adj" fmla="val 50000"/>
            </a:avLst>
          </a:prstGeom>
          <a:solidFill>
            <a:srgbClr val="2E7D4F"/>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6" name="Text 4"/>
          <p:cNvSpPr txBox="1"/>
          <p:nvPr/>
        </p:nvSpPr>
        <p:spPr>
          <a:xfrm>
            <a:off x="134416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b="1" dirty="0">
                <a:solidFill>
                  <a:srgbClr val="1F2A37"/>
                </a:solidFill>
                <a:latin typeface="Calibri" pitchFamily="34" charset="0"/>
                <a:ea typeface="Calibri" pitchFamily="34" charset="-122"/>
                <a:cs typeface="Calibri" pitchFamily="34" charset="-120"/>
              </a:rPr>
              <a:t>Estado regulador</a:t>
            </a:r>
            <a:endParaRPr lang="en-US" sz="1400" dirty="0"/>
          </a:p>
        </p:txBody>
      </p:sp>
      <p:sp>
        <p:nvSpPr>
          <p:cNvPr id="7" name="Shape 5"/>
          <p:cNvSpPr/>
          <p:nvPr/>
        </p:nvSpPr>
        <p:spPr>
          <a:xfrm>
            <a:off x="4663440" y="1737360"/>
            <a:ext cx="3794760" cy="749808"/>
          </a:xfrm>
          <a:prstGeom prst="roundRect">
            <a:avLst>
              <a:gd name="adj" fmla="val 9756"/>
            </a:avLst>
          </a:prstGeom>
          <a:solidFill>
            <a:srgbClr val="FFFFFF"/>
          </a:solidFill>
          <a:ln w="12700">
            <a:solidFill>
              <a:srgbClr val="DCD5C1"/>
            </a:solidFill>
            <a:prstDash val="solid"/>
          </a:ln>
        </p:spPr>
      </p:sp>
      <p:sp>
        <p:nvSpPr>
          <p:cNvPr id="8" name="Text 6"/>
          <p:cNvSpPr txBox="1"/>
          <p:nvPr/>
        </p:nvSpPr>
        <p:spPr>
          <a:xfrm>
            <a:off x="4791456" y="1901952"/>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Text 7"/>
          <p:cNvSpPr txBox="1"/>
          <p:nvPr/>
        </p:nvSpPr>
        <p:spPr>
          <a:xfrm>
            <a:off x="5321808" y="1773936"/>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Estado produtor</a:t>
            </a:r>
            <a:endParaRPr lang="en-US" sz="1400" dirty="0"/>
          </a:p>
        </p:txBody>
      </p:sp>
      <p:sp>
        <p:nvSpPr>
          <p:cNvPr id="10" name="Shape 8"/>
          <p:cNvSpPr/>
          <p:nvPr/>
        </p:nvSpPr>
        <p:spPr>
          <a:xfrm>
            <a:off x="685800" y="2633472"/>
            <a:ext cx="3794760" cy="749808"/>
          </a:xfrm>
          <a:prstGeom prst="roundRect">
            <a:avLst>
              <a:gd name="adj" fmla="val 9756"/>
            </a:avLst>
          </a:prstGeom>
          <a:solidFill>
            <a:srgbClr val="FFFFFF"/>
          </a:solidFill>
          <a:ln w="12700">
            <a:solidFill>
              <a:srgbClr val="DCD5C1"/>
            </a:solidFill>
            <a:prstDash val="solid"/>
          </a:ln>
        </p:spPr>
      </p:sp>
      <p:sp>
        <p:nvSpPr>
          <p:cNvPr id="11" name="Text 9"/>
          <p:cNvSpPr txBox="1"/>
          <p:nvPr/>
        </p:nvSpPr>
        <p:spPr>
          <a:xfrm>
            <a:off x="813816" y="2798064"/>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2" name="Text 10"/>
          <p:cNvSpPr txBox="1"/>
          <p:nvPr/>
        </p:nvSpPr>
        <p:spPr>
          <a:xfrm>
            <a:off x="134416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Planejamento central</a:t>
            </a:r>
            <a:endParaRPr lang="en-US" sz="1400" dirty="0"/>
          </a:p>
        </p:txBody>
      </p:sp>
      <p:sp>
        <p:nvSpPr>
          <p:cNvPr id="13" name="Shape 11"/>
          <p:cNvSpPr/>
          <p:nvPr/>
        </p:nvSpPr>
        <p:spPr>
          <a:xfrm>
            <a:off x="4663440" y="2633472"/>
            <a:ext cx="3794760" cy="749808"/>
          </a:xfrm>
          <a:prstGeom prst="roundRect">
            <a:avLst>
              <a:gd name="adj" fmla="val 9756"/>
            </a:avLst>
          </a:prstGeom>
          <a:solidFill>
            <a:srgbClr val="FFFFFF"/>
          </a:solidFill>
          <a:ln w="12700">
            <a:solidFill>
              <a:srgbClr val="DCD5C1"/>
            </a:solidFill>
            <a:prstDash val="solid"/>
          </a:ln>
        </p:spPr>
      </p:sp>
      <p:sp>
        <p:nvSpPr>
          <p:cNvPr id="14" name="Text 12"/>
          <p:cNvSpPr txBox="1"/>
          <p:nvPr/>
        </p:nvSpPr>
        <p:spPr>
          <a:xfrm>
            <a:off x="4791456" y="2798064"/>
            <a:ext cx="420624" cy="420624"/>
          </a:xfrm>
          <a:prstGeom prst="roundRect">
            <a:avLst>
              <a:gd name="adj" fmla="val 50000"/>
            </a:avLst>
          </a:prstGeom>
          <a:solidFill>
            <a:srgbClr val="9AA3AB"/>
          </a:solidFill>
          <a:ln/>
        </p:spPr>
        <p:txBody>
          <a:bodyPr wrap="square" lIns="0" tIns="0" rIns="0" bIns="0" rtlCol="0" anchor="ctr"/>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Text 13"/>
          <p:cNvSpPr txBox="1"/>
          <p:nvPr/>
        </p:nvSpPr>
        <p:spPr>
          <a:xfrm>
            <a:off x="5321808" y="2670048"/>
            <a:ext cx="3044952" cy="676656"/>
          </a:xfrm>
          <a:prstGeom prst="rect">
            <a:avLst/>
          </a:prstGeom>
          <a:noFill/>
          <a:ln/>
        </p:spPr>
        <p:txBody>
          <a:bodyPr wrap="square" lIns="25400" tIns="25400" rIns="25400" bIns="25400" rtlCol="0" anchor="ctr"/>
          <a:lstStyle/>
          <a:p>
            <a:pPr algn="l" indent="0" marL="0">
              <a:lnSpc>
                <a:spcPct val="100000"/>
              </a:lnSpc>
              <a:buNone/>
            </a:pPr>
            <a:r>
              <a:rPr lang="en-US" sz="1400" dirty="0">
                <a:solidFill>
                  <a:srgbClr val="5B6770"/>
                </a:solidFill>
                <a:latin typeface="Calibri" pitchFamily="34" charset="0"/>
                <a:ea typeface="Calibri" pitchFamily="34" charset="-122"/>
                <a:cs typeface="Calibri" pitchFamily="34" charset="-120"/>
              </a:rPr>
              <a:t>Estado mínimo guarda-noturno</a:t>
            </a:r>
            <a:endParaRPr lang="en-US" sz="1400" dirty="0"/>
          </a:p>
        </p:txBody>
      </p:sp>
      <p:sp>
        <p:nvSpPr>
          <p:cNvPr id="16" name="Text 14"/>
          <p:cNvSpPr txBox="1"/>
          <p:nvPr/>
        </p:nvSpPr>
        <p:spPr>
          <a:xfrm>
            <a:off x="685800" y="3566160"/>
            <a:ext cx="7772400" cy="841248"/>
          </a:xfrm>
          <a:prstGeom prst="roundRect">
            <a:avLst>
              <a:gd name="adj" fmla="val 8696"/>
            </a:avLst>
          </a:prstGeom>
          <a:solidFill>
            <a:srgbClr val="E6F2F0"/>
          </a:solidFill>
          <a:ln/>
        </p:spPr>
        <p:txBody>
          <a:bodyPr wrap="square" lIns="114300" tIns="114300" rIns="114300" bIns="114300" rtlCol="0" anchor="ctr"/>
          <a:lstStyle/>
          <a:p>
            <a:pPr algn="l" indent="0" marL="0">
              <a:lnSpc>
                <a:spcPct val="100000"/>
              </a:lnSpc>
              <a:buNone/>
            </a:pPr>
            <a:r>
              <a:rPr lang="en-US" sz="1350" b="1" dirty="0">
                <a:solidFill>
                  <a:srgbClr val="2E7D4F"/>
                </a:solidFill>
                <a:latin typeface="Calibri" pitchFamily="34" charset="0"/>
                <a:ea typeface="Calibri" pitchFamily="34" charset="-122"/>
                <a:cs typeface="Calibri" pitchFamily="34" charset="-120"/>
              </a:rPr>
              <a:t>Resposta: a) </a:t>
            </a:r>
            <a:pPr algn="l" indent="0" marL="0">
              <a:lnSpc>
                <a:spcPct val="100000"/>
              </a:lnSpc>
              <a:buNone/>
            </a:pPr>
            <a:r>
              <a:rPr lang="en-US" sz="1350" dirty="0">
                <a:solidFill>
                  <a:srgbClr val="1F2A37"/>
                </a:solidFill>
                <a:latin typeface="Calibri" pitchFamily="34" charset="0"/>
                <a:ea typeface="Calibri" pitchFamily="34" charset="-122"/>
                <a:cs typeface="Calibri" pitchFamily="34" charset="-120"/>
              </a:rPr>
              <a:t>Com as privatizações e concessões, o Estado deixa de produzir diretamente e passa a regular os serviços por meio de agências.</a:t>
            </a:r>
            <a:endParaRPr lang="en-US" sz="1350" dirty="0"/>
          </a:p>
        </p:txBody>
      </p:sp>
      <p:sp>
        <p:nvSpPr>
          <p:cNvPr id="17" name="Text 15"/>
          <p:cNvSpPr txBox="1"/>
          <p:nvPr/>
        </p:nvSpPr>
        <p:spPr>
          <a:xfrm>
            <a:off x="4206240" y="36576"/>
            <a:ext cx="4800600" cy="219456"/>
          </a:xfrm>
          <a:prstGeom prst="rect">
            <a:avLst/>
          </a:prstGeom>
          <a:noFill/>
          <a:ln/>
        </p:spPr>
        <p:txBody>
          <a:bodyPr wrap="square" lIns="0" tIns="0" rIns="0" bIns="0" rtlCol="0" anchor="ctr"/>
          <a:lstStyle/>
          <a:p>
            <a:pPr algn="r" indent="0" marL="0">
              <a:lnSpc>
                <a:spcPct val="100000"/>
              </a:lnSpc>
              <a:buNone/>
            </a:pPr>
            <a:r>
              <a:rPr lang="en-US" sz="950" dirty="0">
                <a:solidFill>
                  <a:srgbClr val="5B6770"/>
                </a:solidFill>
                <a:latin typeface="Calibri" pitchFamily="34" charset="0"/>
                <a:ea typeface="Calibri" pitchFamily="34" charset="-122"/>
                <a:cs typeface="Calibri" pitchFamily="34" charset="-120"/>
              </a:rPr>
              <a:t>Estado, Governo e Mercado · Unidade 4</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UNEMAT / DEAD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Estado, Governo e Mercado – Unidade 4: Os modelos de Estado e o Estado brasileiro</dc:title>
  <dc:subject>PptxGenJS Presentation</dc:subject>
  <dc:creator>Prof. Dr. Cleiton Franco</dc:creator>
  <cp:lastModifiedBy>Prof. Dr. Cleiton Franco</cp:lastModifiedBy>
  <cp:revision>1</cp:revision>
  <dcterms:created xsi:type="dcterms:W3CDTF">2026-09-26T20:41:20Z</dcterms:created>
  <dcterms:modified xsi:type="dcterms:W3CDTF">2026-09-26T20:41:20Z</dcterms:modified>
</cp:coreProperties>
</file>