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Renda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1ª</c:v>
                  </c:pt>
                  <c:pt idx="1">
                    <c:v>2ª</c:v>
                  </c:pt>
                  <c:pt idx="2">
                    <c:v>3ª</c:v>
                  </c:pt>
                  <c:pt idx="3">
                    <c:v>4ª</c:v>
                  </c:pt>
                  <c:pt idx="4">
                    <c:v>5ª</c:v>
                  </c:pt>
                  <c:pt idx="5">
                    <c:v>6ª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64</c:v>
                </c:pt>
                <c:pt idx="3">
                  <c:v>51</c:v>
                </c:pt>
                <c:pt idx="4">
                  <c:v>41</c:v>
                </c:pt>
                <c:pt idx="5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social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Alemanha (conservador)</c:v>
                  </c:pt>
                  <c:pt idx="1">
                    <c:v>Suécia (social-democrata)</c:v>
                  </c:pt>
                  <c:pt idx="2">
                    <c:v>Reino Unido (liberal)</c:v>
                  </c:pt>
                  <c:pt idx="3">
                    <c:v>Estados Unidos (liberal)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25.9</c:v>
                </c:pt>
                <c:pt idx="1">
                  <c:v>25.5</c:v>
                </c:pt>
                <c:pt idx="2">
                  <c:v>20.6</c:v>
                </c:pt>
                <c:pt idx="3">
                  <c:v>18.7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tributária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1947</c:v>
                  </c:pt>
                  <c:pt idx="1">
                    <c:v>1960</c:v>
                  </c:pt>
                  <c:pt idx="2">
                    <c:v>1970</c:v>
                  </c:pt>
                  <c:pt idx="3">
                    <c:v>1980</c:v>
                  </c:pt>
                  <c:pt idx="4">
                    <c:v>1990</c:v>
                  </c:pt>
                  <c:pt idx="5">
                    <c:v>2000</c:v>
                  </c:pt>
                  <c:pt idx="6">
                    <c:v>2010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17</c:v>
                </c:pt>
                <c:pt idx="2">
                  <c:v>26</c:v>
                </c:pt>
                <c:pt idx="3">
                  <c:v>25</c:v>
                </c:pt>
                <c:pt idx="4">
                  <c:v>29</c:v>
                </c:pt>
                <c:pt idx="5">
                  <c:v>30</c:v>
                </c:pt>
                <c:pt idx="6">
                  <c:v>32</c:v>
                </c:pt>
                <c:pt idx="7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2004</c:v>
                  </c:pt>
                  <c:pt idx="1">
                    <c:v>2006</c:v>
                  </c:pt>
                  <c:pt idx="2">
                    <c:v>2010</c:v>
                  </c:pt>
                  <c:pt idx="3">
                    <c:v>2014</c:v>
                  </c:pt>
                  <c:pt idx="4">
                    <c:v>2019</c:v>
                  </c:pt>
                  <c:pt idx="5">
                    <c:v>2023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</c:v>
                </c:pt>
                <c:pt idx="1">
                  <c:v>11</c:v>
                </c:pt>
                <c:pt idx="2">
                  <c:v>12.8</c:v>
                </c:pt>
                <c:pt idx="3">
                  <c:v>14</c:v>
                </c:pt>
                <c:pt idx="4">
                  <c:v>13.2</c:v>
                </c:pt>
                <c:pt idx="5">
                  <c:v>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1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2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7 e 8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Crescimento, pleno emprego e direitos sociais universais nos países centrais.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multiplicador keynesiano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gasto público inicial de R$ 100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renda gerada em cada rodada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 gasta 80% e poupa 20%.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rodada gera nova renda para outras pessoas.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todas, a renda cresce até R$ 500 milhões: 100 ÷ (1 − 0,8).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Propensão marginal a consumir = 0,8.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regime gasta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em países da OCDE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(% do PIB), 2019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regimes liberais gastam menos e deixam mais espaço ao mercado.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não diz tudo: na Suécia o acesso é universal; na Alemanha, ligado às contribuições.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OCDE, Social Expenditure Database (SOCX). Valores aproximados.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brasileiro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 e à proteção social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Estado brasileiro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ao longo do tempo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(% do PIB)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mais que dobrou entre 1947 e 1970, no Estado desenvolvimentista.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1988, cresceu para financiar a seguridade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reformas dos anos 1990 mudaram o papel do Estado (de produtor a regulador), não o tamanho da arrecadação.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e Receita Federal. Valores aproximados e arredondados,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do Bolsa Família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atendidas pelo programa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beneficiárias (milhões)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ampliou-se rapidamente nos primeiros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2023, o novo Bolsa Família absorveu o público do Auxílio Brasil.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cadastro passa pelo CadÚnico, operado pelos municípios.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Ministério do Desenvolvimento Social (MDS). Valores aproximados, posição de dezembro.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atual: que Estado e que mercado?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município. Que falha de mercado ela corrige? Qual função do Estado cumpre? Em qual modelo de Estado ela se inspira?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2026-09-26T20:14:12Z</dcterms:created>
  <dcterms:modified xsi:type="dcterms:W3CDTF">2026-09-26T20:14:12Z</dcterms:modified>
</cp:coreProperties>
</file>