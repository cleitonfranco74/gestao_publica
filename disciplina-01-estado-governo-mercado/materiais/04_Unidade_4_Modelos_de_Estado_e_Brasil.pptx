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 · Os modelos de Estado e o Estado brasileiro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57200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 · Os modelos de Estado e o Estado brasileiro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02/11 a 15/11/2026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4 · Leitura: COELHO (2014) e LEITE JÚNIOR (2009)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Unidades 7 e 8 · Webaulas: 04/11 e 11/11 · A2 até 08/11 · A3 até 15/11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modelos de Estado no século XX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Liberal, socialista, de bem-estar e neoliberal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liberal e a crise de 1929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3566160" cy="2743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 equilibrado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Padrão-ouro e livre comércio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Pouca proteção social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4480560" y="1280160"/>
            <a:ext cx="3977640" cy="2743200"/>
          </a:xfrm>
          <a:prstGeom prst="roundRect">
            <a:avLst>
              <a:gd name="adj" fmla="val 2000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1929: A GRANDE DEPRESSÃO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Quebra da Bolsa de Nova York, falências e desemprego em massa.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confiança na autorregulação do mercado é abalada.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socialista (1917–1991)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central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Revolução Russa (1917), propriedade estatal, planos quinquenais (1928), partido único.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Industrialização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Industrialização acelerada da URSS.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E FIM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Colapso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Ineficiência, escassez e falta de liberdades. Muro de Berlim (1989) e fim da URSS (1991).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de bem-estar social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1945–1973: os anos dourados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1936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desemprego vem da falta de demanda efetiva. O Estado deve gastar e investir, mesmo com déficit.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Deal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públicas, regulação bancária e seguridade social nos EUA.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Beveridge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Proteção social universal “do berço ao túmulo”.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8328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Crescimento, pleno emprego e direitos sociais universais nos países centrais.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Keynes: como o gasto público reage à crise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agregada = C + I + G + (X − M)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recessão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(C) e investimento (I) caem: as empresas vendem menos e demitem.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papel de G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gasto do governo (G) compensa a queda e sustenta a produção e o emprego.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Multiplicador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real gasto vira renda de alguém, que também gasta: a renda total cresce mais que o gasto inicial.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3493008"/>
            <a:ext cx="7772400" cy="960120"/>
          </a:xfrm>
          <a:prstGeom prst="roundRect">
            <a:avLst>
              <a:gd name="adj" fmla="val 7619"/>
            </a:avLst>
          </a:prstGeom>
          <a:solidFill>
            <a:srgbClr val="FBF4DC"/>
          </a:solidFill>
          <a:ln/>
        </p:spPr>
      </p:sp>
      <p:sp>
        <p:nvSpPr>
          <p:cNvPr id="8" name="Shape 6"/>
          <p:cNvSpPr/>
          <p:nvPr/>
        </p:nvSpPr>
        <p:spPr>
          <a:xfrm>
            <a:off x="850392" y="36576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9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758184"/>
            <a:ext cx="256032" cy="2560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17320" y="3602736"/>
            <a:ext cx="6903720" cy="7406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 (2020)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 de renda na pandemia que sustentou o consumo das famílias.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regimes de bem-estar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de Esping-Andersen (1990)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EUA, REINO UNIDO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Benefícios focalizados nos mais pobres; forte papel do mercado (planos privados).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ALEMANHA, FRANÇA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Conservador-corporativo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 sociais ligados ao emprego e às contribuições do trabalhador.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SUÉCIA, DINAMARCA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universais financiados por impostos, para todos os cidadãos.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8328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Brasil combina traços: previdência contributiva (corporativo), SUS universal (social-democrata) e programas focalizados (liberal).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bem-estar entrou em crise?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1970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asPu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Choques do petróleo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1973 e 1979: custos e preços disparam.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3444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0759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Estagflação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Estagnação com inflação: o remédio keynesiano deixa de funcionar.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85800" y="269748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FileInvoiceDoll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535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77063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fiscal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crescem mais que a arrecadação; a dívida aumenta.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709160" y="269748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GlobeAmerica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5351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77063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Globalização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móvel pressiona impostos e regulações nacionais.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neoliberal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3840480" cy="30175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Crise: </a:t>
            </a:r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choques do petróleo (1973 e 1979), estagflação e crise fiscal.</a:t>
            </a:r>
            <a:endParaRPr lang="en-US" sz="16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Ideias: </a:t>
            </a:r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Hayek (O Caminho da Servidão, 1944) e Friedman (monetarismo).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Governos: </a:t>
            </a:r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Thatcher (1979) e Reagan (1981).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709160" y="1234440"/>
            <a:ext cx="374904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CONSENSO DE WASHINGTON (1989)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 fiscal, reforma tributária, privatizações, desregulamentação, abertura comercial e financeira, respeito à propriedade.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passa de produtor a regulador.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modelos de Estado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600200"/>
                <a:gridCol w="2834640"/>
                <a:gridCol w="1783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Período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do Estado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Referências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Séc. XIX – 1929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Mínimo: segurança, justiça, contratos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Locke, Smith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Socialista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1917 – 1991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Proprietário e planejador central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Marx, Lênin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Bem-estar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1945 – 1973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Indutor da demanda, provedor de direitos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Keynes, Beveridge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Neoliberal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1979 – 2008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Regulador e enxuto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Hayek, Friedman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brasileiro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desenvolvimentismo às reformas e à proteção social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no Brasil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1930–1980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desenvolvimentista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Vargas, JK e regime militar: estatais (CSN, Petrobras), BNDE (1952) e Plano de Metas.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1988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Cidadã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Seguridade social universal: SUS, previdência e assistência social.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1990–2000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do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Desestatização, Plano Diretor (1995), agências reguladoras e LRF (2000).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modelos de administração pública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o Plano Diretor da Reforma do Aparelho do Estado (1995)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34440"/>
          <a:ext cx="7772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1752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 no Brasil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Patrimonialista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Confusão entre o público e o privado; cargos como favor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Brasil colonial e imperial; República Velha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Burocrático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Mérito, impessoalidade, normas e controle de procedimentos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DASP (1938), na Era Vargas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 em resultados, eficiência e no cidadão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Diretor (1995) e EC 19/1998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modelos convivem até hoje: o desafio é superar o patrimonialismo sem perder os controles da burocracia.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1990: o Estado regulador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309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 Nacional de Desestatização (Lei 8.031/1990)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1996–1997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Agências reguladoras: ANEEL (energia), ANATEL (telecomunicações) e ANP (petróleo)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Emenda Constitucional 19: reforma administrativa e princípio da eficiência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 de Responsabilidade Fiscal (LC 101/2000): limites de gasto com pessoal e de dívida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85800" y="3182112"/>
            <a:ext cx="7772400" cy="1261872"/>
          </a:xfrm>
          <a:prstGeom prst="roundRect">
            <a:avLst>
              <a:gd name="adj" fmla="val 5797"/>
            </a:avLst>
          </a:prstGeom>
          <a:solidFill>
            <a:srgbClr val="FBF4DC"/>
          </a:solidFill>
          <a:ln/>
        </p:spPr>
      </p:sp>
      <p:sp>
        <p:nvSpPr>
          <p:cNvPr id="5" name="Shape 2"/>
          <p:cNvSpPr/>
          <p:nvPr/>
        </p:nvSpPr>
        <p:spPr>
          <a:xfrm>
            <a:off x="850392" y="33467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6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47288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3291840"/>
            <a:ext cx="6903720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conta de luz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distribuidora é privada, mas a tarifa e a qualidade do serviço são reguladas pela ANEEL: o Estado deixa de produzir e passa a regular.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proteção social depois de 1988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Heartbe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8.080/1990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universal e gratuita: direito de todos e dever do Estado.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HandHoldingHe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LOAS, 1993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BPC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salário mínimo a idosos e pessoas com deficiência de baixa renda.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274320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HandHoldingUs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1635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 Família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 de renda com condicionalidades em saúde e educação.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709160" y="274320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81635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 na pandemia: o Estado como estabilizador.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Século XXI: Estado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atual: que Estado e que mercado?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de 2008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Resgates bancários e estímulos fiscais.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3444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Heartbe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0759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Pandemia de 2020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 e o papel do SUS.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2651760"/>
            <a:ext cx="7772400" cy="1463040"/>
          </a:xfrm>
          <a:prstGeom prst="roundRect">
            <a:avLst>
              <a:gd name="adj" fmla="val 3750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refletir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uma política pública do seu município. Que falha de mercado ela corrige? Qual função do Estado cumpre? Em qual modelo de Estado ela se inspira?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4 e encerramento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02/11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4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04/11 (qua)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4ª webaula, às 19h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08/11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Exercícios de fixação 2 e Avaliação A2 no SIGAA (Unidades 3 e 4),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11/11 (qua)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5ª webaula: revisão para a A3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15/11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 A3: 10 objetivas + estudo de caso (todo o conteúdo),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final = (((A1 + A2) / 2) × 0,4) + (A3 × 0,6) · aprovação com 7,0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recessão, o que Keynes recomendaria ao governo?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Cortar gastos para equilibrar o orçamento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o gasto e o investimento para compensar a queda da demanda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os juros para conter o consumo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intervir e esperar o ajuste do 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recessão, o que Keynes recomendaria ao governo?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Cortar gastos para equilibrar o orçamento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o gasto e o investimento para compensar a queda da demanda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os juros para conter o consumo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intervir e esperar o ajuste do 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Keynes, a crise vem da falta de demanda efetiva; o gasto público (G) sustenta a produção e, pelo multiplicador, a renda.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universais financiados por impostos, como na Suécia, caracterizam o regime de bem-estar: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Conservador-corporativo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Social-democrata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universais financiados por impostos, como na Suécia, caracterizam o regime de bem-estar: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Conservador-corporativo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Social-democrata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regime social-democrata (Esping-Andersen), a proteção é universal e financiada por tributos.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estagflação?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com preços estáveis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Estagnação econômica com inflação alta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preços com pleno emprego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acelerado com desemprego zero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estagflação?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com preços estáveis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Estagnação econômica com inflação alta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preços com pleno emprego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acelerado com desemprego zero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anos 1970, estagnação e inflação ocorreram juntas, o que abalou o receituário keynesiano e abriu espaço ao neoliberalismo.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Diretor da Reforma do Aparelho do Estado (1995) propôs a passagem da administração: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patrimonialista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Patrimonialista para socialista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burocrática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Burocrática para gerencial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Diretor da Reforma do Aparelho do Estado (1995) propôs a passagem da administração: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patrimonialista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Patrimonialista para socialista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burocrática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Burocrática para gerencial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reforma de 1995 (Bresser-Pereira) buscou a administração gerencial, com foco em resultados e no cidadão.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criação da ANEEL, da ANATEL e da ANP, nos anos 1990, expressa qual papel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regulador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produtor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central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guarda-noturno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criação da ANEEL, da ANATEL e da ANP, nos anos 1990, expressa qual papel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regulador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produtor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central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guarda-noturno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as privatizações e concessões, o Estado deixa de produzir diretamente e passa a regular os serviços por meio de agências.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4: Os modelos de Estado e o Estado brasileiro</dc:title>
  <dc:subject>PptxGenJS Presentation</dc:subject>
  <dc:creator>Prof. Dr. Cleiton Franco</dc:creator>
  <cp:lastModifiedBy>Prof. Dr. Cleiton Franco</cp:lastModifiedBy>
  <cp:revision>1</cp:revision>
  <dcterms:created xsi:type="dcterms:W3CDTF">2026-09-26T16:22:12Z</dcterms:created>
  <dcterms:modified xsi:type="dcterms:W3CDTF">2026-09-26T16:22:12Z</dcterms:modified>
</cp:coreProperties>
</file>