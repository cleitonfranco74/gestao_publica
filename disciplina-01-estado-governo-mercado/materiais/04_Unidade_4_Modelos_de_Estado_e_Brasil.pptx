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8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0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Renda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1ª</c:v>
                  </c:pt>
                  <c:pt idx="1">
                    <c:v>2ª</c:v>
                  </c:pt>
                  <c:pt idx="2">
                    <c:v>3ª</c:v>
                  </c:pt>
                  <c:pt idx="3">
                    <c:v>4ª</c:v>
                  </c:pt>
                  <c:pt idx="4">
                    <c:v>5ª</c:v>
                  </c:pt>
                  <c:pt idx="5">
                    <c:v>6ª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80</c:v>
                </c:pt>
                <c:pt idx="2">
                  <c:v>64</c:v>
                </c:pt>
                <c:pt idx="3">
                  <c:v>51</c:v>
                </c:pt>
                <c:pt idx="4">
                  <c:v>41</c:v>
                </c:pt>
                <c:pt idx="5">
                  <c:v>33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Gasto social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Alemanha (conservador)</c:v>
                  </c:pt>
                  <c:pt idx="1">
                    <c:v>Suécia (social-democrata)</c:v>
                  </c:pt>
                  <c:pt idx="2">
                    <c:v>Reino Unido (liberal)</c:v>
                  </c:pt>
                  <c:pt idx="3">
                    <c:v>Estados Unidos (liberal)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25.9</c:v>
                </c:pt>
                <c:pt idx="1">
                  <c:v>25.5</c:v>
                </c:pt>
                <c:pt idx="2">
                  <c:v>20.6</c:v>
                </c:pt>
                <c:pt idx="3">
                  <c:v>18.7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Carga tributária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1947</c:v>
                  </c:pt>
                  <c:pt idx="1">
                    <c:v>1960</c:v>
                  </c:pt>
                  <c:pt idx="2">
                    <c:v>1970</c:v>
                  </c:pt>
                  <c:pt idx="3">
                    <c:v>1980</c:v>
                  </c:pt>
                  <c:pt idx="4">
                    <c:v>1990</c:v>
                  </c:pt>
                  <c:pt idx="5">
                    <c:v>2000</c:v>
                  </c:pt>
                  <c:pt idx="6">
                    <c:v>2010</c:v>
                  </c:pt>
                  <c:pt idx="7">
                    <c:v>2020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</c:v>
                </c:pt>
                <c:pt idx="1">
                  <c:v>17</c:v>
                </c:pt>
                <c:pt idx="2">
                  <c:v>26</c:v>
                </c:pt>
                <c:pt idx="3">
                  <c:v>25</c:v>
                </c:pt>
                <c:pt idx="4">
                  <c:v>29</c:v>
                </c:pt>
                <c:pt idx="5">
                  <c:v>30</c:v>
                </c:pt>
                <c:pt idx="6">
                  <c:v>32</c:v>
                </c:pt>
                <c:pt idx="7">
                  <c:v>32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Famílias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1F2A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2004</c:v>
                  </c:pt>
                  <c:pt idx="1">
                    <c:v>2006</c:v>
                  </c:pt>
                  <c:pt idx="2">
                    <c:v>2010</c:v>
                  </c:pt>
                  <c:pt idx="3">
                    <c:v>2014</c:v>
                  </c:pt>
                  <c:pt idx="4">
                    <c:v>2019</c:v>
                  </c:pt>
                  <c:pt idx="5">
                    <c:v>2023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6.6</c:v>
                </c:pt>
                <c:pt idx="1">
                  <c:v>11</c:v>
                </c:pt>
                <c:pt idx="2">
                  <c:v>12.8</c:v>
                </c:pt>
                <c:pt idx="3">
                  <c:v>14</c:v>
                </c:pt>
                <c:pt idx="4">
                  <c:v>13.2</c:v>
                </c:pt>
                <c:pt idx="5">
                  <c:v>21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50" u="none">
                  <a:solidFill>
                    <a:srgbClr val="1F2A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Chegamos à Unidade 4, a última da disciplina: os modelos de Estado e o Estado brasileiro. Aqui juntamos tudo o que vimos, as falhas de mercado, o pêndulo e as matrizes liberal e marxista, para entender os grandes modelos de Estado do século XX e a trajetória do Estado no Brasil.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unidade vai de 2 a 15 de novembro. A leitura é o livro de Coelho e o texto de Leite Júnior, de 2009, junto com os tópicos 7 e 8 do sumário da página de conteúdos. Dois prazos importantes: a A2, até 8 de novembro, e a A3, até 15 de novembro, sempre às 23h55.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1, que corresponde ao tópico 7 do sumário: os modelos de Estado no século XX. Vamos estudar quatro: o liberal, o socialista, o de bem-estar social e o neoliberal.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Estado liberal, herdado do século XIX, tinha quatro marcas: Estado mínimo, orçamento equilibrado, padrão-ouro com livre comércio e pouca proteção social. Esse modelo entra em crise em 1929, com a Grande Depressão: a quebra da Bolsa de Nova York, falências em cadeia e desemprego em massa. A confiança na autorregulação do mercado é profundamente abalada, e o pêndulo começa a ir em direção ao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primeiro modelo alternativo é o Estado socialista, de 1917 a 1991. Suas características: a Revolução Russa de 1917, a propriedade estatal, o planejamento central, com os planos quinquenais a partir de 1928, e o partido único. Entre os resultados, uma industrialização acelerada da União Soviética. Mas também limites graves: ineficiência, escassez de bens de consumo e falta de liberdades. O modelo entra em colapso com a queda do Muro de Berlim, em 1989, e o fim da URSS, em 1991.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segundo modelo é o Estado de bem-estar social, cujo auge vai de 1945 a 1973, os anos dourados. Três referências o constroem. O New Deal, nos Estados Unidos, a partir de 1933, com obras públicas, regulação bancária e seguridade social. Keynes, com a Teoria Geral do Emprego, do Juro e da Moeda, de 1936, que explica o desemprego pela falta de demanda efetiva e defende que o Estado gaste e invista, mesmo com déficit. E o Relatório Beveridge, de 1942, no Reino Unido, com a proteção social universal “do berço ao túmulo”. O resultado, nos países centrais, foi crescimento, pleno emprego, direitos sociais universais, como saúde, educação e previdência, e um pacto entre capital e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entender melhor o raciocínio de Keynes. A demanda agregada é a soma do consumo, do investimento, do gasto do governo e das exportações líquidas. Numa recessão, o consumo e o investimento caem: as empresas vendem menos e demitem. O papel do governo é compensar essa queda com mais gasto, sustentando a produção e o emprego. E há o multiplicador: cada real gasto vira renda de alguém, que também gasta, e a renda total cresce mais que o gasto inicial. Um exemplo recente é o auxílio emergencial de 2020, que sustentou o consumo das famílias na pandemia. Repare que Keynes contesta diretamente a lei de Say, que vimos na Unidade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o multiplicador em ação. [Apontar para as barras, da primeira à última.] O governo gasta 100 milhões de reais. Quem recebe esse dinheiro gasta 80% e poupa 20%: são 80 milhões de nova renda na segunda rodada. Quem recebe esses 80 gasta 64, depois 51, e assim por diante. Somando todas as rodadas, a renda cresce até 500 milhões, ou seja, 100 dividido por 1 menos 0,8. O multiplicador é 5. É um exemplo simplificado, mas mostra por que o gasto público pode ter um efeito maior do que o valor inicial.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Nem todo Estado de bem-estar é igual. Gøsta Esping-Andersen, em 1990, identificou três regimes. O liberal, como nos Estados Unidos e no Reino Unido, com benefícios focalizados nos mais pobres e um forte papel do mercado, como os planos privados. O conservador-corporativo, como na Alemanha e na França, com seguros sociais ligados ao emprego e às contribuições. E o social-democrata, como na Suécia e na Dinamarca, com direitos universais financiados por impostos. O Brasil combina traços dos três: a previdência é contributiva, como no corporativo; o SUS é universal, como no social-democrata; e programas como o Bolsa Família são focalizados, como no liberal.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gráfico compara o gasto social público de quatro países da OCDE, em proporção do PIB, em 2019. [Apontar para as barras.] Alemanha e Suécia gastam cerca de 25% a 26% do PIB; Reino Unido e Estados Unidos, os dois de regime liberal, gastam menos, entre 19% e 21%, e deixam mais espaço para o mercado. Mas atenção: o volume não diz tudo. Alemanha e Suécia gastam parecido, mas de formas diferentes: na Suécia, o acesso é universal; na Alemanha, está mais ligado às contribuições. Os valores são aproximados.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o Estado de bem-estar entrou em crise nos anos 1970? Primeiro, os choques do petróleo, em 1973 e 1979, que fizeram custos e preços dispararem. Segundo, a estagflação: estagnação e inflação ao mesmo tempo, algo que o receituário keynesiano não conseguia resolver. Terceiro, a crise fiscal: os gastos cresciam mais do que a arrecadação, e a dívida aumentava. E quarto, a globalização: com o capital mais móvel, ficou mais difícil para cada país manter impostos e regulações elevados.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 crise nasce o Estado neoliberal. As ideias vêm de Hayek, com O Caminho da Servidão, de 1944, e de Milton Friedman, com o monetarismo. Os governos que as aplicam são os de Margaret Thatcher, no Reino Unido, a partir de 1979, e de Ronald Reagan, nos Estados Unidos, a partir de 1981. Em 1989, o Consenso de Washington resume a agenda: disciplina fiscal, reforma tributária, privatizações, desregulamentação, abertura comercial e financeira e respeito à propriedade. A síntese é esta: o Estado passa de produtor a regulador.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conhecer melhor as ideias por trás do neoliberalismo. Friedrich Hayek, em O Caminho da Servidão, de 1944, argumenta que o planejamento estatal ameaça a liberdade; em 1947, ele fundou a Sociedade Mont Pèlerin, que reuniu os críticos do intervencionismo. Milton Friedman, com o monetarismo, defende que a inflação é um fenômeno monetário, e que o Estado deve se limitar a regras estáveis, como o controle da quantidade de moeda. Na prática, isso significou privatizações, desregulamentação, abertura comercial e financeira, flexibilização do trabalho e redução do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quadro resume os quatro modelos. O liberal, do século XIX até 1929, com um Estado mínimo que garante segurança, justiça e contratos, inspirado em Locke e Smith. O socialista, de 1917 a 1991, com o Estado proprietário e planejador central, inspirado em Marx e Lênin. O de bem-estar, de 1945 a 1973, com o Estado indutor da demanda e provedor de direitos, inspirado em Keynes e Beveridge. E o neoliberal, de 1979 a 2008, com o Estado regulador e enxuto, inspirado em Hayek e Friedman. Sugiro copiar este quadro no caderno: é um excelente resumo da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2, que corresponde ao tópico 8 do sumário: Estado e capital no Brasil e no século XXI. Vamos ver como esses modelos aparecem na nossa história, do desenvolvimentismo às reformas, à proteção social e aos desafios atuais.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Brasil, de 1930 a 1980, predomina o Estado desenvolvimentista: Vargas, Juscelino e o regime militar criam estatais como a CSN, a Petrobras e a Eletrobras, o BNDE, em 1952, e o Plano de Metas. Em 1988, a Constituição Cidadã cria a seguridade social universal, com o SUS, a previdência e a assistência social. E entre 1990 e 2000 vêm as reformas do Estado: desestatização, o Plano Diretor de 1995, as agências reguladoras e a Lei de Responsabilidade Fiscal, em 2000.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forma de medir o tamanho do Estado é a carga tributária, ou seja, a arrecadação em proporção do PIB. [Apontar para as colunas.] Ela mais que dobrou entre 1947 e 1970, no auge do Estado desenvolvimentista. Depois de 1988, cresceu de novo, para financiar a seguridade social criada pela Constituição, e passou dos 30% do PIB. Um detalhe interessante: as reformas dos anos 1990 mudaram o papel do Estado, de produtor para regulador, mas não reduziram a arrecadação. Os valores são aproximados e servem para mostrar a tendência.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chegamos às reformas dos anos 1990? Nos anos 1980, a crise da dívida externa e a hiperinflação abriram esse caminho. E aqui aparece uma tensão importante. De um lado, a Constituição de 1988, com uma seguridade social universalista, o SUS, a previdência e a assistência, que aproxima o Brasil do modelo de bem-estar. De outro, as reformas dos anos 1990: a desestatização, o Plano Diretor de Bresser-Pereira, de 1995, com as agências reguladoras e o incentivo ao setor público não estatal, e a Lei de Responsabilidade Fiscal, de 2000. A gestão pública brasileira convive até hoje com a tensão entre esses dois projetos.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Plano Diretor da Reforma do Aparelho do Estado, de 1995, identificou três modelos de administração pública. O patrimonialista, em que o público e o privado se confundem e os cargos são distribuídos como favor, típico do Brasil colonial, imperial e da República Velha. O burocrático, baseado no mérito, na impessoalidade, em normas e no controle de procedimentos, que chega com o DASP, em 1938, na Era Vargas. E o gerencial, com foco em resultados, eficiência e no cidadão, proposto pelo Plano Diretor e pela Emenda Constitucional 19, de 1998. Na prática, os três convivem até hoje. O desafio é superar o patrimonialismo sem perder os controles da burocracia.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anos 1990 constroem o Estado regulador brasileiro. Em 1990, o Programa Nacional de Desestatização. Entre 1996 e 1997, as agências reguladoras: a ANEEL, para energia, a ANATEL, para telecomunicações, e a ANP, para petróleo. Em 1998, a Emenda Constitucional 19, com a reforma administrativa e o princípio da eficiência. E em 2000, a Lei de Responsabilidade Fiscal, com limites para o gasto com pessoal e para a dívida. Um exemplo do dia a dia: na conta de luz, a distribuidora é privada, mas a tarifa e a qualidade são reguladas pela ANEEL. O Estado deixa de produzir e passa a regular.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Ao mesmo tempo, depois de 1988, o Brasil constrói uma ampla rede de proteção social. O SUS, pela Lei 8.080, de 1990, com saúde universal e gratuita, direito de todos e dever do Estado. O BPC, criado pela LOAS em 1993, que paga um salário mínimo a idosos e pessoas com deficiência de baixa renda. O Bolsa Família, em 2003, com transferência de renda e condicionalidades em saúde e educação. E o auxílio emergencial, em 2020, que mostrou o Estado cumprindo a função estabilizadora na pandemia.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 expansão do Bolsa Família em número de famílias atendidas. [Apontar para as colunas.] O programa começou com cerca de 6,6 milhões de famílias em 2004 e cresceu rapidamente, passando de 12 milhões em 2010. Em 2023, o novo Bolsa Família absorveu o público do Auxílio Brasil e chegou a cerca de 21 milhões de famílias. Um ponto importante para quem trabalha no município: todo esse público passa pelo CadÚnico, que é operado pelas prefeituras. Os valores são aproximados.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no século XXI? A crise financeira de 2008 trouxe resgates bancários e estímulos fiscais em vários países. A pandemia de 2020 trouxe o auxílio emergencial e mostrou a importância do SUS. Os dois episódios mostraram que o Estado continua indispensável para estabilizar a economia. A pergunta atual não é mais “Estado ou mercado”, mas que Estado e que mercado, e como articulá-los com transparência, eficiência e justiça social. Deixo uma reflexão: escolha uma política pública do seu município, como transporte, saneamento ou saúde. Que falha de mercado ela corrige? Qual das funções de Musgrave ela cumpre? E como um liberal e um marxista a avaliariam? Se você conseguir responder a essas perguntas, terá dominado o essencial da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às atividades finais. A partir de 2 de novembro, esta videoaula e a leitura. Até 8 de novembro, os Exercícios de fixação 2 e a Avaliação A2, sobre as Unidades 3 e 4. De 9 a 15 de novembro, a semana de revisão, com o fórum de dúvidas e a gravação do encontro síncrono. E até 15 de novembro, a A3: dez questões objetivas e um estudo de caso, sobre todo o conteúdo. Lembre que a nota final é a média de A1 e A2 com peso 0,4, mais a A3 com peso 0,6, e que a aprovação exige nota 7,0.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encerrar, o último quiz: cinco perguntas sobre a Unidade 4. Pause, responda e confira. Depois, é só revisar e fazer as avaliações com calma.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Numa recessão, o que Keynes recomendaria ao governo? Letra a: Cortar gastos para equilibrar o orçamento. Letra b: Aumentar o gasto e o investimento para compensar a queda da demanda. Letra c: Elevar os juros para conter o consumo. Letra d: Não intervir e esperar o ajuste do mercado.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Aumentar o gasto e o investimento para compensar a queda da demanda. Para Keynes, a crise vem da falta de demanda efetiva; o gasto público (G) sustenta a produção e, pelo multiplicador, a renda.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Direitos universais financiados por impostos, como na Suécia, caracterizam o regime de bem-estar: Letra a: Liberal. Letra b: Conservador-corporativo. Letra c: Social-democrata. Letra d: Neoliberal.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Social-democrata. No regime social-democrata (Esping-Andersen), a proteção é universal e financiada por tributos.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O que é estagflação? Letra a: Crescimento com preços estáveis. Letra b: Estagnação econômica com inflação alta. Letra c: Queda de preços com pleno emprego. Letra d: Crescimento acelerado com desemprego zero.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Estagnação econômica com inflação alta. Nos anos 1970, estagnação e inflação ocorreram juntas, o que abalou o receituário keynesiano e abriu espaço ao neoliberalismo.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O Plano Diretor da Reforma do Aparelho do Estado (1995) propôs a passagem da administração: Letra a: Gerencial para patrimonialista. Letra b: Patrimonialista para socialista. Letra c: Gerencial para burocrática. Letra d: Burocrática para gerencial.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d: Burocrática para gerencial. A reforma de 1995 (Bresser-Pereira) buscou a administração gerencial, com foco em resultados e no cidadão.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A criação da ANEEL, da ANATEL e da ANP, nos anos 1990, expressa qual papel do Estado? Letra a: Estado regulador. Letra b: Estado produtor. Letra c: Planejamento central. Letra d: Estado mínimo guarda-noturno.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Estado regulador. Com as privatizações e concessões, o Estado deixa de produzir diretamente e passa a regular os serviços por meio de agências.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 a Unidade 4 e a disciplina, vamos recapitular. [Apontar para o quadro da esquerda.] No tópico 7, vimos os quatro modelos de Estado do século XX: o liberal, que entrou em crise em 1929; o socialista, com planejamento central, de 1917 a 1991; o de bem-estar social, com Keynes, o New Deal, Beveridge e os três regimes de Esping-Andersen; e, depois da crise dos anos 1970, o neoliberal, com Hayek, Friedman e o Consenso de Washington. [Apontar para o quadro da direita.] No tópico 8, vimos o Estado desenvolvimentista brasileiro, de 1930 a 1980, e a tensão entre a Constituição de 1988, com a seguridade universal, e as reformas dos anos 1990, com o Estado gerencial, as agências reguladoras e a LRF. Vimos também que patrimonialismo, burocracia e gerencialismo ainda convivem, e que, no século XXI, a pergunta é que Estado e que mercado queremos. Lembre: A2 até 8 de novembro e A3 até 15 de novembro, às 23h55. Obrigado pela dedicação ao longo destas semanas. Bons estudos, boas avaliações e até a próxima disciplina!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Slide-8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1" Type="http://schemas.openxmlformats.org/officeDocument/2006/relationships/image" Target="../media/Slide-10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0.xml"/><Relationship Id="rId1" Type="http://schemas.openxmlformats.org/officeDocument/2006/relationships/image" Target="../media/Slide-17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1.xml"/><Relationship Id="rId1" Type="http://schemas.openxmlformats.org/officeDocument/2006/relationships/image" Target="../media/Slide-22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 · Os modelos de Estado e o Estado brasileiro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 · Os modelos de Estado e o Estado brasileiro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02/11 a 15/11/2026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4 · Leitura: COELHO (2014) e LEITE JÚNIOR (2009)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7 e 8 do sumário · A2 até 08/11 · A3 até 15/11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7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modelos de Estado no século XX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Liberal, socialista, de bem-estar social e neoliberal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liberal e a crise de 1929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3566160" cy="2743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 equilibrado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Padrão-ouro e livre comércio</a:t>
            </a:r>
            <a:endParaRPr lang="en-US" sz="170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Pouca proteção social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4480560" y="1280160"/>
            <a:ext cx="3977640" cy="2743200"/>
          </a:xfrm>
          <a:prstGeom prst="roundRect">
            <a:avLst>
              <a:gd name="adj" fmla="val 2000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1929: A GRANDE DEPRESSÃO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Quebra da Bolsa de Nova York, falências e desemprego em massa.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confiança na autorregulação do mercado é abalada.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socialista (1917–1991)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Revolução Russa (1917), propriedade estatal, planos quinquenais (1928), partido único.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Industrialização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Industrialização acelerada da URSS.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E FIM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Colapso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Ineficiência, escassez e falta de liberdades. Muro de Berlim (1989) e fim da URSS (1991).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de bem-estar social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1945–1973: os anos dourados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1936 · TEORIA GERAL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desemprego vem da falta de demanda efetiva. O Estado deve gastar e investir, mesmo com déficit.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Deal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públicas, regulação bancária e seguridade social nos EUA.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Beveridge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Proteção social universal “do berço ao túmulo”.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8328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países centrais: crescimento, pleno emprego, direitos sociais universais (saúde, educação, previdência) e um pacto entre capital e trabalho.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Keynes: como o gasto público reage à crise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8872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E6F2F0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agregada = C + I + G + (X − M)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recessão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(C) e investimento (I) caem: as empresas vendem menos e demitem.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papel de G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gasto do governo (G) compensa a queda e sustenta a produção e o emprego.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2011680"/>
            <a:ext cx="2456688" cy="1353312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Multiplicador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real gasto vira renda de alguém, que também gasta: a renda total cresce mais que o gasto inicial.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3493008"/>
            <a:ext cx="7772400" cy="960120"/>
          </a:xfrm>
          <a:prstGeom prst="roundRect">
            <a:avLst>
              <a:gd name="adj" fmla="val 7619"/>
            </a:avLst>
          </a:prstGeom>
          <a:solidFill>
            <a:srgbClr val="FBF4DC"/>
          </a:solidFill>
          <a:ln/>
        </p:spPr>
      </p:sp>
      <p:sp>
        <p:nvSpPr>
          <p:cNvPr id="8" name="Shape 6"/>
          <p:cNvSpPr/>
          <p:nvPr/>
        </p:nvSpPr>
        <p:spPr>
          <a:xfrm>
            <a:off x="850392" y="36576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9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758184"/>
            <a:ext cx="256032" cy="2560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417320" y="3602736"/>
            <a:ext cx="6903720" cy="7406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 (2020)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 de renda na pandemia que sustentou o consumo das famílias.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multiplicador keynesiano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gasto público inicial de R$ 100 milhões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renda gerada em cada rodada (R$ milhões)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recebe gasta 80% e poupa 20%.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rodada gera nova renda para outras pessoas.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Somando todas, a renda cresce até R$ 500 milhões: 100 ÷ (1 − 0,8).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hipotéticos, para fins didáticos. Propensão marginal a consumir = 0,8.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regimes de bem-estar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de Esping-Andersen (1990)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EUA, REINO UNIDO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Benefícios focalizados nos mais pobres; forte papel do mercado (planos privados).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ALEMANHA, FRANÇA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Conservador-corporativo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sociais ligados ao emprego e às contribuições do trabalhador.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280160"/>
            <a:ext cx="2456688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SUÉCIA, DINAMARCA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universais financiados por impostos, para todos os cidadãos.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38328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Brasil combina traços: previdência contributiva (corporativo), SUS universal (social-democrata) e programas focalizados (liberal).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cada regime gasta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social público em países da OCDE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social público (% do PIB), 2019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regimes liberais gastam menos e deixam mais espaço ao mercado.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volume não diz tudo: na Suécia o acesso é universal; na Alemanha, ligado às contribuições.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OCDE, Social Expenditure Database (SOCX). Valores aproximados.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bem-estar entrou em crise?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1970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asPu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Choques do petróleo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1973 e 1979: custos e preços disparam.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3444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hart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0759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Estagflação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Estagnação com inflação: o remédio keynesiano deixa de funcionar.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85800" y="269748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2296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FileInvoiceDoll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5351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277063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fiscal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crescem mais que a arrecadação; a dívida aumenta.</a:t>
            </a:r>
            <a:endParaRPr lang="en-US" sz="1600" dirty="0"/>
          </a:p>
        </p:txBody>
      </p:sp>
      <p:sp>
        <p:nvSpPr>
          <p:cNvPr id="16" name="Shape 11"/>
          <p:cNvSpPr/>
          <p:nvPr/>
        </p:nvSpPr>
        <p:spPr>
          <a:xfrm>
            <a:off x="4709160" y="2697480"/>
            <a:ext cx="374904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46320" y="28529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GlobeAmerica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5351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94960" y="2770632"/>
            <a:ext cx="2971800" cy="113385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Globalização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móvel pressiona impostos e regulações nacionais.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neoliberal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3840480" cy="30175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Crise: </a:t>
            </a:r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choques do petróleo (1973 e 1979), estagflação e crise fiscal.</a:t>
            </a:r>
            <a:endParaRPr lang="en-US" sz="16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Ideias: </a:t>
            </a:r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Hayek (O Caminho da Servidão, 1944) e Friedman (monetarismo).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Governos: </a:t>
            </a:r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Thatcher (1979) e Reagan (1981).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709160" y="1234440"/>
            <a:ext cx="374904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CONSENSO DE WASHINGTON (1989)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10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 fiscal, reforma tributária, privatizações, desregulamentação, abertura comercial e financeira, respeito à propriedade.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passa de produtor a regulador.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ideias do neoliberalismo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Hayek e Friedman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7490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3619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53312"/>
            <a:ext cx="2971800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 DA SERVIDÃO, 1944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Friedrich Hayek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planejamento estatal ameaça a liberdade. Em 1947, fundou a Sociedade Mont Pèlerin, que reuniu os críticos do intervencionismo.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09160" y="1280160"/>
            <a:ext cx="374904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43560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53619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53312"/>
            <a:ext cx="2971800" cy="1545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MONETARISMO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Milton Friedman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inflação é um fenômeno monetário. O Estado deve se limitar a regras estáveis, como o controle da quantidade de moeda.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3200400"/>
            <a:ext cx="7772400" cy="914400"/>
          </a:xfrm>
          <a:prstGeom prst="roundRect">
            <a:avLst>
              <a:gd name="adj" fmla="val 8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prática: privatizações, desregulamentação, abertura comercial e financeira, flexibilização do trabalho e redução do Estado.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modelos de Estado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600200"/>
                <a:gridCol w="2834640"/>
                <a:gridCol w="1783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Período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do Estado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Referências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Liberal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Séc. XIX – 1929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Mínimo: segurança, justiça, contratos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Locke, Smith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Socialista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1917 – 1991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Proprietário e planejador central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Marx, Lênin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Bem-estar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1945 – 1973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Indutor da demanda, provedor de direitos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Keynes, Beveridge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Neoliberal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1979 – 2008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Regulador e enxuto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Hayek, Friedman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7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8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e capital no Brasil e no século XXI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7180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desenvolvimentismo às reformas, à proteção social e aos desafios atuais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pêndulo no Brasil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1930–1980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desenvolvimentista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Vargas, JK e regime militar: estatais (CSN, Petrobras, Eletrobras), BNDE (1952) e Plano de Metas.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343656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1988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Cidadã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Seguridade social universal: SUS, previdência e assistência social.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001512" y="1280160"/>
            <a:ext cx="2456688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1990–2000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do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Desestatização, Plano Diretor (1995), agências reguladoras e LRF (2000).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tamanho do Estado brasileiro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tributária bruta ao longo do tempo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tributária bruta (% do PIB)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carga mais que dobrou entre 1947 e 1970, no Estado desenvolvimentista.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1988, cresceu para financiar a seguridade social.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reformas dos anos 1990 mudaram o papel do Estado (de produtor a regulador), não o tamanho da arrecadação.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IBGE e Receita Federal. Valores aproximados e arredondados, para fins didáticos.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projetos em tensão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crise dos anos 1980 à gestão pública atual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8872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1980: crise da dívida externa e hiperinflação abrem caminho para as reformas.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20240"/>
            <a:ext cx="37947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Inspiração de bem-estar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Seguridade social universalista: SUS, previdência e assistência social.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1920240"/>
            <a:ext cx="3794760" cy="1920240"/>
          </a:xfrm>
          <a:prstGeom prst="roundRect">
            <a:avLst>
              <a:gd name="adj" fmla="val 285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DOS ANOS 1990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gerencial e regulador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Desestatização (1990), Plano Diretor de Bresser-Pereira (1995), agências reguladoras, setor público não estatal e LRF (2000).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95935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gestão pública brasileira convive até hoje com a tensão entre esses dois projetos.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modelos de administração pública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o Plano Diretor da Reforma do Aparelho do Estado (1995)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34440"/>
          <a:ext cx="7772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1752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 no Brasil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Patrimonialista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Confusão entre o público e o privado; cargos como favor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Brasil colonial e imperial; República Velha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Burocrático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Mérito, impessoalidade, normas e controle de procedimentos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DASP (1938), na Era Vargas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em resultados, eficiência e no cidadão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Diretor (1995) e EC 19/1998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modelos convivem até hoje: o desafio é superar o patrimonialismo sem perder os controles da burocracia.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 1990: o Estado regulador</a:t>
            </a:r>
            <a:endParaRPr lang="en-US" sz="2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309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 Nacional de Desestatização (Lei 8.031/1990)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1996–1997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Agências reguladoras: ANEEL (energia), ANATEL (telecomunicações) e ANP (petróleo)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Emenda Constitucional 19: reforma administrativa e princípio da eficiência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 de Responsabilidade Fiscal (LC 101/2000): limites de gasto com pessoal e de dívida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85800" y="3182112"/>
            <a:ext cx="7772400" cy="1261872"/>
          </a:xfrm>
          <a:prstGeom prst="roundRect">
            <a:avLst>
              <a:gd name="adj" fmla="val 5797"/>
            </a:avLst>
          </a:prstGeom>
          <a:solidFill>
            <a:srgbClr val="FBF4DC"/>
          </a:solidFill>
          <a:ln/>
        </p:spPr>
      </p:sp>
      <p:sp>
        <p:nvSpPr>
          <p:cNvPr id="5" name="Shape 2"/>
          <p:cNvSpPr/>
          <p:nvPr/>
        </p:nvSpPr>
        <p:spPr>
          <a:xfrm>
            <a:off x="850392" y="33467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6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47288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3291840"/>
            <a:ext cx="6903720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conta de luz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distribuidora é privada, mas a tarifa e a qualidade do serviço são reguladas pela ANEEL: o Estado deixa de produzir e passa a regular.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proteção social depois de 1988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Heartbe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8.080/1990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universal e gratuita: direito de todos e dever do Estado.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HandHoldingHe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LOAS, 1993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BPC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salário mínimo a idosos e pessoas com deficiência de baixa renda.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" y="274320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HandHoldingUs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71600" y="281635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 Família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 de renda com condicionalidades em saúde e educação.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709160" y="2743200"/>
            <a:ext cx="374904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84632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2816352"/>
            <a:ext cx="2971800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Renda na pandemia: o Estado como estabilizador.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expansão do Bolsa Família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 atendidas pelo programa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Famílias beneficiárias (milhões)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programa ampliou-se rapidamente nos primeiros anos.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2023, o novo Bolsa Família absorveu o público do Auxílio Brasil.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cadastro passa pelo CadÚnico, operado pelos municípios.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Ministério do Desenvolvimento Social (MDS). Valores aproximados, posição de dezembro.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Século XXI: Estado e mercado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Estado e que mercado, com transparência, eficiência e justiça social?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de 2008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Resgates bancários e estímulos fiscais.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123444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Heartbe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130759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Pandemia de 2020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Auxílio emergencial e o papel do SUS.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2651760"/>
            <a:ext cx="7772400" cy="1463040"/>
          </a:xfrm>
          <a:prstGeom prst="roundRect">
            <a:avLst>
              <a:gd name="adj" fmla="val 3750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refletir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uma política pública do seu município (transporte, saneamento, saúde). Que falha de mercado ela corrige? Qual das funções de Musgrave cumpre? Como um liberal e um marxista a avaliariam?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 · Tópico 8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4 e encerramento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02/11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4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08/11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Exercícios de fixação 2 e Avaliação A2 no SIGAA (Unidades 3 e 4),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09/11 a 15/11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de revisão (fórum de dúvidas e gravação do encontro síncrono)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15/11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Avaliação A3: 10 objetivas + estudo de caso (todo o conteúdo), 23h55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final = (((A1 + A2) / 2) × 0,4) + (A3 × 0,6) · aprovação com 7,0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recessão, o que Keynes recomendaria ao governo?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Cortar gastos para equilibrar o orçamento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o gasto e o investimento para compensar a queda da demanda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os juros para conter o consumo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intervir e esperar o ajuste do 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recessão, o que Keynes recomendaria ao governo?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Cortar gastos para equilibrar o orçamento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o gasto e o investimento para compensar a queda da demanda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os juros para conter o consumo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intervir e esperar o ajuste do mercado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Keynes, a crise vem da falta de demanda efetiva; o gasto público (G) sustenta a produção e, pelo multiplicador, a renda.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universais financiados por impostos, como na Suécia, caracterizam o regime de bem-estar: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Conservador-corporativo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Social-democrata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Direitos universais financiados por impostos, como na Suécia, caracterizam o regime de bem-estar: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Conservador-corporativo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Social-democrata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Neoliberal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regime social-democrata (Esping-Andersen), a proteção é universal e financiada por tributos.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estagflação?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com preços estáveis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Estagnação econômica com inflação alta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preços com pleno emprego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acelerado com desemprego zero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estagflação?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com preços estáveis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Estagnação econômica com inflação alta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de preços com pleno emprego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Crescimento acelerado com desemprego zero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anos 1970, estagnação e inflação ocorreram juntas, o que abalou o receituário keynesiano e abriu espaço ao neoliberalismo.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Diretor da Reforma do Aparelho do Estado (1995) propôs a passagem da administração: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patrimonialista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Patrimonialista para socialista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burocrática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Burocrática para gerencial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Diretor da Reforma do Aparelho do Estado (1995) propôs a passagem da administração: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patrimonialista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Patrimonialista para socialista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para burocrática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Burocrática para gerencial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d)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reforma de 1995 (Bresser-Pereira) buscou a administração gerencial, com foco em resultados e no cidadão.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criação da ANEEL, da ANATEL e da ANP, nos anos 1990, expressa qual papel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regulador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produtor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guarda-noturno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4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criação da ANEEL, da ANATEL e da ANP, nos anos 1990, expressa qual papel do Estado?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regulador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produtor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Planejamento central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mínimo guarda-noturno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as privatizações e concessões, o Estado deixa de produzir diretamente e passa a regular os serviços por meio de agências.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da Unidade 4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discutimos nesta unidade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7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modelos de Estado no século XX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liberal e a crise de 1929.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socialista: planejamento central (1917–1991).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Bem-estar: Keynes, New Deal, Beveridge; três regimes (Esping-Andersen).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 dos anos 1970 e Estado neoliberal: Hayek, Friedman e Consenso de Washington.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8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e capital no Brasil e no século XXI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desenvolvimentista (1930–1980).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 (seguridade universal) × reformas dos anos 1990 (gerencial, regulador, LRF).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Patrimonialismo, burocracia e gerencialismo ainda convivem.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Século XXI: 2008 e a pandemia; que Estado e que mercado?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995928"/>
            <a:ext cx="7772400" cy="484632"/>
          </a:xfrm>
          <a:prstGeom prst="roundRect">
            <a:avLst>
              <a:gd name="adj" fmla="val 15094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Avaliações: A2 até 08/11 e A3 até 15/11, às 23h55. Bons estudos!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4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4: Os modelos de Estado e o Estado brasileiro</dc:title>
  <dc:subject>PptxGenJS Presentation</dc:subject>
  <dc:creator>Prof. Dr. Cleiton Franco</dc:creator>
  <cp:lastModifiedBy>Prof. Dr. Cleiton Franco</cp:lastModifiedBy>
  <cp:revision>1</cp:revision>
  <dcterms:created xsi:type="dcterms:W3CDTF">2026-09-27T21:08:36Z</dcterms:created>
  <dcterms:modified xsi:type="dcterms:W3CDTF">2026-09-27T21:08:36Z</dcterms:modified>
</cp:coreProperties>
</file>